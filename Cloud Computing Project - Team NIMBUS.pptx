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420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3B"/>
        </a:solidFill>
        <a:effectLst/>
      </p:bgPr>
    </p:bg>
    <p:spTree>
      <p:nvGrpSpPr>
        <p:cNvPr id="1" name=""/>
        <p:cNvGrpSpPr/>
        <p:nvPr/>
      </p:nvGrpSpPr>
      <p:grpSpPr>
        <a:xfrm>
          <a:off x="0" y="0"/>
          <a:ext cx="0" cy="0"/>
          <a:chOff x="0" y="0"/>
          <a:chExt cx="0" cy="0"/>
        </a:xfrm>
      </p:grpSpPr>
      <p:sp>
        <p:nvSpPr>
          <p:cNvPr id="2" name="Shape 0"/>
          <p:cNvSpPr/>
          <p:nvPr/>
        </p:nvSpPr>
        <p:spPr>
          <a:xfrm>
            <a:off x="0" y="137120"/>
            <a:ext cx="12192000" cy="6858000"/>
          </a:xfrm>
          <a:prstGeom prst="rect">
            <a:avLst/>
          </a:prstGeom>
          <a:gradFill rotWithShape="1">
            <a:gsLst>
              <a:gs pos="0">
                <a:srgbClr val="14163B"/>
              </a:gs>
              <a:gs pos="100000">
                <a:srgbClr val="1E2150"/>
              </a:gs>
            </a:gsLst>
            <a:lin ang="3000000" scaled="0"/>
          </a:gradFill>
          <a:ln/>
        </p:spPr>
        <p:txBody>
          <a:bodyPr/>
          <a:lstStyle/>
          <a:p>
            <a:endParaRPr lang="en-US"/>
          </a:p>
        </p:txBody>
      </p:sp>
      <p:sp>
        <p:nvSpPr>
          <p:cNvPr id="3" name="Text 1"/>
          <p:cNvSpPr/>
          <p:nvPr/>
        </p:nvSpPr>
        <p:spPr>
          <a:xfrm>
            <a:off x="812800" y="172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a:solidFill>
                  <a:srgbClr val="5EEBD9"/>
                </a:solidFill>
                <a:latin typeface="Nunito Sans" pitchFamily="34" charset="0"/>
                <a:ea typeface="Nunito Sans" pitchFamily="34" charset="-122"/>
                <a:cs typeface="Nunito Sans" pitchFamily="34" charset="-120"/>
              </a:rPr>
              <a:t>DS252 · INTRODUCTION TO CLOUD COMPUTING</a:t>
            </a:r>
            <a:endParaRPr lang="en-US" sz="1200"/>
          </a:p>
        </p:txBody>
      </p:sp>
      <p:sp>
        <p:nvSpPr>
          <p:cNvPr id="4" name="Text 2"/>
          <p:cNvSpPr/>
          <p:nvPr/>
        </p:nvSpPr>
        <p:spPr>
          <a:xfrm>
            <a:off x="812800" y="2194520"/>
            <a:ext cx="10883392" cy="1143000"/>
          </a:xfrm>
          <a:prstGeom prst="rect">
            <a:avLst/>
          </a:prstGeom>
          <a:noFill/>
          <a:ln/>
        </p:spPr>
        <p:txBody>
          <a:bodyPr wrap="square" lIns="0" tIns="0" rIns="0" bIns="0" rtlCol="0" anchor="t">
            <a:normAutofit/>
          </a:bodyPr>
          <a:lstStyle/>
          <a:p>
            <a:pPr marL="0" indent="0" algn="l">
              <a:lnSpc>
                <a:spcPts val="8800"/>
              </a:lnSpc>
              <a:buNone/>
            </a:pPr>
            <a:r>
              <a:rPr lang="en-US" sz="8800" b="1">
                <a:solidFill>
                  <a:srgbClr val="FBFBF8"/>
                </a:solidFill>
                <a:latin typeface="Rubik" pitchFamily="34" charset="0"/>
                <a:ea typeface="Rubik" pitchFamily="34" charset="-122"/>
                <a:cs typeface="Rubik" pitchFamily="34" charset="-120"/>
              </a:rPr>
              <a:t>Lance</a:t>
            </a:r>
            <a:endParaRPr lang="en-US" sz="8800"/>
          </a:p>
        </p:txBody>
      </p:sp>
      <p:sp>
        <p:nvSpPr>
          <p:cNvPr id="5" name="Text 3"/>
          <p:cNvSpPr/>
          <p:nvPr/>
        </p:nvSpPr>
        <p:spPr>
          <a:xfrm>
            <a:off x="812800" y="3566120"/>
            <a:ext cx="7848600" cy="711200"/>
          </a:xfrm>
          <a:prstGeom prst="rect">
            <a:avLst/>
          </a:prstGeom>
          <a:noFill/>
          <a:ln/>
        </p:spPr>
        <p:txBody>
          <a:bodyPr wrap="square" lIns="0" tIns="0" rIns="0" bIns="0" rtlCol="0" anchor="t">
            <a:normAutofit/>
          </a:bodyPr>
          <a:lstStyle/>
          <a:p>
            <a:pPr marL="0" indent="0" algn="l">
              <a:lnSpc>
                <a:spcPts val="2700"/>
              </a:lnSpc>
              <a:buNone/>
            </a:pPr>
            <a:r>
              <a:rPr lang="en-US" sz="2000" b="1">
                <a:solidFill>
                  <a:srgbClr val="C7CBEA"/>
                </a:solidFill>
                <a:latin typeface="Nunito Sans" pitchFamily="34" charset="0"/>
                <a:ea typeface="Nunito Sans" pitchFamily="34" charset="-122"/>
                <a:cs typeface="Nunito Sans" pitchFamily="34" charset="-120"/>
              </a:rPr>
              <a:t>L</a:t>
            </a:r>
            <a:r>
              <a:rPr lang="en-US" sz="2000">
                <a:solidFill>
                  <a:srgbClr val="C7CBEA"/>
                </a:solidFill>
                <a:latin typeface="Nunito Sans" pitchFamily="34" charset="0"/>
                <a:ea typeface="Nunito Sans" pitchFamily="34" charset="-122"/>
                <a:cs typeface="Nunito Sans" pitchFamily="34" charset="-120"/>
              </a:rPr>
              <a:t>eased authority for </a:t>
            </a:r>
            <a:r>
              <a:rPr lang="en-US" sz="2000" b="1">
                <a:solidFill>
                  <a:srgbClr val="C7CBEA"/>
                </a:solidFill>
                <a:latin typeface="Nunito Sans" pitchFamily="34" charset="0"/>
                <a:ea typeface="Nunito Sans" pitchFamily="34" charset="-122"/>
                <a:cs typeface="Nunito Sans" pitchFamily="34" charset="-120"/>
              </a:rPr>
              <a:t>a</a:t>
            </a:r>
            <a:r>
              <a:rPr lang="en-US" sz="2000">
                <a:solidFill>
                  <a:srgbClr val="C7CBEA"/>
                </a:solidFill>
                <a:latin typeface="Nunito Sans" pitchFamily="34" charset="0"/>
                <a:ea typeface="Nunito Sans" pitchFamily="34" charset="-122"/>
                <a:cs typeface="Nunito Sans" pitchFamily="34" charset="-120"/>
              </a:rPr>
              <a:t>gentic ground-robot </a:t>
            </a:r>
            <a:r>
              <a:rPr lang="en-US" sz="2000" b="1">
                <a:solidFill>
                  <a:srgbClr val="C7CBEA"/>
                </a:solidFill>
                <a:latin typeface="Nunito Sans" pitchFamily="34" charset="0"/>
                <a:ea typeface="Nunito Sans" pitchFamily="34" charset="-122"/>
                <a:cs typeface="Nunito Sans" pitchFamily="34" charset="-120"/>
              </a:rPr>
              <a:t>n</a:t>
            </a:r>
            <a:r>
              <a:rPr lang="en-US" sz="2000">
                <a:solidFill>
                  <a:srgbClr val="C7CBEA"/>
                </a:solidFill>
                <a:latin typeface="Nunito Sans" pitchFamily="34" charset="0"/>
                <a:ea typeface="Nunito Sans" pitchFamily="34" charset="-122"/>
                <a:cs typeface="Nunito Sans" pitchFamily="34" charset="-120"/>
              </a:rPr>
              <a:t>avigation across </a:t>
            </a:r>
            <a:r>
              <a:rPr lang="en-US" sz="2000" b="1">
                <a:solidFill>
                  <a:srgbClr val="C7CBEA"/>
                </a:solidFill>
                <a:latin typeface="Nunito Sans" pitchFamily="34" charset="0"/>
                <a:ea typeface="Nunito Sans" pitchFamily="34" charset="-122"/>
                <a:cs typeface="Nunito Sans" pitchFamily="34" charset="-120"/>
              </a:rPr>
              <a:t>e</a:t>
            </a:r>
            <a:r>
              <a:rPr lang="en-US" sz="2000">
                <a:solidFill>
                  <a:srgbClr val="C7CBEA"/>
                </a:solidFill>
                <a:latin typeface="Nunito Sans" pitchFamily="34" charset="0"/>
                <a:ea typeface="Nunito Sans" pitchFamily="34" charset="-122"/>
                <a:cs typeface="Nunito Sans" pitchFamily="34" charset="-120"/>
              </a:rPr>
              <a:t>dge and </a:t>
            </a:r>
            <a:r>
              <a:rPr lang="en-US" sz="2000" b="1">
                <a:solidFill>
                  <a:srgbClr val="C7CBEA"/>
                </a:solidFill>
                <a:latin typeface="Nunito Sans" pitchFamily="34" charset="0"/>
                <a:ea typeface="Nunito Sans" pitchFamily="34" charset="-122"/>
                <a:cs typeface="Nunito Sans" pitchFamily="34" charset="-120"/>
              </a:rPr>
              <a:t>c</a:t>
            </a:r>
            <a:r>
              <a:rPr lang="en-US" sz="2000">
                <a:solidFill>
                  <a:srgbClr val="C7CBEA"/>
                </a:solidFill>
                <a:latin typeface="Nunito Sans" pitchFamily="34" charset="0"/>
                <a:ea typeface="Nunito Sans" pitchFamily="34" charset="-122"/>
                <a:cs typeface="Nunito Sans" pitchFamily="34" charset="-120"/>
              </a:rPr>
              <a:t>loud</a:t>
            </a:r>
            <a:endParaRPr lang="en-US" sz="2000"/>
          </a:p>
        </p:txBody>
      </p:sp>
      <p:sp>
        <p:nvSpPr>
          <p:cNvPr id="6" name="Shape 4"/>
          <p:cNvSpPr/>
          <p:nvPr/>
        </p:nvSpPr>
        <p:spPr>
          <a:xfrm>
            <a:off x="815975" y="4509095"/>
            <a:ext cx="3105398" cy="415280"/>
          </a:xfrm>
          <a:prstGeom prst="roundRect">
            <a:avLst>
              <a:gd name="adj" fmla="val 50000"/>
            </a:avLst>
          </a:prstGeom>
          <a:solidFill>
            <a:srgbClr val="8B7CF6">
              <a:alpha val="14000"/>
            </a:srgbClr>
          </a:solidFill>
          <a:ln w="6350">
            <a:solidFill>
              <a:srgbClr val="8B7CF6">
                <a:alpha val="40000"/>
              </a:srgbClr>
            </a:solidFill>
            <a:prstDash val="solid"/>
          </a:ln>
        </p:spPr>
        <p:txBody>
          <a:bodyPr/>
          <a:lstStyle/>
          <a:p>
            <a:endParaRPr lang="en-US"/>
          </a:p>
        </p:txBody>
      </p:sp>
      <p:sp>
        <p:nvSpPr>
          <p:cNvPr id="7" name="Text 5"/>
          <p:cNvSpPr/>
          <p:nvPr/>
        </p:nvSpPr>
        <p:spPr>
          <a:xfrm>
            <a:off x="996950" y="4601170"/>
            <a:ext cx="2825751"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8B7CF6"/>
                </a:solidFill>
                <a:latin typeface="Nunito Sans" pitchFamily="34" charset="0"/>
                <a:ea typeface="Nunito Sans" pitchFamily="34" charset="-122"/>
                <a:cs typeface="Nunito Sans" pitchFamily="34" charset="-120"/>
              </a:rPr>
              <a:t>Deciding where the decision is made</a:t>
            </a:r>
            <a:endParaRPr lang="en-US" sz="1300"/>
          </a:p>
        </p:txBody>
      </p:sp>
      <p:sp>
        <p:nvSpPr>
          <p:cNvPr id="8" name="Shape 6"/>
          <p:cNvSpPr/>
          <p:nvPr/>
        </p:nvSpPr>
        <p:spPr>
          <a:xfrm>
            <a:off x="4029323" y="4509095"/>
            <a:ext cx="3596035" cy="415280"/>
          </a:xfrm>
          <a:prstGeom prst="roundRect">
            <a:avLst>
              <a:gd name="adj" fmla="val 50000"/>
            </a:avLst>
          </a:prstGeom>
          <a:solidFill>
            <a:srgbClr val="17B8A6">
              <a:alpha val="14000"/>
            </a:srgbClr>
          </a:solidFill>
          <a:ln w="6350">
            <a:solidFill>
              <a:srgbClr val="17B8A6">
                <a:alpha val="40000"/>
              </a:srgbClr>
            </a:solidFill>
            <a:prstDash val="solid"/>
          </a:ln>
        </p:spPr>
        <p:txBody>
          <a:bodyPr/>
          <a:lstStyle/>
          <a:p>
            <a:endParaRPr lang="en-US"/>
          </a:p>
        </p:txBody>
      </p:sp>
      <p:sp>
        <p:nvSpPr>
          <p:cNvPr id="9" name="Text 7"/>
          <p:cNvSpPr/>
          <p:nvPr/>
        </p:nvSpPr>
        <p:spPr>
          <a:xfrm>
            <a:off x="4210298" y="4601170"/>
            <a:ext cx="3331107"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5EEBD9"/>
                </a:solidFill>
                <a:latin typeface="Nunito Sans" pitchFamily="34" charset="0"/>
                <a:ea typeface="Nunito Sans" pitchFamily="34" charset="-122"/>
                <a:cs typeface="Nunito Sans" pitchFamily="34" charset="-120"/>
              </a:rPr>
              <a:t>And what happens when the link degrades</a:t>
            </a:r>
            <a:endParaRPr lang="en-US" sz="1300"/>
          </a:p>
        </p:txBody>
      </p:sp>
      <p:sp>
        <p:nvSpPr>
          <p:cNvPr id="10" name="Text 8"/>
          <p:cNvSpPr/>
          <p:nvPr/>
        </p:nvSpPr>
        <p:spPr>
          <a:xfrm>
            <a:off x="812800" y="6238280"/>
            <a:ext cx="5559118"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9CA1C9"/>
                </a:solidFill>
                <a:latin typeface="Nunito Sans" pitchFamily="34" charset="0"/>
                <a:ea typeface="Nunito Sans" pitchFamily="34" charset="-122"/>
                <a:cs typeface="Nunito Sans" pitchFamily="34" charset="-120"/>
              </a:rPr>
              <a:t>Team Nimbus</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17B8A6"/>
                </a:solidFill>
                <a:latin typeface="Nunito Sans" pitchFamily="34" charset="0"/>
                <a:ea typeface="Nunito Sans" pitchFamily="34" charset="-122"/>
                <a:cs typeface="Nunito Sans" pitchFamily="34" charset="-120"/>
              </a:rPr>
              <a:t>THE SETTING</a:t>
            </a:r>
            <a:endParaRPr lang="en-US" sz="1200"/>
          </a:p>
        </p:txBody>
      </p:sp>
      <p:sp>
        <p:nvSpPr>
          <p:cNvPr id="3" name="Text 1"/>
          <p:cNvSpPr/>
          <p:nvPr/>
        </p:nvSpPr>
        <p:spPr>
          <a:xfrm>
            <a:off x="812800" y="11277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a:solidFill>
                  <a:srgbClr val="14163B"/>
                </a:solidFill>
                <a:latin typeface="Rubik" pitchFamily="34" charset="0"/>
                <a:ea typeface="Rubik" pitchFamily="34" charset="-122"/>
                <a:cs typeface="Rubik" pitchFamily="34" charset="-120"/>
              </a:rPr>
              <a:t>The real question: who decides, and for how long</a:t>
            </a:r>
            <a:endParaRPr lang="en-US" sz="3000"/>
          </a:p>
        </p:txBody>
      </p:sp>
      <p:sp>
        <p:nvSpPr>
          <p:cNvPr id="4" name="Text 2"/>
          <p:cNvSpPr/>
          <p:nvPr/>
        </p:nvSpPr>
        <p:spPr>
          <a:xfrm>
            <a:off x="812800" y="1902420"/>
            <a:ext cx="6409690" cy="1168400"/>
          </a:xfrm>
          <a:prstGeom prst="rect">
            <a:avLst/>
          </a:prstGeom>
          <a:noFill/>
          <a:ln/>
        </p:spPr>
        <p:txBody>
          <a:bodyPr wrap="square" lIns="0" tIns="0" rIns="0" bIns="0" rtlCol="0" anchor="t">
            <a:normAutofit/>
          </a:bodyPr>
          <a:lstStyle/>
          <a:p>
            <a:pPr marL="0" indent="0" algn="l">
              <a:lnSpc>
                <a:spcPts val="2250"/>
              </a:lnSpc>
              <a:buNone/>
            </a:pPr>
            <a:r>
              <a:rPr lang="en-US" sz="1500">
                <a:solidFill>
                  <a:srgbClr val="3A4160"/>
                </a:solidFill>
                <a:latin typeface="Nunito Sans" pitchFamily="34" charset="0"/>
                <a:ea typeface="Nunito Sans" pitchFamily="34" charset="-122"/>
                <a:cs typeface="Nunito Sans" pitchFamily="34" charset="-120"/>
              </a:rPr>
              <a:t>A SunFounder PiCar-X runs fixed-map errands indoors and outdoors — carrying a sample, fetching an item — among obstacles that are not fixed: a person crossing a corridor, a chair pulled out, a trolley left overnight.</a:t>
            </a:r>
            <a:endParaRPr lang="en-US" sz="1500"/>
          </a:p>
        </p:txBody>
      </p:sp>
      <p:sp>
        <p:nvSpPr>
          <p:cNvPr id="5" name="Text 3"/>
          <p:cNvSpPr/>
          <p:nvPr/>
        </p:nvSpPr>
        <p:spPr>
          <a:xfrm>
            <a:off x="812800" y="3197820"/>
            <a:ext cx="6409690" cy="882650"/>
          </a:xfrm>
          <a:prstGeom prst="rect">
            <a:avLst/>
          </a:prstGeom>
          <a:noFill/>
          <a:ln/>
        </p:spPr>
        <p:txBody>
          <a:bodyPr wrap="square" lIns="0" tIns="0" rIns="0" bIns="0" rtlCol="0" anchor="t">
            <a:normAutofit/>
          </a:bodyPr>
          <a:lstStyle/>
          <a:p>
            <a:pPr marL="0" indent="0" algn="l">
              <a:lnSpc>
                <a:spcPts val="2250"/>
              </a:lnSpc>
              <a:buNone/>
            </a:pPr>
            <a:r>
              <a:rPr lang="en-US" sz="1500">
                <a:solidFill>
                  <a:srgbClr val="3A4160"/>
                </a:solidFill>
                <a:latin typeface="Nunito Sans" pitchFamily="34" charset="0"/>
                <a:ea typeface="Nunito Sans" pitchFamily="34" charset="-122"/>
                <a:cs typeface="Nunito Sans" pitchFamily="34" charset="-120"/>
              </a:rPr>
              <a:t>Finding the route is cheap and cached. The hard question is runtime: when something unexpected appears, </a:t>
            </a:r>
            <a:r>
              <a:rPr lang="en-US" sz="1500" b="1">
                <a:solidFill>
                  <a:srgbClr val="3A4160"/>
                </a:solidFill>
                <a:latin typeface="Nunito Sans" pitchFamily="34" charset="0"/>
                <a:ea typeface="Nunito Sans" pitchFamily="34" charset="-122"/>
                <a:cs typeface="Nunito Sans" pitchFamily="34" charset="-120"/>
              </a:rPr>
              <a:t>who is allowed to decide what to do about it, on what evidence, for how long</a:t>
            </a:r>
            <a:r>
              <a:rPr lang="en-US" sz="1500">
                <a:solidFill>
                  <a:srgbClr val="3A4160"/>
                </a:solidFill>
                <a:latin typeface="Nunito Sans" pitchFamily="34" charset="0"/>
                <a:ea typeface="Nunito Sans" pitchFamily="34" charset="-122"/>
                <a:cs typeface="Nunito Sans" pitchFamily="34" charset="-120"/>
              </a:rPr>
              <a:t>?</a:t>
            </a:r>
            <a:endParaRPr lang="en-US" sz="1500"/>
          </a:p>
        </p:txBody>
      </p:sp>
      <p:sp>
        <p:nvSpPr>
          <p:cNvPr id="6" name="Shape 4"/>
          <p:cNvSpPr/>
          <p:nvPr/>
        </p:nvSpPr>
        <p:spPr>
          <a:xfrm>
            <a:off x="7445375" y="1905595"/>
            <a:ext cx="3930650" cy="1073150"/>
          </a:xfrm>
          <a:prstGeom prst="roundRect">
            <a:avLst>
              <a:gd name="adj" fmla="val 11538"/>
            </a:avLst>
          </a:prstGeom>
          <a:solidFill>
            <a:srgbClr val="FFFFFF"/>
          </a:solidFill>
          <a:ln w="6350">
            <a:solidFill>
              <a:srgbClr val="E7E4D8"/>
            </a:solidFill>
            <a:prstDash val="solid"/>
          </a:ln>
        </p:spPr>
        <p:txBody>
          <a:bodyPr/>
          <a:lstStyle/>
          <a:p>
            <a:endParaRPr lang="en-US"/>
          </a:p>
        </p:txBody>
      </p:sp>
      <p:sp>
        <p:nvSpPr>
          <p:cNvPr id="7" name="Text 5"/>
          <p:cNvSpPr/>
          <p:nvPr/>
        </p:nvSpPr>
        <p:spPr>
          <a:xfrm>
            <a:off x="7651750" y="2086570"/>
            <a:ext cx="939800" cy="736600"/>
          </a:xfrm>
          <a:prstGeom prst="rect">
            <a:avLst/>
          </a:prstGeom>
          <a:noFill/>
          <a:ln/>
        </p:spPr>
        <p:txBody>
          <a:bodyPr wrap="square" lIns="0" tIns="0" rIns="0" bIns="0" rtlCol="0" anchor="t">
            <a:normAutofit/>
          </a:bodyPr>
          <a:lstStyle/>
          <a:p>
            <a:pPr marL="0" indent="0" algn="l">
              <a:lnSpc>
                <a:spcPts val="2800"/>
              </a:lnSpc>
              <a:buNone/>
            </a:pPr>
            <a:r>
              <a:rPr lang="en-US" sz="2000" b="1">
                <a:solidFill>
                  <a:srgbClr val="17B8A6"/>
                </a:solidFill>
                <a:latin typeface="Nunito Sans" pitchFamily="34" charset="0"/>
                <a:ea typeface="Nunito Sans" pitchFamily="34" charset="-122"/>
                <a:cs typeface="Nunito Sans" pitchFamily="34" charset="-120"/>
              </a:rPr>
              <a:t>&lt;100ms</a:t>
            </a:r>
            <a:endParaRPr lang="en-US" sz="2000"/>
          </a:p>
        </p:txBody>
      </p:sp>
      <p:sp>
        <p:nvSpPr>
          <p:cNvPr id="8" name="Text 6"/>
          <p:cNvSpPr/>
          <p:nvPr/>
        </p:nvSpPr>
        <p:spPr>
          <a:xfrm>
            <a:off x="8693150" y="2118320"/>
            <a:ext cx="2550795"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4163B"/>
                </a:solidFill>
                <a:latin typeface="Nunito Sans" pitchFamily="34" charset="0"/>
                <a:ea typeface="Nunito Sans" pitchFamily="34" charset="-122"/>
                <a:cs typeface="Nunito Sans" pitchFamily="34" charset="-120"/>
              </a:rPr>
              <a:t>Swerve around a person</a:t>
            </a:r>
            <a:endParaRPr lang="en-US" sz="1300"/>
          </a:p>
        </p:txBody>
      </p:sp>
      <p:sp>
        <p:nvSpPr>
          <p:cNvPr id="9" name="Text 7"/>
          <p:cNvSpPr/>
          <p:nvPr/>
        </p:nvSpPr>
        <p:spPr>
          <a:xfrm>
            <a:off x="8693150" y="2374850"/>
            <a:ext cx="2550795" cy="416520"/>
          </a:xfrm>
          <a:prstGeom prst="rect">
            <a:avLst/>
          </a:prstGeom>
          <a:noFill/>
          <a:ln/>
        </p:spPr>
        <p:txBody>
          <a:bodyPr wrap="square" lIns="0" tIns="0" rIns="0" bIns="0" rtlCol="0" anchor="t">
            <a:normAutofit/>
          </a:bodyPr>
          <a:lstStyle/>
          <a:p>
            <a:pPr marL="0" indent="0" algn="l">
              <a:lnSpc>
                <a:spcPts val="1540"/>
              </a:lnSpc>
              <a:buNone/>
            </a:pPr>
            <a:r>
              <a:rPr lang="en-US" sz="1100">
                <a:solidFill>
                  <a:srgbClr val="6A7290"/>
                </a:solidFill>
                <a:latin typeface="Nunito Sans" pitchFamily="34" charset="0"/>
                <a:ea typeface="Nunito Sans" pitchFamily="34" charset="-122"/>
                <a:cs typeface="Nunito Sans" pitchFamily="34" charset="-120"/>
              </a:rPr>
              <a:t>A local decision — must complete instantly</a:t>
            </a:r>
            <a:endParaRPr lang="en-US" sz="1100"/>
          </a:p>
        </p:txBody>
      </p:sp>
      <p:sp>
        <p:nvSpPr>
          <p:cNvPr id="10" name="Shape 8"/>
          <p:cNvSpPr/>
          <p:nvPr/>
        </p:nvSpPr>
        <p:spPr>
          <a:xfrm>
            <a:off x="7445375" y="3112095"/>
            <a:ext cx="3930650" cy="1009600"/>
          </a:xfrm>
          <a:prstGeom prst="roundRect">
            <a:avLst>
              <a:gd name="adj" fmla="val 12265"/>
            </a:avLst>
          </a:prstGeom>
          <a:solidFill>
            <a:srgbClr val="FFFFFF"/>
          </a:solidFill>
          <a:ln w="6350">
            <a:solidFill>
              <a:srgbClr val="E7E4D8"/>
            </a:solidFill>
            <a:prstDash val="solid"/>
          </a:ln>
        </p:spPr>
        <p:txBody>
          <a:bodyPr/>
          <a:lstStyle/>
          <a:p>
            <a:endParaRPr lang="en-US"/>
          </a:p>
        </p:txBody>
      </p:sp>
      <p:sp>
        <p:nvSpPr>
          <p:cNvPr id="11" name="Text 9"/>
          <p:cNvSpPr/>
          <p:nvPr/>
        </p:nvSpPr>
        <p:spPr>
          <a:xfrm>
            <a:off x="7651750" y="3439071"/>
            <a:ext cx="939800" cy="381000"/>
          </a:xfrm>
          <a:prstGeom prst="rect">
            <a:avLst/>
          </a:prstGeom>
          <a:noFill/>
          <a:ln/>
        </p:spPr>
        <p:txBody>
          <a:bodyPr wrap="square" lIns="0" tIns="0" rIns="0" bIns="0" rtlCol="0" anchor="t">
            <a:normAutofit/>
          </a:bodyPr>
          <a:lstStyle/>
          <a:p>
            <a:pPr marL="0" indent="0" algn="l">
              <a:lnSpc>
                <a:spcPts val="2800"/>
              </a:lnSpc>
              <a:buNone/>
            </a:pPr>
            <a:r>
              <a:rPr lang="en-US" sz="2000" b="1">
                <a:solidFill>
                  <a:srgbClr val="8B7CF6"/>
                </a:solidFill>
                <a:latin typeface="Nunito Sans" pitchFamily="34" charset="0"/>
                <a:ea typeface="Nunito Sans" pitchFamily="34" charset="-122"/>
                <a:cs typeface="Nunito Sans" pitchFamily="34" charset="-120"/>
              </a:rPr>
              <a:t>~1s</a:t>
            </a:r>
            <a:endParaRPr lang="en-US" sz="2000"/>
          </a:p>
        </p:txBody>
      </p:sp>
      <p:sp>
        <p:nvSpPr>
          <p:cNvPr id="12" name="Text 10"/>
          <p:cNvSpPr/>
          <p:nvPr/>
        </p:nvSpPr>
        <p:spPr>
          <a:xfrm>
            <a:off x="8693150" y="3293070"/>
            <a:ext cx="2550795"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4163B"/>
                </a:solidFill>
                <a:latin typeface="Nunito Sans" pitchFamily="34" charset="0"/>
                <a:ea typeface="Nunito Sans" pitchFamily="34" charset="-122"/>
                <a:cs typeface="Nunito Sans" pitchFamily="34" charset="-120"/>
              </a:rPr>
              <a:t>Wait, retry, or ask for help</a:t>
            </a:r>
            <a:endParaRPr lang="en-US" sz="1300"/>
          </a:p>
        </p:txBody>
      </p:sp>
      <p:sp>
        <p:nvSpPr>
          <p:cNvPr id="13" name="Text 11"/>
          <p:cNvSpPr/>
          <p:nvPr/>
        </p:nvSpPr>
        <p:spPr>
          <a:xfrm>
            <a:off x="8693150" y="3549600"/>
            <a:ext cx="2550795" cy="416520"/>
          </a:xfrm>
          <a:prstGeom prst="rect">
            <a:avLst/>
          </a:prstGeom>
          <a:noFill/>
          <a:ln/>
        </p:spPr>
        <p:txBody>
          <a:bodyPr wrap="square" lIns="0" tIns="0" rIns="0" bIns="0" rtlCol="0" anchor="t">
            <a:normAutofit/>
          </a:bodyPr>
          <a:lstStyle/>
          <a:p>
            <a:pPr marL="0" indent="0" algn="l">
              <a:lnSpc>
                <a:spcPts val="1540"/>
              </a:lnSpc>
              <a:buNone/>
            </a:pPr>
            <a:r>
              <a:rPr lang="en-US" sz="1100">
                <a:solidFill>
                  <a:srgbClr val="6A7290"/>
                </a:solidFill>
                <a:latin typeface="Nunito Sans" pitchFamily="34" charset="0"/>
                <a:ea typeface="Nunito Sans" pitchFamily="34" charset="-122"/>
                <a:cs typeface="Nunito Sans" pitchFamily="34" charset="-120"/>
              </a:rPr>
              <a:t>The band that is neither local nor global</a:t>
            </a:r>
            <a:endParaRPr lang="en-US" sz="1100"/>
          </a:p>
        </p:txBody>
      </p:sp>
      <p:sp>
        <p:nvSpPr>
          <p:cNvPr id="14" name="Shape 12"/>
          <p:cNvSpPr/>
          <p:nvPr/>
        </p:nvSpPr>
        <p:spPr>
          <a:xfrm>
            <a:off x="7442200" y="4251871"/>
            <a:ext cx="3937000" cy="1066800"/>
          </a:xfrm>
          <a:prstGeom prst="roundRect">
            <a:avLst>
              <a:gd name="adj" fmla="val 11905"/>
            </a:avLst>
          </a:prstGeom>
          <a:solidFill>
            <a:srgbClr val="14163B"/>
          </a:solidFill>
          <a:ln/>
        </p:spPr>
        <p:txBody>
          <a:bodyPr/>
          <a:lstStyle/>
          <a:p>
            <a:endParaRPr lang="en-US"/>
          </a:p>
        </p:txBody>
      </p:sp>
      <p:sp>
        <p:nvSpPr>
          <p:cNvPr id="15" name="Text 13"/>
          <p:cNvSpPr/>
          <p:nvPr/>
        </p:nvSpPr>
        <p:spPr>
          <a:xfrm>
            <a:off x="7645400" y="4429671"/>
            <a:ext cx="939800" cy="736600"/>
          </a:xfrm>
          <a:prstGeom prst="rect">
            <a:avLst/>
          </a:prstGeom>
          <a:noFill/>
          <a:ln/>
        </p:spPr>
        <p:txBody>
          <a:bodyPr wrap="square" lIns="0" tIns="0" rIns="0" bIns="0" rtlCol="0" anchor="t">
            <a:normAutofit/>
          </a:bodyPr>
          <a:lstStyle/>
          <a:p>
            <a:pPr marL="0" indent="0" algn="l">
              <a:lnSpc>
                <a:spcPts val="2800"/>
              </a:lnSpc>
              <a:buNone/>
            </a:pPr>
            <a:r>
              <a:rPr lang="en-US" sz="2000" b="1">
                <a:solidFill>
                  <a:srgbClr val="5EEBD9"/>
                </a:solidFill>
                <a:latin typeface="Nunito Sans" pitchFamily="34" charset="0"/>
                <a:ea typeface="Nunito Sans" pitchFamily="34" charset="-122"/>
                <a:cs typeface="Nunito Sans" pitchFamily="34" charset="-120"/>
              </a:rPr>
              <a:t>Several s</a:t>
            </a:r>
            <a:endParaRPr lang="en-US" sz="2000"/>
          </a:p>
        </p:txBody>
      </p:sp>
      <p:sp>
        <p:nvSpPr>
          <p:cNvPr id="16" name="Text 14"/>
          <p:cNvSpPr/>
          <p:nvPr/>
        </p:nvSpPr>
        <p:spPr>
          <a:xfrm>
            <a:off x="8686800" y="4461421"/>
            <a:ext cx="2563876"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FBFBF8"/>
                </a:solidFill>
                <a:latin typeface="Nunito Sans" pitchFamily="34" charset="0"/>
                <a:ea typeface="Nunito Sans" pitchFamily="34" charset="-122"/>
                <a:cs typeface="Nunito Sans" pitchFamily="34" charset="-120"/>
              </a:rPr>
              <a:t>Abandon the corridor, re-route</a:t>
            </a:r>
            <a:endParaRPr lang="en-US" sz="1300"/>
          </a:p>
        </p:txBody>
      </p:sp>
      <p:sp>
        <p:nvSpPr>
          <p:cNvPr id="17" name="Text 15"/>
          <p:cNvSpPr/>
          <p:nvPr/>
        </p:nvSpPr>
        <p:spPr>
          <a:xfrm>
            <a:off x="8686800" y="4717951"/>
            <a:ext cx="2563876" cy="416520"/>
          </a:xfrm>
          <a:prstGeom prst="rect">
            <a:avLst/>
          </a:prstGeom>
          <a:noFill/>
          <a:ln/>
        </p:spPr>
        <p:txBody>
          <a:bodyPr wrap="square" lIns="0" tIns="0" rIns="0" bIns="0" rtlCol="0" anchor="t">
            <a:normAutofit/>
          </a:bodyPr>
          <a:lstStyle/>
          <a:p>
            <a:pPr marL="0" indent="0" algn="l">
              <a:lnSpc>
                <a:spcPts val="1540"/>
              </a:lnSpc>
              <a:buNone/>
            </a:pPr>
            <a:r>
              <a:rPr lang="en-US" sz="1100">
                <a:solidFill>
                  <a:srgbClr val="C7CBEA"/>
                </a:solidFill>
                <a:latin typeface="Nunito Sans" pitchFamily="34" charset="0"/>
                <a:ea typeface="Nunito Sans" pitchFamily="34" charset="-122"/>
                <a:cs typeface="Nunito Sans" pitchFamily="34" charset="-120"/>
              </a:rPr>
              <a:t>A global decision — needs the map and mission history</a:t>
            </a:r>
            <a:endParaRPr lang="en-US" sz="1100"/>
          </a:p>
        </p:txBody>
      </p:sp>
      <p:sp>
        <p:nvSpPr>
          <p:cNvPr id="18" name="Text 16"/>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19" name="Text 17"/>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02 / 17</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9810750" cy="444500"/>
          </a:xfrm>
          <a:prstGeom prst="rect">
            <a:avLst/>
          </a:prstGeom>
          <a:noFill/>
          <a:ln/>
        </p:spPr>
        <p:txBody>
          <a:bodyPr wrap="square" lIns="0" tIns="0" rIns="0" bIns="0" rtlCol="0" anchor="t">
            <a:normAutofit/>
          </a:bodyPr>
          <a:lstStyle/>
          <a:p>
            <a:pPr marL="0" indent="0" algn="l">
              <a:lnSpc>
                <a:spcPts val="3300"/>
              </a:lnSpc>
              <a:buNone/>
            </a:pPr>
            <a:r>
              <a:rPr lang="en-US" sz="3000" b="1">
                <a:solidFill>
                  <a:srgbClr val="14163B"/>
                </a:solidFill>
                <a:latin typeface="Rubik" pitchFamily="34" charset="0"/>
                <a:ea typeface="Rubik" pitchFamily="34" charset="-122"/>
                <a:cs typeface="Rubik" pitchFamily="34" charset="-120"/>
              </a:rPr>
              <a:t>Why both extremes fail under an unstable link</a:t>
            </a:r>
            <a:endParaRPr lang="en-US" sz="3000"/>
          </a:p>
        </p:txBody>
      </p:sp>
      <p:sp>
        <p:nvSpPr>
          <p:cNvPr id="3" name="Shape 1"/>
          <p:cNvSpPr/>
          <p:nvPr/>
        </p:nvSpPr>
        <p:spPr>
          <a:xfrm>
            <a:off x="819150" y="1593850"/>
            <a:ext cx="5143500" cy="2628900"/>
          </a:xfrm>
          <a:prstGeom prst="roundRect">
            <a:avLst>
              <a:gd name="adj" fmla="val 5556"/>
            </a:avLst>
          </a:prstGeom>
          <a:solidFill>
            <a:srgbClr val="FFFFFF"/>
          </a:solidFill>
          <a:ln w="12700">
            <a:solidFill>
              <a:srgbClr val="F1D2CE"/>
            </a:solidFill>
            <a:prstDash val="solid"/>
          </a:ln>
        </p:spPr>
        <p:txBody>
          <a:bodyPr/>
          <a:lstStyle/>
          <a:p>
            <a:endParaRPr lang="en-US"/>
          </a:p>
        </p:txBody>
      </p:sp>
      <p:sp>
        <p:nvSpPr>
          <p:cNvPr id="4" name="Shape 2"/>
          <p:cNvSpPr/>
          <p:nvPr/>
        </p:nvSpPr>
        <p:spPr>
          <a:xfrm>
            <a:off x="1130300" y="1905000"/>
            <a:ext cx="2854077" cy="340320"/>
          </a:xfrm>
          <a:prstGeom prst="roundRect">
            <a:avLst>
              <a:gd name="adj" fmla="val 50000"/>
            </a:avLst>
          </a:prstGeom>
          <a:solidFill>
            <a:srgbClr val="FBE8E6"/>
          </a:solidFill>
          <a:ln/>
        </p:spPr>
        <p:txBody>
          <a:bodyPr/>
          <a:lstStyle/>
          <a:p>
            <a:endParaRPr lang="en-US"/>
          </a:p>
        </p:txBody>
      </p:sp>
      <p:sp>
        <p:nvSpPr>
          <p:cNvPr id="5" name="Text 3"/>
          <p:cNvSpPr/>
          <p:nvPr/>
        </p:nvSpPr>
        <p:spPr>
          <a:xfrm>
            <a:off x="1257300" y="1968500"/>
            <a:ext cx="267807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a:solidFill>
                  <a:srgbClr val="D9564C"/>
                </a:solidFill>
                <a:latin typeface="Nunito Sans" pitchFamily="34" charset="0"/>
                <a:ea typeface="Nunito Sans" pitchFamily="34" charset="-122"/>
                <a:cs typeface="Nunito Sans" pitchFamily="34" charset="-120"/>
              </a:rPr>
              <a:t>FAILS AS THE LINK DEGRADES</a:t>
            </a:r>
            <a:endParaRPr lang="en-US" sz="1200"/>
          </a:p>
        </p:txBody>
      </p:sp>
      <p:sp>
        <p:nvSpPr>
          <p:cNvPr id="6" name="Text 4"/>
          <p:cNvSpPr/>
          <p:nvPr/>
        </p:nvSpPr>
        <p:spPr>
          <a:xfrm>
            <a:off x="1130300" y="2397720"/>
            <a:ext cx="4656836" cy="330200"/>
          </a:xfrm>
          <a:prstGeom prst="rect">
            <a:avLst/>
          </a:prstGeom>
          <a:noFill/>
          <a:ln/>
        </p:spPr>
        <p:txBody>
          <a:bodyPr wrap="square" lIns="0" tIns="0" rIns="0" bIns="0" rtlCol="0" anchor="t">
            <a:normAutofit/>
          </a:bodyPr>
          <a:lstStyle/>
          <a:p>
            <a:pPr marL="0" indent="0" algn="l">
              <a:lnSpc>
                <a:spcPts val="2400"/>
              </a:lnSpc>
              <a:buNone/>
            </a:pPr>
            <a:r>
              <a:rPr lang="en-US" sz="2000" b="1">
                <a:solidFill>
                  <a:srgbClr val="14163B"/>
                </a:solidFill>
                <a:latin typeface="Nunito Sans" pitchFamily="34" charset="0"/>
                <a:ea typeface="Nunito Sans" pitchFamily="34" charset="-122"/>
                <a:cs typeface="Nunito Sans" pitchFamily="34" charset="-120"/>
              </a:rPr>
              <a:t>Cloud-authoritative control</a:t>
            </a:r>
            <a:endParaRPr lang="en-US" sz="2000"/>
          </a:p>
        </p:txBody>
      </p:sp>
      <p:sp>
        <p:nvSpPr>
          <p:cNvPr id="7" name="Text 5"/>
          <p:cNvSpPr/>
          <p:nvPr/>
        </p:nvSpPr>
        <p:spPr>
          <a:xfrm>
            <a:off x="1130300" y="2854920"/>
            <a:ext cx="4656836" cy="825500"/>
          </a:xfrm>
          <a:prstGeom prst="rect">
            <a:avLst/>
          </a:prstGeom>
          <a:noFill/>
          <a:ln/>
        </p:spPr>
        <p:txBody>
          <a:bodyPr wrap="square" lIns="0" tIns="0" rIns="0" bIns="0" rtlCol="0" anchor="t">
            <a:normAutofit/>
          </a:bodyPr>
          <a:lstStyle/>
          <a:p>
            <a:pPr marL="0" indent="0" algn="l">
              <a:lnSpc>
                <a:spcPts val="2100"/>
              </a:lnSpc>
              <a:buNone/>
            </a:pPr>
            <a:r>
              <a:rPr lang="en-US" sz="1400">
                <a:solidFill>
                  <a:srgbClr val="4A5170"/>
                </a:solidFill>
                <a:latin typeface="Nunito Sans" pitchFamily="34" charset="0"/>
                <a:ea typeface="Nunito Sans" pitchFamily="34" charset="-122"/>
                <a:cs typeface="Nunito Sans" pitchFamily="34" charset="-120"/>
              </a:rPr>
              <a:t>Every tactical decision pays a wide-area round trip plus multi-second LLM inference — and gets slower exactly when the link gets worse.</a:t>
            </a:r>
            <a:endParaRPr lang="en-US" sz="1400"/>
          </a:p>
        </p:txBody>
      </p:sp>
      <p:sp>
        <p:nvSpPr>
          <p:cNvPr id="8" name="Shape 6"/>
          <p:cNvSpPr/>
          <p:nvPr/>
        </p:nvSpPr>
        <p:spPr>
          <a:xfrm>
            <a:off x="6229350" y="1593850"/>
            <a:ext cx="5143500" cy="2628900"/>
          </a:xfrm>
          <a:prstGeom prst="roundRect">
            <a:avLst>
              <a:gd name="adj" fmla="val 5556"/>
            </a:avLst>
          </a:prstGeom>
          <a:solidFill>
            <a:srgbClr val="FFFFFF"/>
          </a:solidFill>
          <a:ln w="12700">
            <a:solidFill>
              <a:srgbClr val="F1D2CE"/>
            </a:solidFill>
            <a:prstDash val="solid"/>
          </a:ln>
        </p:spPr>
        <p:txBody>
          <a:bodyPr/>
          <a:lstStyle/>
          <a:p>
            <a:endParaRPr lang="en-US"/>
          </a:p>
        </p:txBody>
      </p:sp>
      <p:sp>
        <p:nvSpPr>
          <p:cNvPr id="9" name="Shape 7"/>
          <p:cNvSpPr/>
          <p:nvPr/>
        </p:nvSpPr>
        <p:spPr>
          <a:xfrm>
            <a:off x="6540500" y="1905000"/>
            <a:ext cx="2129234" cy="338931"/>
          </a:xfrm>
          <a:prstGeom prst="roundRect">
            <a:avLst>
              <a:gd name="adj" fmla="val 50000"/>
            </a:avLst>
          </a:prstGeom>
          <a:solidFill>
            <a:srgbClr val="FBE8E6"/>
          </a:solidFill>
          <a:ln/>
        </p:spPr>
        <p:txBody>
          <a:bodyPr/>
          <a:lstStyle/>
          <a:p>
            <a:endParaRPr lang="en-US"/>
          </a:p>
        </p:txBody>
      </p:sp>
      <p:sp>
        <p:nvSpPr>
          <p:cNvPr id="10" name="Text 8"/>
          <p:cNvSpPr/>
          <p:nvPr/>
        </p:nvSpPr>
        <p:spPr>
          <a:xfrm>
            <a:off x="6667500" y="1968500"/>
            <a:ext cx="1931491" cy="237331"/>
          </a:xfrm>
          <a:prstGeom prst="rect">
            <a:avLst/>
          </a:prstGeom>
          <a:noFill/>
          <a:ln/>
        </p:spPr>
        <p:txBody>
          <a:bodyPr wrap="square" lIns="0" tIns="0" rIns="0" bIns="0" rtlCol="0" anchor="t">
            <a:normAutofit/>
          </a:bodyPr>
          <a:lstStyle/>
          <a:p>
            <a:pPr marL="0" indent="0" algn="l">
              <a:lnSpc>
                <a:spcPts val="1675"/>
              </a:lnSpc>
              <a:buNone/>
            </a:pPr>
            <a:r>
              <a:rPr lang="en-US" sz="1196" b="1" kern="0" spc="100">
                <a:solidFill>
                  <a:srgbClr val="D9564C"/>
                </a:solidFill>
                <a:latin typeface="Nunito Sans" pitchFamily="34" charset="0"/>
                <a:ea typeface="Nunito Sans" pitchFamily="34" charset="-122"/>
                <a:cs typeface="Nunito Sans" pitchFamily="34" charset="-120"/>
              </a:rPr>
              <a:t>REMOVES OVERSIGHT</a:t>
            </a:r>
            <a:endParaRPr lang="en-US" sz="1196"/>
          </a:p>
        </p:txBody>
      </p:sp>
      <p:sp>
        <p:nvSpPr>
          <p:cNvPr id="11" name="Text 9"/>
          <p:cNvSpPr/>
          <p:nvPr/>
        </p:nvSpPr>
        <p:spPr>
          <a:xfrm>
            <a:off x="6540500" y="2396331"/>
            <a:ext cx="4656836" cy="328265"/>
          </a:xfrm>
          <a:prstGeom prst="rect">
            <a:avLst/>
          </a:prstGeom>
          <a:noFill/>
          <a:ln/>
        </p:spPr>
        <p:txBody>
          <a:bodyPr wrap="square" lIns="0" tIns="0" rIns="0" bIns="0" rtlCol="0" anchor="t">
            <a:normAutofit/>
          </a:bodyPr>
          <a:lstStyle/>
          <a:p>
            <a:pPr marL="0" indent="0" algn="l">
              <a:lnSpc>
                <a:spcPts val="2400"/>
              </a:lnSpc>
              <a:buNone/>
            </a:pPr>
            <a:r>
              <a:rPr lang="en-US" sz="2000" b="1">
                <a:solidFill>
                  <a:srgbClr val="14163B"/>
                </a:solidFill>
                <a:latin typeface="Nunito Sans" pitchFamily="34" charset="0"/>
                <a:ea typeface="Nunito Sans" pitchFamily="34" charset="-122"/>
                <a:cs typeface="Nunito Sans" pitchFamily="34" charset="-120"/>
              </a:rPr>
              <a:t>Unbounded edge autonomy</a:t>
            </a:r>
            <a:endParaRPr lang="en-US" sz="2000"/>
          </a:p>
        </p:txBody>
      </p:sp>
      <p:sp>
        <p:nvSpPr>
          <p:cNvPr id="12" name="Text 10"/>
          <p:cNvSpPr/>
          <p:nvPr/>
        </p:nvSpPr>
        <p:spPr>
          <a:xfrm>
            <a:off x="6540500" y="2851596"/>
            <a:ext cx="4656836" cy="1085404"/>
          </a:xfrm>
          <a:prstGeom prst="rect">
            <a:avLst/>
          </a:prstGeom>
          <a:noFill/>
          <a:ln/>
        </p:spPr>
        <p:txBody>
          <a:bodyPr wrap="square" lIns="0" tIns="0" rIns="0" bIns="0" rtlCol="0" anchor="t">
            <a:normAutofit/>
          </a:bodyPr>
          <a:lstStyle/>
          <a:p>
            <a:pPr marL="0" indent="0" algn="l">
              <a:lnSpc>
                <a:spcPts val="2093"/>
              </a:lnSpc>
              <a:buNone/>
            </a:pPr>
            <a:r>
              <a:rPr lang="en-US" sz="1396">
                <a:solidFill>
                  <a:srgbClr val="4A5170"/>
                </a:solidFill>
                <a:latin typeface="Nunito Sans" pitchFamily="34" charset="0"/>
                <a:ea typeface="Nunito Sans" pitchFamily="34" charset="-122"/>
                <a:cs typeface="Nunito Sans" pitchFamily="34" charset="-120"/>
              </a:rPr>
              <a:t>Removes the network dependency, but also the global knowledge, semantic map and mission history that only the cloud holds. Further may be a compromise on performance of models.</a:t>
            </a:r>
            <a:endParaRPr lang="en-US" sz="1396"/>
          </a:p>
        </p:txBody>
      </p:sp>
      <p:sp>
        <p:nvSpPr>
          <p:cNvPr id="13" name="Shape 11"/>
          <p:cNvSpPr/>
          <p:nvPr/>
        </p:nvSpPr>
        <p:spPr>
          <a:xfrm>
            <a:off x="812800" y="4584700"/>
            <a:ext cx="10566400" cy="1257300"/>
          </a:xfrm>
          <a:prstGeom prst="roundRect">
            <a:avLst>
              <a:gd name="adj" fmla="val 12121"/>
            </a:avLst>
          </a:prstGeom>
          <a:solidFill>
            <a:srgbClr val="14163B"/>
          </a:solidFill>
          <a:ln/>
        </p:spPr>
        <p:txBody>
          <a:bodyPr/>
          <a:lstStyle/>
          <a:p>
            <a:endParaRPr lang="en-US"/>
          </a:p>
        </p:txBody>
      </p:sp>
      <p:pic>
        <p:nvPicPr>
          <p:cNvPr id="14" name="Image 0" descr="Warning"/>
          <p:cNvPicPr>
            <a:picLocks noChangeAspect="1"/>
          </p:cNvPicPr>
          <p:nvPr/>
        </p:nvPicPr>
        <p:blipFill>
          <a:blip r:embed="rId3"/>
          <a:srcRect l="-1380" r="-1380"/>
          <a:stretch/>
        </p:blipFill>
        <p:spPr>
          <a:xfrm>
            <a:off x="1117600" y="5073650"/>
            <a:ext cx="97879" cy="279400"/>
          </a:xfrm>
          <a:prstGeom prst="rect">
            <a:avLst/>
          </a:prstGeom>
        </p:spPr>
      </p:pic>
      <p:sp>
        <p:nvSpPr>
          <p:cNvPr id="15" name="Text 12"/>
          <p:cNvSpPr/>
          <p:nvPr/>
        </p:nvSpPr>
        <p:spPr>
          <a:xfrm>
            <a:off x="1393279" y="4813300"/>
            <a:ext cx="9971554" cy="825500"/>
          </a:xfrm>
          <a:prstGeom prst="rect">
            <a:avLst/>
          </a:prstGeom>
          <a:noFill/>
          <a:ln/>
        </p:spPr>
        <p:txBody>
          <a:bodyPr wrap="square" lIns="0" tIns="0" rIns="0" bIns="0" rtlCol="0" anchor="t">
            <a:normAutofit/>
          </a:bodyPr>
          <a:lstStyle/>
          <a:p>
            <a:pPr marL="0" indent="0" algn="l">
              <a:lnSpc>
                <a:spcPts val="2100"/>
              </a:lnSpc>
              <a:buNone/>
            </a:pPr>
            <a:r>
              <a:rPr lang="en-US" sz="1500" b="1">
                <a:solidFill>
                  <a:srgbClr val="FBFBF8"/>
                </a:solidFill>
                <a:latin typeface="Nunito Sans" pitchFamily="34" charset="0"/>
                <a:ea typeface="Nunito Sans" pitchFamily="34" charset="-122"/>
                <a:cs typeface="Nunito Sans" pitchFamily="34" charset="-120"/>
              </a:rPr>
              <a:t>Neither language model can be the controller: a 1–3B edge SLM still costs about a second per decision, so reflex and reactive avoidance stay classical, and the language models are confined to the bands their latency can afford. The goal would be to use intelligence provided by these models while ensuring quick action.</a:t>
            </a:r>
            <a:endParaRPr lang="en-US" sz="1500"/>
          </a:p>
        </p:txBody>
      </p:sp>
      <p:sp>
        <p:nvSpPr>
          <p:cNvPr id="16" name="Text 13"/>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17" name="Text 14"/>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03 / 17</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63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163B"/>
              </a:gs>
              <a:gs pos="100000">
                <a:srgbClr val="1E2150"/>
              </a:gs>
            </a:gsLst>
            <a:lin ang="3000000" scaled="0"/>
          </a:gradFill>
          <a:ln/>
        </p:spPr>
        <p:txBody>
          <a:bodyPr/>
          <a:lstStyle/>
          <a:p>
            <a:endParaRPr lang="en-US"/>
          </a:p>
        </p:txBody>
      </p:sp>
      <p:sp>
        <p:nvSpPr>
          <p:cNvPr id="3" name="Text 1"/>
          <p:cNvSpPr/>
          <p:nvPr/>
        </p:nvSpPr>
        <p:spPr>
          <a:xfrm>
            <a:off x="5666829" y="1701850"/>
            <a:ext cx="90914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5EEBD9"/>
                </a:solidFill>
                <a:latin typeface="Nunito Sans" pitchFamily="34" charset="0"/>
                <a:ea typeface="Nunito Sans" pitchFamily="34" charset="-122"/>
                <a:cs typeface="Nunito Sans" pitchFamily="34" charset="-120"/>
              </a:rPr>
              <a:t>THE IDEA</a:t>
            </a:r>
            <a:endParaRPr lang="en-US" sz="1200"/>
          </a:p>
        </p:txBody>
      </p:sp>
      <p:sp>
        <p:nvSpPr>
          <p:cNvPr id="4" name="Text 2"/>
          <p:cNvSpPr/>
          <p:nvPr/>
        </p:nvSpPr>
        <p:spPr>
          <a:xfrm>
            <a:off x="1190625" y="2219970"/>
            <a:ext cx="9810750" cy="1135360"/>
          </a:xfrm>
          <a:prstGeom prst="rect">
            <a:avLst/>
          </a:prstGeom>
          <a:noFill/>
          <a:ln/>
        </p:spPr>
        <p:txBody>
          <a:bodyPr wrap="square" lIns="0" tIns="0" rIns="0" bIns="0" rtlCol="0" anchor="t">
            <a:normAutofit/>
          </a:bodyPr>
          <a:lstStyle/>
          <a:p>
            <a:pPr marL="0" indent="0" algn="ctr">
              <a:lnSpc>
                <a:spcPts val="4370"/>
              </a:lnSpc>
              <a:buNone/>
            </a:pPr>
            <a:r>
              <a:rPr lang="en-US" sz="3800" b="1">
                <a:solidFill>
                  <a:srgbClr val="FBFBF8"/>
                </a:solidFill>
                <a:latin typeface="Rubik" pitchFamily="34" charset="0"/>
                <a:ea typeface="Rubik" pitchFamily="34" charset="-122"/>
                <a:cs typeface="Rubik" pitchFamily="34" charset="-120"/>
              </a:rPr>
              <a:t>An authority lease: a time- and space-bounded grant from cloud to edge</a:t>
            </a:r>
            <a:endParaRPr lang="en-US" sz="3800"/>
          </a:p>
        </p:txBody>
      </p:sp>
      <p:sp>
        <p:nvSpPr>
          <p:cNvPr id="5" name="Shape 3"/>
          <p:cNvSpPr/>
          <p:nvPr/>
        </p:nvSpPr>
        <p:spPr>
          <a:xfrm>
            <a:off x="815975" y="3637905"/>
            <a:ext cx="2520950" cy="1311821"/>
          </a:xfrm>
          <a:prstGeom prst="roundRect">
            <a:avLst>
              <a:gd name="adj" fmla="val 9439"/>
            </a:avLst>
          </a:prstGeom>
          <a:solidFill>
            <a:srgbClr val="FFFFFF">
              <a:alpha val="6000"/>
            </a:srgbClr>
          </a:solidFill>
          <a:ln w="6350">
            <a:solidFill>
              <a:srgbClr val="FFFFFF">
                <a:alpha val="16000"/>
              </a:srgbClr>
            </a:solidFill>
            <a:prstDash val="solid"/>
          </a:ln>
        </p:spPr>
        <p:txBody>
          <a:bodyPr/>
          <a:lstStyle/>
          <a:p>
            <a:endParaRPr lang="en-US"/>
          </a:p>
        </p:txBody>
      </p:sp>
      <p:sp>
        <p:nvSpPr>
          <p:cNvPr id="6" name="Text 4"/>
          <p:cNvSpPr/>
          <p:nvPr/>
        </p:nvSpPr>
        <p:spPr>
          <a:xfrm>
            <a:off x="1022350" y="3844280"/>
            <a:ext cx="2171446" cy="274290"/>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5EEBD9"/>
                </a:solidFill>
                <a:latin typeface="Nunito Sans" pitchFamily="34" charset="0"/>
                <a:ea typeface="Nunito Sans" pitchFamily="34" charset="-122"/>
                <a:cs typeface="Nunito Sans" pitchFamily="34" charset="-120"/>
              </a:rPr>
              <a:t>Corridor</a:t>
            </a:r>
            <a:endParaRPr lang="en-US" sz="1400"/>
          </a:p>
        </p:txBody>
      </p:sp>
      <p:sp>
        <p:nvSpPr>
          <p:cNvPr id="7" name="Text 5"/>
          <p:cNvSpPr/>
          <p:nvPr/>
        </p:nvSpPr>
        <p:spPr>
          <a:xfrm>
            <a:off x="1022350" y="4156670"/>
            <a:ext cx="2171446" cy="612080"/>
          </a:xfrm>
          <a:prstGeom prst="rect">
            <a:avLst/>
          </a:prstGeom>
          <a:noFill/>
          <a:ln/>
        </p:spPr>
        <p:txBody>
          <a:bodyPr wrap="square" lIns="0" tIns="0" rIns="0" bIns="0" rtlCol="0" anchor="t">
            <a:normAutofit/>
          </a:bodyPr>
          <a:lstStyle/>
          <a:p>
            <a:pPr marL="0" indent="0" algn="l">
              <a:lnSpc>
                <a:spcPts val="1540"/>
              </a:lnSpc>
              <a:buNone/>
            </a:pPr>
            <a:r>
              <a:rPr lang="en-US" sz="1100">
                <a:solidFill>
                  <a:srgbClr val="C7CBEA"/>
                </a:solidFill>
                <a:latin typeface="Nunito Sans" pitchFamily="34" charset="0"/>
                <a:ea typeface="Nunito Sans" pitchFamily="34" charset="-122"/>
                <a:cs typeface="Nunito Sans" pitchFamily="34" charset="-120"/>
              </a:rPr>
              <a:t>A connected sub-graph of the fixed map the edge may act inside</a:t>
            </a:r>
            <a:endParaRPr lang="en-US" sz="1100"/>
          </a:p>
        </p:txBody>
      </p:sp>
      <p:sp>
        <p:nvSpPr>
          <p:cNvPr id="8" name="Shape 6"/>
          <p:cNvSpPr/>
          <p:nvPr/>
        </p:nvSpPr>
        <p:spPr>
          <a:xfrm>
            <a:off x="3495675" y="3637905"/>
            <a:ext cx="2520950" cy="1311821"/>
          </a:xfrm>
          <a:prstGeom prst="roundRect">
            <a:avLst>
              <a:gd name="adj" fmla="val 9439"/>
            </a:avLst>
          </a:prstGeom>
          <a:solidFill>
            <a:srgbClr val="FFFFFF">
              <a:alpha val="6000"/>
            </a:srgbClr>
          </a:solidFill>
          <a:ln w="6350">
            <a:solidFill>
              <a:srgbClr val="FFFFFF">
                <a:alpha val="16000"/>
              </a:srgbClr>
            </a:solidFill>
            <a:prstDash val="solid"/>
          </a:ln>
        </p:spPr>
        <p:txBody>
          <a:bodyPr/>
          <a:lstStyle/>
          <a:p>
            <a:endParaRPr lang="en-US"/>
          </a:p>
        </p:txBody>
      </p:sp>
      <p:sp>
        <p:nvSpPr>
          <p:cNvPr id="9" name="Text 7"/>
          <p:cNvSpPr/>
          <p:nvPr/>
        </p:nvSpPr>
        <p:spPr>
          <a:xfrm>
            <a:off x="3702050" y="3844280"/>
            <a:ext cx="2171446" cy="274290"/>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8B7CF6"/>
                </a:solidFill>
                <a:latin typeface="Nunito Sans" pitchFamily="34" charset="0"/>
                <a:ea typeface="Nunito Sans" pitchFamily="34" charset="-122"/>
                <a:cs typeface="Nunito Sans" pitchFamily="34" charset="-120"/>
              </a:rPr>
              <a:t>TTL</a:t>
            </a:r>
            <a:endParaRPr lang="en-US" sz="1400"/>
          </a:p>
        </p:txBody>
      </p:sp>
      <p:sp>
        <p:nvSpPr>
          <p:cNvPr id="10" name="Text 8"/>
          <p:cNvSpPr/>
          <p:nvPr/>
        </p:nvSpPr>
        <p:spPr>
          <a:xfrm>
            <a:off x="3702050" y="4156670"/>
            <a:ext cx="2171446" cy="416520"/>
          </a:xfrm>
          <a:prstGeom prst="rect">
            <a:avLst/>
          </a:prstGeom>
          <a:noFill/>
          <a:ln/>
        </p:spPr>
        <p:txBody>
          <a:bodyPr wrap="square" lIns="0" tIns="0" rIns="0" bIns="0" rtlCol="0" anchor="t">
            <a:normAutofit/>
          </a:bodyPr>
          <a:lstStyle/>
          <a:p>
            <a:pPr marL="0" indent="0" algn="l">
              <a:lnSpc>
                <a:spcPts val="1540"/>
              </a:lnSpc>
              <a:buNone/>
            </a:pPr>
            <a:r>
              <a:rPr lang="en-US" sz="1100">
                <a:solidFill>
                  <a:srgbClr val="C7CBEA"/>
                </a:solidFill>
                <a:latin typeface="Nunito Sans" pitchFamily="34" charset="0"/>
                <a:ea typeface="Nunito Sans" pitchFamily="34" charset="-122"/>
                <a:cs typeface="Nunito Sans" pitchFamily="34" charset="-120"/>
              </a:rPr>
              <a:t>A time limit; authority decays on a schedule, not by surprise</a:t>
            </a:r>
            <a:endParaRPr lang="en-US" sz="1100"/>
          </a:p>
        </p:txBody>
      </p:sp>
      <p:sp>
        <p:nvSpPr>
          <p:cNvPr id="11" name="Shape 9"/>
          <p:cNvSpPr/>
          <p:nvPr/>
        </p:nvSpPr>
        <p:spPr>
          <a:xfrm>
            <a:off x="6175375" y="3637905"/>
            <a:ext cx="2520950" cy="1311821"/>
          </a:xfrm>
          <a:prstGeom prst="roundRect">
            <a:avLst>
              <a:gd name="adj" fmla="val 9439"/>
            </a:avLst>
          </a:prstGeom>
          <a:solidFill>
            <a:srgbClr val="FFFFFF">
              <a:alpha val="6000"/>
            </a:srgbClr>
          </a:solidFill>
          <a:ln w="6350">
            <a:solidFill>
              <a:srgbClr val="FFFFFF">
                <a:alpha val="16000"/>
              </a:srgbClr>
            </a:solidFill>
            <a:prstDash val="solid"/>
          </a:ln>
        </p:spPr>
        <p:txBody>
          <a:bodyPr/>
          <a:lstStyle/>
          <a:p>
            <a:endParaRPr lang="en-US"/>
          </a:p>
        </p:txBody>
      </p:sp>
      <p:sp>
        <p:nvSpPr>
          <p:cNvPr id="12" name="Text 10"/>
          <p:cNvSpPr/>
          <p:nvPr/>
        </p:nvSpPr>
        <p:spPr>
          <a:xfrm>
            <a:off x="6381750" y="3844280"/>
            <a:ext cx="2171446" cy="274290"/>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5EEBD9"/>
                </a:solidFill>
                <a:latin typeface="Nunito Sans" pitchFamily="34" charset="0"/>
                <a:ea typeface="Nunito Sans" pitchFamily="34" charset="-122"/>
                <a:cs typeface="Nunito Sans" pitchFamily="34" charset="-120"/>
              </a:rPr>
              <a:t>Guards</a:t>
            </a:r>
            <a:endParaRPr lang="en-US" sz="1400"/>
          </a:p>
        </p:txBody>
      </p:sp>
      <p:sp>
        <p:nvSpPr>
          <p:cNvPr id="13" name="Text 11"/>
          <p:cNvSpPr/>
          <p:nvPr/>
        </p:nvSpPr>
        <p:spPr>
          <a:xfrm>
            <a:off x="6381750" y="4156670"/>
            <a:ext cx="2171446" cy="416520"/>
          </a:xfrm>
          <a:prstGeom prst="rect">
            <a:avLst/>
          </a:prstGeom>
          <a:noFill/>
          <a:ln/>
        </p:spPr>
        <p:txBody>
          <a:bodyPr wrap="square" lIns="0" tIns="0" rIns="0" bIns="0" rtlCol="0" anchor="t">
            <a:normAutofit/>
          </a:bodyPr>
          <a:lstStyle/>
          <a:p>
            <a:pPr marL="0" indent="0" algn="l">
              <a:lnSpc>
                <a:spcPts val="1540"/>
              </a:lnSpc>
              <a:buNone/>
            </a:pPr>
            <a:r>
              <a:rPr lang="en-US" sz="1100">
                <a:solidFill>
                  <a:srgbClr val="C7CBEA"/>
                </a:solidFill>
                <a:latin typeface="Nunito Sans" pitchFamily="34" charset="0"/>
                <a:ea typeface="Nunito Sans" pitchFamily="34" charset="-122"/>
                <a:cs typeface="Nunito Sans" pitchFamily="34" charset="-120"/>
              </a:rPr>
              <a:t>Max speed, min clearance, geo-fence, max deviation</a:t>
            </a:r>
            <a:endParaRPr lang="en-US" sz="1100"/>
          </a:p>
        </p:txBody>
      </p:sp>
      <p:sp>
        <p:nvSpPr>
          <p:cNvPr id="14" name="Shape 12"/>
          <p:cNvSpPr/>
          <p:nvPr/>
        </p:nvSpPr>
        <p:spPr>
          <a:xfrm>
            <a:off x="8855075" y="3637905"/>
            <a:ext cx="2520950" cy="1311821"/>
          </a:xfrm>
          <a:prstGeom prst="roundRect">
            <a:avLst>
              <a:gd name="adj" fmla="val 9439"/>
            </a:avLst>
          </a:prstGeom>
          <a:solidFill>
            <a:srgbClr val="FFFFFF">
              <a:alpha val="6000"/>
            </a:srgbClr>
          </a:solidFill>
          <a:ln w="6350">
            <a:solidFill>
              <a:srgbClr val="FFFFFF">
                <a:alpha val="16000"/>
              </a:srgbClr>
            </a:solidFill>
            <a:prstDash val="solid"/>
          </a:ln>
        </p:spPr>
        <p:txBody>
          <a:bodyPr/>
          <a:lstStyle/>
          <a:p>
            <a:endParaRPr lang="en-US"/>
          </a:p>
        </p:txBody>
      </p:sp>
      <p:sp>
        <p:nvSpPr>
          <p:cNvPr id="15" name="Text 13"/>
          <p:cNvSpPr/>
          <p:nvPr/>
        </p:nvSpPr>
        <p:spPr>
          <a:xfrm>
            <a:off x="9061450" y="3844280"/>
            <a:ext cx="2171446" cy="274290"/>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8B7CF6"/>
                </a:solidFill>
                <a:latin typeface="Nunito Sans" pitchFamily="34" charset="0"/>
                <a:ea typeface="Nunito Sans" pitchFamily="34" charset="-122"/>
                <a:cs typeface="Nunito Sans" pitchFamily="34" charset="-120"/>
              </a:rPr>
              <a:t>Epoch · seq</a:t>
            </a:r>
            <a:endParaRPr lang="en-US" sz="1400"/>
          </a:p>
        </p:txBody>
      </p:sp>
      <p:sp>
        <p:nvSpPr>
          <p:cNvPr id="16" name="Text 14"/>
          <p:cNvSpPr/>
          <p:nvPr/>
        </p:nvSpPr>
        <p:spPr>
          <a:xfrm>
            <a:off x="9061450" y="4156670"/>
            <a:ext cx="2171446" cy="612080"/>
          </a:xfrm>
          <a:prstGeom prst="rect">
            <a:avLst/>
          </a:prstGeom>
          <a:noFill/>
          <a:ln/>
        </p:spPr>
        <p:txBody>
          <a:bodyPr wrap="square" lIns="0" tIns="0" rIns="0" bIns="0" rtlCol="0" anchor="t">
            <a:normAutofit/>
          </a:bodyPr>
          <a:lstStyle/>
          <a:p>
            <a:pPr marL="0" indent="0" algn="l">
              <a:lnSpc>
                <a:spcPts val="1540"/>
              </a:lnSpc>
              <a:buNone/>
            </a:pPr>
            <a:r>
              <a:rPr lang="en-US" sz="1100">
                <a:solidFill>
                  <a:srgbClr val="C7CBEA"/>
                </a:solidFill>
                <a:latin typeface="Nunito Sans" pitchFamily="34" charset="0"/>
                <a:ea typeface="Nunito Sans" pitchFamily="34" charset="-122"/>
                <a:cs typeface="Nunito Sans" pitchFamily="34" charset="-120"/>
              </a:rPr>
              <a:t>Every command is idempotent; stale or duplicate commands are rejected</a:t>
            </a:r>
            <a:endParaRPr lang="en-US" sz="1100"/>
          </a:p>
        </p:txBody>
      </p:sp>
      <p:sp>
        <p:nvSpPr>
          <p:cNvPr id="17" name="Text 15"/>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9CA1C9"/>
                </a:solidFill>
                <a:latin typeface="Nunito Sans" pitchFamily="34" charset="0"/>
                <a:ea typeface="Nunito Sans" pitchFamily="34" charset="-122"/>
                <a:cs typeface="Nunito Sans" pitchFamily="34" charset="-120"/>
              </a:rPr>
              <a:t>Nimbus</a:t>
            </a:r>
            <a:endParaRPr lang="en-US" sz="1200"/>
          </a:p>
        </p:txBody>
      </p:sp>
      <p:sp>
        <p:nvSpPr>
          <p:cNvPr id="18" name="Text 16"/>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9CA1C9"/>
                </a:solidFill>
                <a:latin typeface="Nunito Sans" pitchFamily="34" charset="0"/>
                <a:ea typeface="Nunito Sans" pitchFamily="34" charset="-122"/>
                <a:cs typeface="Nunito Sans" pitchFamily="34" charset="-120"/>
              </a:rPr>
              <a:t>04 / 17</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14163B"/>
                </a:solidFill>
                <a:latin typeface="Rubik" pitchFamily="34" charset="0"/>
                <a:ea typeface="Rubik" pitchFamily="34" charset="-122"/>
                <a:cs typeface="Rubik" pitchFamily="34" charset="-120"/>
              </a:rPr>
              <a:t>Four control bands, one architecture</a:t>
            </a:r>
            <a:endParaRPr lang="en-US" sz="2800"/>
          </a:p>
        </p:txBody>
      </p:sp>
      <p:sp>
        <p:nvSpPr>
          <p:cNvPr id="3" name="Shape 1"/>
          <p:cNvSpPr/>
          <p:nvPr/>
        </p:nvSpPr>
        <p:spPr>
          <a:xfrm>
            <a:off x="812800" y="2473920"/>
            <a:ext cx="10566400" cy="0"/>
          </a:xfrm>
          <a:prstGeom prst="line">
            <a:avLst/>
          </a:prstGeom>
          <a:noFill/>
          <a:ln w="12700">
            <a:solidFill>
              <a:srgbClr val="8B7CF6"/>
            </a:solidFill>
            <a:prstDash val="dash"/>
          </a:ln>
        </p:spPr>
        <p:txBody>
          <a:bodyPr/>
          <a:lstStyle/>
          <a:p>
            <a:endParaRPr lang="en-US"/>
          </a:p>
        </p:txBody>
      </p:sp>
      <p:sp>
        <p:nvSpPr>
          <p:cNvPr id="4" name="Shape 2"/>
          <p:cNvSpPr/>
          <p:nvPr/>
        </p:nvSpPr>
        <p:spPr>
          <a:xfrm>
            <a:off x="812800" y="4404320"/>
            <a:ext cx="10566400" cy="0"/>
          </a:xfrm>
          <a:prstGeom prst="line">
            <a:avLst/>
          </a:prstGeom>
          <a:noFill/>
          <a:ln w="12700">
            <a:solidFill>
              <a:srgbClr val="17B8A6"/>
            </a:solidFill>
            <a:prstDash val="dash"/>
          </a:ln>
        </p:spPr>
        <p:txBody>
          <a:bodyPr/>
          <a:lstStyle/>
          <a:p>
            <a:endParaRPr lang="en-US"/>
          </a:p>
        </p:txBody>
      </p:sp>
      <p:sp>
        <p:nvSpPr>
          <p:cNvPr id="5" name="Shape 3"/>
          <p:cNvSpPr/>
          <p:nvPr/>
        </p:nvSpPr>
        <p:spPr>
          <a:xfrm>
            <a:off x="5207000" y="2340570"/>
            <a:ext cx="1778000" cy="213320"/>
          </a:xfrm>
          <a:prstGeom prst="rect">
            <a:avLst/>
          </a:prstGeom>
          <a:solidFill>
            <a:srgbClr val="FAF9F5"/>
          </a:solidFill>
          <a:ln/>
        </p:spPr>
        <p:txBody>
          <a:bodyPr/>
          <a:lstStyle/>
          <a:p>
            <a:endParaRPr lang="en-US"/>
          </a:p>
        </p:txBody>
      </p:sp>
      <p:sp>
        <p:nvSpPr>
          <p:cNvPr id="6" name="Text 4"/>
          <p:cNvSpPr/>
          <p:nvPr/>
        </p:nvSpPr>
        <p:spPr>
          <a:xfrm>
            <a:off x="5180330" y="2340570"/>
            <a:ext cx="1831340" cy="238720"/>
          </a:xfrm>
          <a:prstGeom prst="rect">
            <a:avLst/>
          </a:prstGeom>
          <a:noFill/>
          <a:ln/>
        </p:spPr>
        <p:txBody>
          <a:bodyPr wrap="square" lIns="0" tIns="0" rIns="0" bIns="0" rtlCol="0" anchor="t">
            <a:normAutofit/>
          </a:bodyPr>
          <a:lstStyle/>
          <a:p>
            <a:pPr marL="0" indent="0" algn="ctr">
              <a:lnSpc>
                <a:spcPts val="1680"/>
              </a:lnSpc>
              <a:buNone/>
            </a:pPr>
            <a:r>
              <a:rPr lang="en-US" sz="1200" b="1" kern="0" spc="50">
                <a:solidFill>
                  <a:srgbClr val="8B7CF6"/>
                </a:solidFill>
                <a:latin typeface="Nunito Sans" pitchFamily="34" charset="0"/>
                <a:ea typeface="Nunito Sans" pitchFamily="34" charset="-122"/>
                <a:cs typeface="Nunito Sans" pitchFamily="34" charset="-120"/>
              </a:rPr>
              <a:t>LAN BOUNDARY</a:t>
            </a:r>
            <a:endParaRPr lang="en-US" sz="1200"/>
          </a:p>
        </p:txBody>
      </p:sp>
      <p:sp>
        <p:nvSpPr>
          <p:cNvPr id="7" name="Shape 5"/>
          <p:cNvSpPr/>
          <p:nvPr/>
        </p:nvSpPr>
        <p:spPr>
          <a:xfrm>
            <a:off x="5207000" y="4270970"/>
            <a:ext cx="1778000" cy="213320"/>
          </a:xfrm>
          <a:prstGeom prst="rect">
            <a:avLst/>
          </a:prstGeom>
          <a:solidFill>
            <a:srgbClr val="FAF9F5"/>
          </a:solidFill>
          <a:ln/>
        </p:spPr>
        <p:txBody>
          <a:bodyPr/>
          <a:lstStyle/>
          <a:p>
            <a:endParaRPr lang="en-US"/>
          </a:p>
        </p:txBody>
      </p:sp>
      <p:sp>
        <p:nvSpPr>
          <p:cNvPr id="8" name="Text 6"/>
          <p:cNvSpPr/>
          <p:nvPr/>
        </p:nvSpPr>
        <p:spPr>
          <a:xfrm>
            <a:off x="5180330" y="4270970"/>
            <a:ext cx="1831340" cy="238720"/>
          </a:xfrm>
          <a:prstGeom prst="rect">
            <a:avLst/>
          </a:prstGeom>
          <a:noFill/>
          <a:ln/>
        </p:spPr>
        <p:txBody>
          <a:bodyPr wrap="square" lIns="0" tIns="0" rIns="0" bIns="0" rtlCol="0" anchor="t">
            <a:normAutofit/>
          </a:bodyPr>
          <a:lstStyle/>
          <a:p>
            <a:pPr marL="0" indent="0" algn="ctr">
              <a:lnSpc>
                <a:spcPts val="1680"/>
              </a:lnSpc>
              <a:buNone/>
            </a:pPr>
            <a:r>
              <a:rPr lang="en-US" sz="1200" b="1" kern="0" spc="50">
                <a:solidFill>
                  <a:srgbClr val="17B8A6"/>
                </a:solidFill>
                <a:latin typeface="Nunito Sans" pitchFamily="34" charset="0"/>
                <a:ea typeface="Nunito Sans" pitchFamily="34" charset="-122"/>
                <a:cs typeface="Nunito Sans" pitchFamily="34" charset="-120"/>
              </a:rPr>
              <a:t>WAN BOUNDARY</a:t>
            </a:r>
            <a:endParaRPr lang="en-US" sz="1200"/>
          </a:p>
        </p:txBody>
      </p:sp>
      <p:pic>
        <p:nvPicPr>
          <p:cNvPr id="9" name="Image 0" descr="connector"/>
          <p:cNvPicPr>
            <a:picLocks noChangeAspect="1"/>
          </p:cNvPicPr>
          <p:nvPr/>
        </p:nvPicPr>
        <p:blipFill>
          <a:blip r:embed="rId3"/>
          <a:srcRect/>
          <a:stretch/>
        </p:blipFill>
        <p:spPr>
          <a:xfrm>
            <a:off x="6032500" y="3235920"/>
            <a:ext cx="127000" cy="393700"/>
          </a:xfrm>
          <a:prstGeom prst="rect">
            <a:avLst/>
          </a:prstGeom>
        </p:spPr>
      </p:pic>
      <p:sp>
        <p:nvSpPr>
          <p:cNvPr id="10" name="Shape 7"/>
          <p:cNvSpPr/>
          <p:nvPr/>
        </p:nvSpPr>
        <p:spPr>
          <a:xfrm>
            <a:off x="1657350" y="1642070"/>
            <a:ext cx="8877300" cy="685800"/>
          </a:xfrm>
          <a:prstGeom prst="roundRect">
            <a:avLst>
              <a:gd name="adj" fmla="val 17593"/>
            </a:avLst>
          </a:prstGeom>
          <a:solidFill>
            <a:srgbClr val="FFFFFF"/>
          </a:solidFill>
          <a:ln w="12700">
            <a:solidFill>
              <a:srgbClr val="17B8A6"/>
            </a:solidFill>
            <a:prstDash val="solid"/>
          </a:ln>
        </p:spPr>
        <p:txBody>
          <a:bodyPr/>
          <a:lstStyle/>
          <a:p>
            <a:endParaRPr lang="en-US"/>
          </a:p>
        </p:txBody>
      </p:sp>
      <p:sp>
        <p:nvSpPr>
          <p:cNvPr id="11" name="Text 8"/>
          <p:cNvSpPr/>
          <p:nvPr/>
        </p:nvSpPr>
        <p:spPr>
          <a:xfrm>
            <a:off x="1917700" y="1789410"/>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17B8A6"/>
                </a:solidFill>
                <a:latin typeface="Nunito Sans" pitchFamily="34" charset="0"/>
                <a:ea typeface="Nunito Sans" pitchFamily="34" charset="-122"/>
                <a:cs typeface="Nunito Sans" pitchFamily="34" charset="-120"/>
              </a:rPr>
              <a:t>R0</a:t>
            </a:r>
            <a:endParaRPr lang="en-US" sz="2200"/>
          </a:p>
        </p:txBody>
      </p:sp>
      <p:sp>
        <p:nvSpPr>
          <p:cNvPr id="12" name="Text 9"/>
          <p:cNvSpPr/>
          <p:nvPr/>
        </p:nvSpPr>
        <p:spPr>
          <a:xfrm>
            <a:off x="2692400" y="1760190"/>
            <a:ext cx="6741927"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14163B"/>
                </a:solidFill>
                <a:latin typeface="Nunito Sans" pitchFamily="34" charset="0"/>
                <a:ea typeface="Nunito Sans" pitchFamily="34" charset="-122"/>
                <a:cs typeface="Nunito Sans" pitchFamily="34" charset="-120"/>
              </a:rPr>
              <a:t>Reflex gate</a:t>
            </a:r>
            <a:endParaRPr lang="en-US" sz="1500"/>
          </a:p>
        </p:txBody>
      </p:sp>
      <p:sp>
        <p:nvSpPr>
          <p:cNvPr id="13" name="Text 10"/>
          <p:cNvSpPr/>
          <p:nvPr/>
        </p:nvSpPr>
        <p:spPr>
          <a:xfrm>
            <a:off x="2692400" y="2014190"/>
            <a:ext cx="6741927" cy="220960"/>
          </a:xfrm>
          <a:prstGeom prst="rect">
            <a:avLst/>
          </a:prstGeom>
          <a:noFill/>
          <a:ln/>
        </p:spPr>
        <p:txBody>
          <a:bodyPr wrap="square" lIns="0" tIns="0" rIns="0" bIns="0" rtlCol="0" anchor="t">
            <a:normAutofit/>
          </a:bodyPr>
          <a:lstStyle/>
          <a:p>
            <a:pPr marL="0" indent="0" algn="l">
              <a:lnSpc>
                <a:spcPts val="1540"/>
              </a:lnSpc>
              <a:buNone/>
            </a:pPr>
            <a:r>
              <a:rPr lang="en-US" sz="1100">
                <a:solidFill>
                  <a:srgbClr val="5A6180"/>
                </a:solidFill>
                <a:latin typeface="Nunito Sans" pitchFamily="34" charset="0"/>
                <a:ea typeface="Nunito Sans" pitchFamily="34" charset="-122"/>
                <a:cs typeface="Nunito Sans" pitchFamily="34" charset="-120"/>
              </a:rPr>
              <a:t>No network, no model — clamps speed on an ultrasonic or cliff breach</a:t>
            </a:r>
            <a:endParaRPr lang="en-US" sz="1100"/>
          </a:p>
        </p:txBody>
      </p:sp>
      <p:sp>
        <p:nvSpPr>
          <p:cNvPr id="14" name="Shape 11"/>
          <p:cNvSpPr/>
          <p:nvPr/>
        </p:nvSpPr>
        <p:spPr>
          <a:xfrm>
            <a:off x="9441160" y="1823690"/>
            <a:ext cx="833140" cy="322560"/>
          </a:xfrm>
          <a:prstGeom prst="roundRect">
            <a:avLst>
              <a:gd name="adj" fmla="val 50000"/>
            </a:avLst>
          </a:prstGeom>
          <a:solidFill>
            <a:srgbClr val="E7FAF6"/>
          </a:solidFill>
          <a:ln/>
        </p:spPr>
        <p:txBody>
          <a:bodyPr/>
          <a:lstStyle/>
          <a:p>
            <a:endParaRPr lang="en-US"/>
          </a:p>
        </p:txBody>
      </p:sp>
      <p:sp>
        <p:nvSpPr>
          <p:cNvPr id="15" name="Text 12"/>
          <p:cNvSpPr/>
          <p:nvPr/>
        </p:nvSpPr>
        <p:spPr>
          <a:xfrm>
            <a:off x="9580860" y="1887190"/>
            <a:ext cx="604540" cy="220960"/>
          </a:xfrm>
          <a:prstGeom prst="rect">
            <a:avLst/>
          </a:prstGeom>
          <a:noFill/>
          <a:ln/>
        </p:spPr>
        <p:txBody>
          <a:bodyPr wrap="square" lIns="0" tIns="0" rIns="0" bIns="0" rtlCol="0" anchor="t">
            <a:normAutofit/>
          </a:bodyPr>
          <a:lstStyle/>
          <a:p>
            <a:pPr marL="0" indent="0" algn="l">
              <a:lnSpc>
                <a:spcPts val="1540"/>
              </a:lnSpc>
              <a:buNone/>
            </a:pPr>
            <a:r>
              <a:rPr lang="en-US" sz="1100" b="1" kern="0" spc="50">
                <a:solidFill>
                  <a:srgbClr val="17B8A6"/>
                </a:solidFill>
                <a:latin typeface="Nunito Sans" pitchFamily="34" charset="0"/>
                <a:ea typeface="Nunito Sans" pitchFamily="34" charset="-122"/>
                <a:cs typeface="Nunito Sans" pitchFamily="34" charset="-120"/>
              </a:rPr>
              <a:t>DEVICE</a:t>
            </a:r>
            <a:endParaRPr lang="en-US" sz="1100"/>
          </a:p>
        </p:txBody>
      </p:sp>
      <p:sp>
        <p:nvSpPr>
          <p:cNvPr id="16" name="Shape 13"/>
          <p:cNvSpPr/>
          <p:nvPr/>
        </p:nvSpPr>
        <p:spPr>
          <a:xfrm>
            <a:off x="1657350" y="2607270"/>
            <a:ext cx="8877300" cy="685800"/>
          </a:xfrm>
          <a:prstGeom prst="roundRect">
            <a:avLst>
              <a:gd name="adj" fmla="val 17593"/>
            </a:avLst>
          </a:prstGeom>
          <a:solidFill>
            <a:srgbClr val="FFFFFF"/>
          </a:solidFill>
          <a:ln w="12700">
            <a:solidFill>
              <a:srgbClr val="17B8A6"/>
            </a:solidFill>
            <a:prstDash val="solid"/>
          </a:ln>
        </p:spPr>
        <p:txBody>
          <a:bodyPr/>
          <a:lstStyle/>
          <a:p>
            <a:endParaRPr lang="en-US"/>
          </a:p>
        </p:txBody>
      </p:sp>
      <p:sp>
        <p:nvSpPr>
          <p:cNvPr id="17" name="Text 14"/>
          <p:cNvSpPr/>
          <p:nvPr/>
        </p:nvSpPr>
        <p:spPr>
          <a:xfrm>
            <a:off x="1917700" y="2754610"/>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17B8A6"/>
                </a:solidFill>
                <a:latin typeface="Nunito Sans" pitchFamily="34" charset="0"/>
                <a:ea typeface="Nunito Sans" pitchFamily="34" charset="-122"/>
                <a:cs typeface="Nunito Sans" pitchFamily="34" charset="-120"/>
              </a:rPr>
              <a:t>R1</a:t>
            </a:r>
            <a:endParaRPr lang="en-US" sz="2200"/>
          </a:p>
        </p:txBody>
      </p:sp>
      <p:sp>
        <p:nvSpPr>
          <p:cNvPr id="18" name="Text 15"/>
          <p:cNvSpPr/>
          <p:nvPr/>
        </p:nvSpPr>
        <p:spPr>
          <a:xfrm>
            <a:off x="2692400" y="2725390"/>
            <a:ext cx="6893789"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14163B"/>
                </a:solidFill>
                <a:latin typeface="Nunito Sans" pitchFamily="34" charset="0"/>
                <a:ea typeface="Nunito Sans" pitchFamily="34" charset="-122"/>
                <a:cs typeface="Nunito Sans" pitchFamily="34" charset="-120"/>
              </a:rPr>
              <a:t>Reactive avoidance</a:t>
            </a:r>
            <a:endParaRPr lang="en-US" sz="1500"/>
          </a:p>
        </p:txBody>
      </p:sp>
      <p:sp>
        <p:nvSpPr>
          <p:cNvPr id="19" name="Text 16"/>
          <p:cNvSpPr/>
          <p:nvPr/>
        </p:nvSpPr>
        <p:spPr>
          <a:xfrm>
            <a:off x="2692400" y="2979390"/>
            <a:ext cx="6893789" cy="220960"/>
          </a:xfrm>
          <a:prstGeom prst="rect">
            <a:avLst/>
          </a:prstGeom>
          <a:noFill/>
          <a:ln/>
        </p:spPr>
        <p:txBody>
          <a:bodyPr wrap="square" lIns="0" tIns="0" rIns="0" bIns="0" rtlCol="0" anchor="t">
            <a:normAutofit/>
          </a:bodyPr>
          <a:lstStyle/>
          <a:p>
            <a:pPr marL="0" indent="0" algn="l">
              <a:lnSpc>
                <a:spcPts val="1540"/>
              </a:lnSpc>
              <a:buNone/>
            </a:pPr>
            <a:r>
              <a:rPr lang="en-US" sz="1100">
                <a:solidFill>
                  <a:srgbClr val="5A6180"/>
                </a:solidFill>
                <a:latin typeface="Nunito Sans" pitchFamily="34" charset="0"/>
                <a:ea typeface="Nunito Sans" pitchFamily="34" charset="-122"/>
                <a:cs typeface="Nunito Sans" pitchFamily="34" charset="-120"/>
              </a:rPr>
              <a:t>Classical DWA-class controller over a local occupancy window — no language model on this path</a:t>
            </a:r>
            <a:endParaRPr lang="en-US" sz="1100"/>
          </a:p>
        </p:txBody>
      </p:sp>
      <p:sp>
        <p:nvSpPr>
          <p:cNvPr id="20" name="Shape 17"/>
          <p:cNvSpPr/>
          <p:nvPr/>
        </p:nvSpPr>
        <p:spPr>
          <a:xfrm>
            <a:off x="9588599" y="2788890"/>
            <a:ext cx="685701" cy="322560"/>
          </a:xfrm>
          <a:prstGeom prst="roundRect">
            <a:avLst>
              <a:gd name="adj" fmla="val 50000"/>
            </a:avLst>
          </a:prstGeom>
          <a:solidFill>
            <a:srgbClr val="E7FAF6"/>
          </a:solidFill>
          <a:ln/>
        </p:spPr>
        <p:txBody>
          <a:bodyPr/>
          <a:lstStyle/>
          <a:p>
            <a:endParaRPr lang="en-US"/>
          </a:p>
        </p:txBody>
      </p:sp>
      <p:sp>
        <p:nvSpPr>
          <p:cNvPr id="21" name="Text 18"/>
          <p:cNvSpPr/>
          <p:nvPr/>
        </p:nvSpPr>
        <p:spPr>
          <a:xfrm>
            <a:off x="9728299" y="2852390"/>
            <a:ext cx="457101" cy="220960"/>
          </a:xfrm>
          <a:prstGeom prst="rect">
            <a:avLst/>
          </a:prstGeom>
          <a:noFill/>
          <a:ln/>
        </p:spPr>
        <p:txBody>
          <a:bodyPr wrap="square" lIns="0" tIns="0" rIns="0" bIns="0" rtlCol="0" anchor="t">
            <a:normAutofit/>
          </a:bodyPr>
          <a:lstStyle/>
          <a:p>
            <a:pPr marL="0" indent="0" algn="l">
              <a:lnSpc>
                <a:spcPts val="1540"/>
              </a:lnSpc>
              <a:buNone/>
            </a:pPr>
            <a:r>
              <a:rPr lang="en-US" sz="1100" b="1" kern="0" spc="50">
                <a:solidFill>
                  <a:srgbClr val="17B8A6"/>
                </a:solidFill>
                <a:latin typeface="Nunito Sans" pitchFamily="34" charset="0"/>
                <a:ea typeface="Nunito Sans" pitchFamily="34" charset="-122"/>
                <a:cs typeface="Nunito Sans" pitchFamily="34" charset="-120"/>
              </a:rPr>
              <a:t>EDGE</a:t>
            </a:r>
            <a:endParaRPr lang="en-US" sz="1100"/>
          </a:p>
        </p:txBody>
      </p:sp>
      <p:sp>
        <p:nvSpPr>
          <p:cNvPr id="22" name="Shape 19"/>
          <p:cNvSpPr/>
          <p:nvPr/>
        </p:nvSpPr>
        <p:spPr>
          <a:xfrm>
            <a:off x="1657350" y="3572470"/>
            <a:ext cx="8877300" cy="685800"/>
          </a:xfrm>
          <a:prstGeom prst="roundRect">
            <a:avLst>
              <a:gd name="adj" fmla="val 17593"/>
            </a:avLst>
          </a:prstGeom>
          <a:solidFill>
            <a:srgbClr val="FFFFFF"/>
          </a:solidFill>
          <a:ln w="12700">
            <a:solidFill>
              <a:srgbClr val="8B7CF6"/>
            </a:solidFill>
            <a:prstDash val="solid"/>
          </a:ln>
        </p:spPr>
        <p:txBody>
          <a:bodyPr/>
          <a:lstStyle/>
          <a:p>
            <a:endParaRPr lang="en-US"/>
          </a:p>
        </p:txBody>
      </p:sp>
      <p:sp>
        <p:nvSpPr>
          <p:cNvPr id="23" name="Text 20"/>
          <p:cNvSpPr/>
          <p:nvPr/>
        </p:nvSpPr>
        <p:spPr>
          <a:xfrm>
            <a:off x="1917700" y="3719810"/>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8B7CF6"/>
                </a:solidFill>
                <a:latin typeface="Nunito Sans" pitchFamily="34" charset="0"/>
                <a:ea typeface="Nunito Sans" pitchFamily="34" charset="-122"/>
                <a:cs typeface="Nunito Sans" pitchFamily="34" charset="-120"/>
              </a:rPr>
              <a:t>R2</a:t>
            </a:r>
            <a:endParaRPr lang="en-US" sz="2200"/>
          </a:p>
        </p:txBody>
      </p:sp>
      <p:sp>
        <p:nvSpPr>
          <p:cNvPr id="24" name="Text 21"/>
          <p:cNvSpPr/>
          <p:nvPr/>
        </p:nvSpPr>
        <p:spPr>
          <a:xfrm>
            <a:off x="2692400" y="3690590"/>
            <a:ext cx="6893789"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14163B"/>
                </a:solidFill>
                <a:latin typeface="Nunito Sans" pitchFamily="34" charset="0"/>
                <a:ea typeface="Nunito Sans" pitchFamily="34" charset="-122"/>
                <a:cs typeface="Nunito Sans" pitchFamily="34" charset="-120"/>
              </a:rPr>
              <a:t>Tactical SLM arbiter</a:t>
            </a:r>
            <a:endParaRPr lang="en-US" sz="1500"/>
          </a:p>
        </p:txBody>
      </p:sp>
      <p:sp>
        <p:nvSpPr>
          <p:cNvPr id="25" name="Text 22"/>
          <p:cNvSpPr/>
          <p:nvPr/>
        </p:nvSpPr>
        <p:spPr>
          <a:xfrm>
            <a:off x="2692400" y="3944590"/>
            <a:ext cx="6893789" cy="220960"/>
          </a:xfrm>
          <a:prstGeom prst="rect">
            <a:avLst/>
          </a:prstGeom>
          <a:noFill/>
          <a:ln/>
        </p:spPr>
        <p:txBody>
          <a:bodyPr wrap="square" lIns="0" tIns="0" rIns="0" bIns="0" rtlCol="0" anchor="t">
            <a:normAutofit/>
          </a:bodyPr>
          <a:lstStyle/>
          <a:p>
            <a:pPr marL="0" indent="0" algn="l">
              <a:lnSpc>
                <a:spcPts val="1540"/>
              </a:lnSpc>
              <a:buNone/>
            </a:pPr>
            <a:r>
              <a:rPr lang="en-US" sz="1100">
                <a:solidFill>
                  <a:srgbClr val="5A6180"/>
                </a:solidFill>
                <a:latin typeface="Nunito Sans" pitchFamily="34" charset="0"/>
                <a:ea typeface="Nunito Sans" pitchFamily="34" charset="-122"/>
                <a:cs typeface="Nunito Sans" pitchFamily="34" charset="-120"/>
              </a:rPr>
              <a:t>Triggered only; ≤32-token schema-checked decision — continue, branch, wait, escalate or hold</a:t>
            </a:r>
            <a:endParaRPr lang="en-US" sz="1100"/>
          </a:p>
        </p:txBody>
      </p:sp>
      <p:sp>
        <p:nvSpPr>
          <p:cNvPr id="26" name="Shape 23"/>
          <p:cNvSpPr/>
          <p:nvPr/>
        </p:nvSpPr>
        <p:spPr>
          <a:xfrm>
            <a:off x="9588599" y="3754090"/>
            <a:ext cx="685701" cy="322560"/>
          </a:xfrm>
          <a:prstGeom prst="roundRect">
            <a:avLst>
              <a:gd name="adj" fmla="val 50000"/>
            </a:avLst>
          </a:prstGeom>
          <a:solidFill>
            <a:srgbClr val="EFEBFE"/>
          </a:solidFill>
          <a:ln/>
        </p:spPr>
        <p:txBody>
          <a:bodyPr/>
          <a:lstStyle/>
          <a:p>
            <a:endParaRPr lang="en-US"/>
          </a:p>
        </p:txBody>
      </p:sp>
      <p:sp>
        <p:nvSpPr>
          <p:cNvPr id="27" name="Text 24"/>
          <p:cNvSpPr/>
          <p:nvPr/>
        </p:nvSpPr>
        <p:spPr>
          <a:xfrm>
            <a:off x="9728299" y="3817590"/>
            <a:ext cx="457101" cy="220960"/>
          </a:xfrm>
          <a:prstGeom prst="rect">
            <a:avLst/>
          </a:prstGeom>
          <a:noFill/>
          <a:ln/>
        </p:spPr>
        <p:txBody>
          <a:bodyPr wrap="square" lIns="0" tIns="0" rIns="0" bIns="0" rtlCol="0" anchor="t">
            <a:normAutofit/>
          </a:bodyPr>
          <a:lstStyle/>
          <a:p>
            <a:pPr marL="0" indent="0" algn="l">
              <a:lnSpc>
                <a:spcPts val="1540"/>
              </a:lnSpc>
              <a:buNone/>
            </a:pPr>
            <a:r>
              <a:rPr lang="en-US" sz="1100" b="1" kern="0" spc="50">
                <a:solidFill>
                  <a:srgbClr val="8B7CF6"/>
                </a:solidFill>
                <a:latin typeface="Nunito Sans" pitchFamily="34" charset="0"/>
                <a:ea typeface="Nunito Sans" pitchFamily="34" charset="-122"/>
                <a:cs typeface="Nunito Sans" pitchFamily="34" charset="-120"/>
              </a:rPr>
              <a:t>EDGE</a:t>
            </a:r>
            <a:endParaRPr lang="en-US" sz="1100"/>
          </a:p>
        </p:txBody>
      </p:sp>
      <p:sp>
        <p:nvSpPr>
          <p:cNvPr id="28" name="Shape 25"/>
          <p:cNvSpPr/>
          <p:nvPr/>
        </p:nvSpPr>
        <p:spPr>
          <a:xfrm>
            <a:off x="1657350" y="4537670"/>
            <a:ext cx="8877300" cy="685800"/>
          </a:xfrm>
          <a:prstGeom prst="roundRect">
            <a:avLst>
              <a:gd name="adj" fmla="val 17593"/>
            </a:avLst>
          </a:prstGeom>
          <a:solidFill>
            <a:srgbClr val="14163B"/>
          </a:solidFill>
          <a:ln w="12700">
            <a:solidFill>
              <a:srgbClr val="8B7CF6"/>
            </a:solidFill>
            <a:prstDash val="solid"/>
          </a:ln>
        </p:spPr>
        <p:txBody>
          <a:bodyPr/>
          <a:lstStyle/>
          <a:p>
            <a:endParaRPr lang="en-US"/>
          </a:p>
        </p:txBody>
      </p:sp>
      <p:sp>
        <p:nvSpPr>
          <p:cNvPr id="29" name="Text 26"/>
          <p:cNvSpPr/>
          <p:nvPr/>
        </p:nvSpPr>
        <p:spPr>
          <a:xfrm>
            <a:off x="1917700" y="4685010"/>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5EEBD9"/>
                </a:solidFill>
                <a:latin typeface="Nunito Sans" pitchFamily="34" charset="0"/>
                <a:ea typeface="Nunito Sans" pitchFamily="34" charset="-122"/>
                <a:cs typeface="Nunito Sans" pitchFamily="34" charset="-120"/>
              </a:rPr>
              <a:t>R3</a:t>
            </a:r>
            <a:endParaRPr lang="en-US" sz="2200"/>
          </a:p>
        </p:txBody>
      </p:sp>
      <p:sp>
        <p:nvSpPr>
          <p:cNvPr id="30" name="Text 27"/>
          <p:cNvSpPr/>
          <p:nvPr/>
        </p:nvSpPr>
        <p:spPr>
          <a:xfrm>
            <a:off x="2692400" y="4655790"/>
            <a:ext cx="6771513"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FBFBF8"/>
                </a:solidFill>
                <a:latin typeface="Nunito Sans" pitchFamily="34" charset="0"/>
                <a:ea typeface="Nunito Sans" pitchFamily="34" charset="-122"/>
                <a:cs typeface="Nunito Sans" pitchFamily="34" charset="-120"/>
              </a:rPr>
              <a:t>Deliberative planner</a:t>
            </a:r>
            <a:endParaRPr lang="en-US" sz="1500"/>
          </a:p>
        </p:txBody>
      </p:sp>
      <p:sp>
        <p:nvSpPr>
          <p:cNvPr id="31" name="Text 28"/>
          <p:cNvSpPr/>
          <p:nvPr/>
        </p:nvSpPr>
        <p:spPr>
          <a:xfrm>
            <a:off x="2692400" y="4909790"/>
            <a:ext cx="6771513" cy="220960"/>
          </a:xfrm>
          <a:prstGeom prst="rect">
            <a:avLst/>
          </a:prstGeom>
          <a:noFill/>
          <a:ln/>
        </p:spPr>
        <p:txBody>
          <a:bodyPr wrap="square" lIns="0" tIns="0" rIns="0" bIns="0" rtlCol="0" anchor="t">
            <a:normAutofit/>
          </a:bodyPr>
          <a:lstStyle/>
          <a:p>
            <a:pPr marL="0" indent="0" algn="l">
              <a:lnSpc>
                <a:spcPts val="1540"/>
              </a:lnSpc>
              <a:buNone/>
            </a:pPr>
            <a:r>
              <a:rPr lang="en-US" sz="1100">
                <a:solidFill>
                  <a:srgbClr val="C7CBEA"/>
                </a:solidFill>
                <a:latin typeface="Nunito Sans" pitchFamily="34" charset="0"/>
                <a:ea typeface="Nunito Sans" pitchFamily="34" charset="-122"/>
                <a:cs typeface="Nunito Sans" pitchFamily="34" charset="-120"/>
              </a:rPr>
              <a:t>Cloud LLM plans routes, issues authority leases, replans on escalation</a:t>
            </a:r>
            <a:endParaRPr lang="en-US" sz="1100"/>
          </a:p>
        </p:txBody>
      </p:sp>
      <p:sp>
        <p:nvSpPr>
          <p:cNvPr id="32" name="Shape 29"/>
          <p:cNvSpPr/>
          <p:nvPr/>
        </p:nvSpPr>
        <p:spPr>
          <a:xfrm>
            <a:off x="9469884" y="4719290"/>
            <a:ext cx="804416" cy="322560"/>
          </a:xfrm>
          <a:prstGeom prst="roundRect">
            <a:avLst>
              <a:gd name="adj" fmla="val 50000"/>
            </a:avLst>
          </a:prstGeom>
          <a:solidFill>
            <a:srgbClr val="5EEBD9"/>
          </a:solidFill>
          <a:ln/>
        </p:spPr>
        <p:txBody>
          <a:bodyPr/>
          <a:lstStyle/>
          <a:p>
            <a:endParaRPr lang="en-US"/>
          </a:p>
        </p:txBody>
      </p:sp>
      <p:sp>
        <p:nvSpPr>
          <p:cNvPr id="33" name="Text 30"/>
          <p:cNvSpPr/>
          <p:nvPr/>
        </p:nvSpPr>
        <p:spPr>
          <a:xfrm>
            <a:off x="9609584" y="4782790"/>
            <a:ext cx="575816" cy="220960"/>
          </a:xfrm>
          <a:prstGeom prst="rect">
            <a:avLst/>
          </a:prstGeom>
          <a:noFill/>
          <a:ln/>
        </p:spPr>
        <p:txBody>
          <a:bodyPr wrap="square" lIns="0" tIns="0" rIns="0" bIns="0" rtlCol="0" anchor="t">
            <a:normAutofit/>
          </a:bodyPr>
          <a:lstStyle/>
          <a:p>
            <a:pPr marL="0" indent="0" algn="l">
              <a:lnSpc>
                <a:spcPts val="1540"/>
              </a:lnSpc>
              <a:buNone/>
            </a:pPr>
            <a:r>
              <a:rPr lang="en-US" sz="1100" b="1" kern="0" spc="50">
                <a:solidFill>
                  <a:srgbClr val="14163B"/>
                </a:solidFill>
                <a:latin typeface="Nunito Sans" pitchFamily="34" charset="0"/>
                <a:ea typeface="Nunito Sans" pitchFamily="34" charset="-122"/>
                <a:cs typeface="Nunito Sans" pitchFamily="34" charset="-120"/>
              </a:rPr>
              <a:t>CLOUD</a:t>
            </a:r>
            <a:endParaRPr lang="en-US" sz="1100"/>
          </a:p>
        </p:txBody>
      </p:sp>
      <p:sp>
        <p:nvSpPr>
          <p:cNvPr id="34" name="Text 31"/>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35" name="Text 32"/>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05 / 17</a:t>
            </a:r>
            <a:endParaRPr 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14163B"/>
                </a:solidFill>
                <a:latin typeface="Rubik" pitchFamily="34" charset="0"/>
                <a:ea typeface="Rubik" pitchFamily="34" charset="-122"/>
                <a:cs typeface="Rubik" pitchFamily="34" charset="-120"/>
              </a:rPr>
              <a:t>The degradation ladder</a:t>
            </a:r>
            <a:endParaRPr lang="en-US" sz="2800"/>
          </a:p>
        </p:txBody>
      </p:sp>
      <p:sp>
        <p:nvSpPr>
          <p:cNvPr id="3" name="Text 1"/>
          <p:cNvSpPr/>
          <p:nvPr/>
        </p:nvSpPr>
        <p:spPr>
          <a:xfrm>
            <a:off x="812800" y="1305520"/>
            <a:ext cx="8502650" cy="256530"/>
          </a:xfrm>
          <a:prstGeom prst="rect">
            <a:avLst/>
          </a:prstGeom>
          <a:noFill/>
          <a:ln/>
        </p:spPr>
        <p:txBody>
          <a:bodyPr wrap="square" lIns="0" tIns="0" rIns="0" bIns="0" rtlCol="0" anchor="t">
            <a:normAutofit/>
          </a:bodyPr>
          <a:lstStyle/>
          <a:p>
            <a:pPr marL="0" indent="0" algn="l">
              <a:lnSpc>
                <a:spcPts val="1820"/>
              </a:lnSpc>
              <a:buNone/>
            </a:pPr>
            <a:r>
              <a:rPr lang="en-US" sz="1300">
                <a:solidFill>
                  <a:srgbClr val="5A6180"/>
                </a:solidFill>
                <a:latin typeface="Nunito Sans" pitchFamily="34" charset="0"/>
                <a:ea typeface="Nunito Sans" pitchFamily="34" charset="-122"/>
                <a:cs typeface="Nunito Sans" pitchFamily="34" charset="-120"/>
              </a:rPr>
              <a:t>Lease age converts into a bounded reduction of authority — never a surprise, always the same five rungs.</a:t>
            </a:r>
            <a:endParaRPr lang="en-US" sz="1300"/>
          </a:p>
        </p:txBody>
      </p:sp>
      <p:sp>
        <p:nvSpPr>
          <p:cNvPr id="4" name="Shape 2"/>
          <p:cNvSpPr/>
          <p:nvPr/>
        </p:nvSpPr>
        <p:spPr>
          <a:xfrm>
            <a:off x="819150" y="1847800"/>
            <a:ext cx="1734790" cy="3987850"/>
          </a:xfrm>
          <a:prstGeom prst="roundRect">
            <a:avLst>
              <a:gd name="adj" fmla="val 6955"/>
            </a:avLst>
          </a:prstGeom>
          <a:solidFill>
            <a:srgbClr val="FFFFFF"/>
          </a:solidFill>
          <a:ln w="12700">
            <a:solidFill>
              <a:srgbClr val="17B8A6"/>
            </a:solidFill>
            <a:prstDash val="solid"/>
          </a:ln>
        </p:spPr>
        <p:txBody>
          <a:bodyPr/>
          <a:lstStyle/>
          <a:p>
            <a:endParaRPr lang="en-US"/>
          </a:p>
        </p:txBody>
      </p:sp>
      <p:sp>
        <p:nvSpPr>
          <p:cNvPr id="5" name="Text 3"/>
          <p:cNvSpPr/>
          <p:nvPr/>
        </p:nvSpPr>
        <p:spPr>
          <a:xfrm>
            <a:off x="977900" y="2057350"/>
            <a:ext cx="146809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17B8A6"/>
                </a:solidFill>
                <a:latin typeface="Nunito Sans" pitchFamily="34" charset="0"/>
                <a:ea typeface="Nunito Sans" pitchFamily="34" charset="-122"/>
                <a:cs typeface="Nunito Sans" pitchFamily="34" charset="-120"/>
              </a:rPr>
              <a:t>L0 · NORMAL</a:t>
            </a:r>
            <a:endParaRPr lang="en-US" sz="1200"/>
          </a:p>
        </p:txBody>
      </p:sp>
      <p:sp>
        <p:nvSpPr>
          <p:cNvPr id="6" name="Text 4"/>
          <p:cNvSpPr/>
          <p:nvPr/>
        </p:nvSpPr>
        <p:spPr>
          <a:xfrm>
            <a:off x="977900" y="2372271"/>
            <a:ext cx="146809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8A8FA8"/>
                </a:solidFill>
                <a:latin typeface="Nunito Sans" pitchFamily="34" charset="0"/>
                <a:ea typeface="Nunito Sans" pitchFamily="34" charset="-122"/>
                <a:cs typeface="Nunito Sans" pitchFamily="34" charset="-120"/>
              </a:rPr>
              <a:t>age &lt; renew_at</a:t>
            </a:r>
            <a:endParaRPr lang="en-US" sz="1000"/>
          </a:p>
        </p:txBody>
      </p:sp>
      <p:sp>
        <p:nvSpPr>
          <p:cNvPr id="7" name="Text 5"/>
          <p:cNvSpPr/>
          <p:nvPr/>
        </p:nvSpPr>
        <p:spPr>
          <a:xfrm>
            <a:off x="977900" y="2651671"/>
            <a:ext cx="1468090" cy="416520"/>
          </a:xfrm>
          <a:prstGeom prst="rect">
            <a:avLst/>
          </a:prstGeom>
          <a:noFill/>
          <a:ln/>
        </p:spPr>
        <p:txBody>
          <a:bodyPr wrap="square" lIns="0" tIns="0" rIns="0" bIns="0" rtlCol="0" anchor="t">
            <a:normAutofit/>
          </a:bodyPr>
          <a:lstStyle/>
          <a:p>
            <a:pPr marL="0" indent="0" algn="l">
              <a:lnSpc>
                <a:spcPts val="1540"/>
              </a:lnSpc>
              <a:buNone/>
            </a:pPr>
            <a:r>
              <a:rPr lang="en-US" sz="1100">
                <a:solidFill>
                  <a:srgbClr val="3A4160"/>
                </a:solidFill>
                <a:latin typeface="Nunito Sans" pitchFamily="34" charset="0"/>
                <a:ea typeface="Nunito Sans" pitchFamily="34" charset="-122"/>
                <a:cs typeface="Nunito Sans" pitchFamily="34" charset="-120"/>
              </a:rPr>
              <a:t>Full speed &amp; corridor, renewals on schedule</a:t>
            </a:r>
            <a:endParaRPr lang="en-US" sz="1100"/>
          </a:p>
        </p:txBody>
      </p:sp>
      <p:pic>
        <p:nvPicPr>
          <p:cNvPr id="8" name="Image 0" descr="arrow-right"/>
          <p:cNvPicPr>
            <a:picLocks noChangeAspect="1"/>
          </p:cNvPicPr>
          <p:nvPr/>
        </p:nvPicPr>
        <p:blipFill>
          <a:blip r:embed="rId3"/>
          <a:srcRect/>
          <a:stretch/>
        </p:blipFill>
        <p:spPr>
          <a:xfrm>
            <a:off x="2661890" y="3714700"/>
            <a:ext cx="254000" cy="254000"/>
          </a:xfrm>
          <a:prstGeom prst="rect">
            <a:avLst/>
          </a:prstGeom>
        </p:spPr>
      </p:pic>
      <p:sp>
        <p:nvSpPr>
          <p:cNvPr id="9" name="Shape 6"/>
          <p:cNvSpPr/>
          <p:nvPr/>
        </p:nvSpPr>
        <p:spPr>
          <a:xfrm>
            <a:off x="3023840" y="1847800"/>
            <a:ext cx="1734840" cy="3987850"/>
          </a:xfrm>
          <a:prstGeom prst="roundRect">
            <a:avLst>
              <a:gd name="adj" fmla="val 6955"/>
            </a:avLst>
          </a:prstGeom>
          <a:solidFill>
            <a:srgbClr val="FFFFFF"/>
          </a:solidFill>
          <a:ln w="12700">
            <a:solidFill>
              <a:srgbClr val="E8B84B"/>
            </a:solidFill>
            <a:prstDash val="solid"/>
          </a:ln>
        </p:spPr>
        <p:txBody>
          <a:bodyPr/>
          <a:lstStyle/>
          <a:p>
            <a:endParaRPr lang="en-US"/>
          </a:p>
        </p:txBody>
      </p:sp>
      <p:sp>
        <p:nvSpPr>
          <p:cNvPr id="10" name="Text 7"/>
          <p:cNvSpPr/>
          <p:nvPr/>
        </p:nvSpPr>
        <p:spPr>
          <a:xfrm>
            <a:off x="3182590" y="2057350"/>
            <a:ext cx="146814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B4820A"/>
                </a:solidFill>
                <a:latin typeface="Nunito Sans" pitchFamily="34" charset="0"/>
                <a:ea typeface="Nunito Sans" pitchFamily="34" charset="-122"/>
                <a:cs typeface="Nunito Sans" pitchFamily="34" charset="-120"/>
              </a:rPr>
              <a:t>L1 · SOFT</a:t>
            </a:r>
            <a:endParaRPr lang="en-US" sz="1200"/>
          </a:p>
        </p:txBody>
      </p:sp>
      <p:sp>
        <p:nvSpPr>
          <p:cNvPr id="11" name="Text 8"/>
          <p:cNvSpPr/>
          <p:nvPr/>
        </p:nvSpPr>
        <p:spPr>
          <a:xfrm>
            <a:off x="3182590" y="2372271"/>
            <a:ext cx="146814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8A8FA8"/>
                </a:solidFill>
                <a:latin typeface="Nunito Sans" pitchFamily="34" charset="0"/>
                <a:ea typeface="Nunito Sans" pitchFamily="34" charset="-122"/>
                <a:cs typeface="Nunito Sans" pitchFamily="34" charset="-120"/>
              </a:rPr>
              <a:t>renew_at ≤ age &lt; ttl</a:t>
            </a:r>
            <a:endParaRPr lang="en-US" sz="1000"/>
          </a:p>
        </p:txBody>
      </p:sp>
      <p:sp>
        <p:nvSpPr>
          <p:cNvPr id="12" name="Text 9"/>
          <p:cNvSpPr/>
          <p:nvPr/>
        </p:nvSpPr>
        <p:spPr>
          <a:xfrm>
            <a:off x="3182590" y="2651671"/>
            <a:ext cx="1468140" cy="416520"/>
          </a:xfrm>
          <a:prstGeom prst="rect">
            <a:avLst/>
          </a:prstGeom>
          <a:noFill/>
          <a:ln/>
        </p:spPr>
        <p:txBody>
          <a:bodyPr wrap="square" lIns="0" tIns="0" rIns="0" bIns="0" rtlCol="0" anchor="t">
            <a:normAutofit/>
          </a:bodyPr>
          <a:lstStyle/>
          <a:p>
            <a:pPr marL="0" indent="0" algn="l">
              <a:lnSpc>
                <a:spcPts val="1540"/>
              </a:lnSpc>
              <a:buNone/>
            </a:pPr>
            <a:r>
              <a:rPr lang="en-US" sz="1100">
                <a:solidFill>
                  <a:srgbClr val="3A4160"/>
                </a:solidFill>
                <a:latin typeface="Nunito Sans" pitchFamily="34" charset="0"/>
                <a:ea typeface="Nunito Sans" pitchFamily="34" charset="-122"/>
                <a:cs typeface="Nunito Sans" pitchFamily="34" charset="-120"/>
              </a:rPr>
              <a:t>Speed halved, no new branch choices</a:t>
            </a:r>
            <a:endParaRPr lang="en-US" sz="1100"/>
          </a:p>
        </p:txBody>
      </p:sp>
      <p:pic>
        <p:nvPicPr>
          <p:cNvPr id="13" name="Image 1" descr="arrow-right"/>
          <p:cNvPicPr>
            <a:picLocks noChangeAspect="1"/>
          </p:cNvPicPr>
          <p:nvPr/>
        </p:nvPicPr>
        <p:blipFill>
          <a:blip r:embed="rId3"/>
          <a:srcRect/>
          <a:stretch/>
        </p:blipFill>
        <p:spPr>
          <a:xfrm>
            <a:off x="4866630" y="3714700"/>
            <a:ext cx="254000" cy="254000"/>
          </a:xfrm>
          <a:prstGeom prst="rect">
            <a:avLst/>
          </a:prstGeom>
        </p:spPr>
      </p:pic>
      <p:sp>
        <p:nvSpPr>
          <p:cNvPr id="14" name="Shape 10"/>
          <p:cNvSpPr/>
          <p:nvPr/>
        </p:nvSpPr>
        <p:spPr>
          <a:xfrm>
            <a:off x="5228580" y="1847800"/>
            <a:ext cx="1734790" cy="3987850"/>
          </a:xfrm>
          <a:prstGeom prst="roundRect">
            <a:avLst>
              <a:gd name="adj" fmla="val 6955"/>
            </a:avLst>
          </a:prstGeom>
          <a:solidFill>
            <a:srgbClr val="FFFFFF"/>
          </a:solidFill>
          <a:ln w="12700">
            <a:solidFill>
              <a:srgbClr val="E08A3C"/>
            </a:solidFill>
            <a:prstDash val="solid"/>
          </a:ln>
        </p:spPr>
        <p:txBody>
          <a:bodyPr/>
          <a:lstStyle/>
          <a:p>
            <a:endParaRPr lang="en-US"/>
          </a:p>
        </p:txBody>
      </p:sp>
      <p:sp>
        <p:nvSpPr>
          <p:cNvPr id="15" name="Text 11"/>
          <p:cNvSpPr/>
          <p:nvPr/>
        </p:nvSpPr>
        <p:spPr>
          <a:xfrm>
            <a:off x="5387330" y="2057350"/>
            <a:ext cx="146809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B45E10"/>
                </a:solidFill>
                <a:latin typeface="Nunito Sans" pitchFamily="34" charset="0"/>
                <a:ea typeface="Nunito Sans" pitchFamily="34" charset="-122"/>
                <a:cs typeface="Nunito Sans" pitchFamily="34" charset="-120"/>
              </a:rPr>
              <a:t>L2 · HARD</a:t>
            </a:r>
            <a:endParaRPr lang="en-US" sz="1200"/>
          </a:p>
        </p:txBody>
      </p:sp>
      <p:sp>
        <p:nvSpPr>
          <p:cNvPr id="16" name="Text 12"/>
          <p:cNvSpPr/>
          <p:nvPr/>
        </p:nvSpPr>
        <p:spPr>
          <a:xfrm>
            <a:off x="5387330" y="2372271"/>
            <a:ext cx="146809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8A8FA8"/>
                </a:solidFill>
                <a:latin typeface="Nunito Sans" pitchFamily="34" charset="0"/>
                <a:ea typeface="Nunito Sans" pitchFamily="34" charset="-122"/>
                <a:cs typeface="Nunito Sans" pitchFamily="34" charset="-120"/>
              </a:rPr>
              <a:t>age ≥ ttl</a:t>
            </a:r>
            <a:endParaRPr lang="en-US" sz="1000"/>
          </a:p>
        </p:txBody>
      </p:sp>
      <p:sp>
        <p:nvSpPr>
          <p:cNvPr id="17" name="Text 13"/>
          <p:cNvSpPr/>
          <p:nvPr/>
        </p:nvSpPr>
        <p:spPr>
          <a:xfrm>
            <a:off x="5387330" y="2651671"/>
            <a:ext cx="1468090" cy="416520"/>
          </a:xfrm>
          <a:prstGeom prst="rect">
            <a:avLst/>
          </a:prstGeom>
          <a:noFill/>
          <a:ln/>
        </p:spPr>
        <p:txBody>
          <a:bodyPr wrap="square" lIns="0" tIns="0" rIns="0" bIns="0" rtlCol="0" anchor="t">
            <a:normAutofit/>
          </a:bodyPr>
          <a:lstStyle/>
          <a:p>
            <a:pPr marL="0" indent="0" algn="l">
              <a:lnSpc>
                <a:spcPts val="1540"/>
              </a:lnSpc>
              <a:buNone/>
            </a:pPr>
            <a:r>
              <a:rPr lang="en-US" sz="1100">
                <a:solidFill>
                  <a:srgbClr val="3A4160"/>
                </a:solidFill>
                <a:latin typeface="Nunito Sans" pitchFamily="34" charset="0"/>
                <a:ea typeface="Nunito Sans" pitchFamily="34" charset="-122"/>
                <a:cs typeface="Nunito Sans" pitchFamily="34" charset="-120"/>
              </a:rPr>
              <a:t>Proceeds only to the nearest hold point</a:t>
            </a:r>
            <a:endParaRPr lang="en-US" sz="1100"/>
          </a:p>
        </p:txBody>
      </p:sp>
      <p:pic>
        <p:nvPicPr>
          <p:cNvPr id="18" name="Image 2" descr="arrow-right"/>
          <p:cNvPicPr>
            <a:picLocks noChangeAspect="1"/>
          </p:cNvPicPr>
          <p:nvPr/>
        </p:nvPicPr>
        <p:blipFill>
          <a:blip r:embed="rId3"/>
          <a:srcRect/>
          <a:stretch/>
        </p:blipFill>
        <p:spPr>
          <a:xfrm>
            <a:off x="7071320" y="3714700"/>
            <a:ext cx="254000" cy="254000"/>
          </a:xfrm>
          <a:prstGeom prst="rect">
            <a:avLst/>
          </a:prstGeom>
        </p:spPr>
      </p:pic>
      <p:sp>
        <p:nvSpPr>
          <p:cNvPr id="19" name="Shape 14"/>
          <p:cNvSpPr/>
          <p:nvPr/>
        </p:nvSpPr>
        <p:spPr>
          <a:xfrm>
            <a:off x="7433270" y="1847800"/>
            <a:ext cx="1734840" cy="3987850"/>
          </a:xfrm>
          <a:prstGeom prst="roundRect">
            <a:avLst>
              <a:gd name="adj" fmla="val 6955"/>
            </a:avLst>
          </a:prstGeom>
          <a:solidFill>
            <a:srgbClr val="14163B"/>
          </a:solidFill>
          <a:ln w="12700">
            <a:solidFill>
              <a:srgbClr val="D9564C"/>
            </a:solidFill>
            <a:prstDash val="solid"/>
          </a:ln>
        </p:spPr>
        <p:txBody>
          <a:bodyPr/>
          <a:lstStyle/>
          <a:p>
            <a:endParaRPr lang="en-US"/>
          </a:p>
        </p:txBody>
      </p:sp>
      <p:sp>
        <p:nvSpPr>
          <p:cNvPr id="20" name="Text 15"/>
          <p:cNvSpPr/>
          <p:nvPr/>
        </p:nvSpPr>
        <p:spPr>
          <a:xfrm>
            <a:off x="7592020" y="2057350"/>
            <a:ext cx="146814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F2938A"/>
                </a:solidFill>
                <a:latin typeface="Nunito Sans" pitchFamily="34" charset="0"/>
                <a:ea typeface="Nunito Sans" pitchFamily="34" charset="-122"/>
                <a:cs typeface="Nunito Sans" pitchFamily="34" charset="-120"/>
              </a:rPr>
              <a:t>L3 · SAFE-HOLD</a:t>
            </a:r>
            <a:endParaRPr lang="en-US" sz="1200"/>
          </a:p>
        </p:txBody>
      </p:sp>
      <p:sp>
        <p:nvSpPr>
          <p:cNvPr id="21" name="Text 16"/>
          <p:cNvSpPr/>
          <p:nvPr/>
        </p:nvSpPr>
        <p:spPr>
          <a:xfrm>
            <a:off x="7592020" y="2372271"/>
            <a:ext cx="1468140" cy="3810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9CA1C9"/>
                </a:solidFill>
                <a:latin typeface="Nunito Sans" pitchFamily="34" charset="0"/>
                <a:ea typeface="Nunito Sans" pitchFamily="34" charset="-122"/>
                <a:cs typeface="Nunito Sans" pitchFamily="34" charset="-120"/>
              </a:rPr>
              <a:t>at hold point, or guard trip</a:t>
            </a:r>
            <a:endParaRPr lang="en-US" sz="1000"/>
          </a:p>
        </p:txBody>
      </p:sp>
      <p:sp>
        <p:nvSpPr>
          <p:cNvPr id="22" name="Text 17"/>
          <p:cNvSpPr/>
          <p:nvPr/>
        </p:nvSpPr>
        <p:spPr>
          <a:xfrm>
            <a:off x="7592020" y="2829471"/>
            <a:ext cx="1468140" cy="416520"/>
          </a:xfrm>
          <a:prstGeom prst="rect">
            <a:avLst/>
          </a:prstGeom>
          <a:noFill/>
          <a:ln/>
        </p:spPr>
        <p:txBody>
          <a:bodyPr wrap="square" lIns="0" tIns="0" rIns="0" bIns="0" rtlCol="0" anchor="t">
            <a:normAutofit/>
          </a:bodyPr>
          <a:lstStyle/>
          <a:p>
            <a:pPr marL="0" indent="0" algn="l">
              <a:lnSpc>
                <a:spcPts val="1540"/>
              </a:lnSpc>
              <a:buNone/>
            </a:pPr>
            <a:r>
              <a:rPr lang="en-US" sz="1100">
                <a:solidFill>
                  <a:srgbClr val="E4E6F5"/>
                </a:solidFill>
                <a:latin typeface="Nunito Sans" pitchFamily="34" charset="0"/>
                <a:ea typeface="Nunito Sans" pitchFamily="34" charset="-122"/>
                <a:cs typeface="Nunito Sans" pitchFamily="34" charset="-120"/>
              </a:rPr>
              <a:t>Motors disabled, telemetry buffered</a:t>
            </a:r>
            <a:endParaRPr lang="en-US" sz="1100"/>
          </a:p>
        </p:txBody>
      </p:sp>
      <p:pic>
        <p:nvPicPr>
          <p:cNvPr id="23" name="Image 3" descr="arrow-right"/>
          <p:cNvPicPr>
            <a:picLocks noChangeAspect="1"/>
          </p:cNvPicPr>
          <p:nvPr/>
        </p:nvPicPr>
        <p:blipFill>
          <a:blip r:embed="rId3"/>
          <a:srcRect/>
          <a:stretch/>
        </p:blipFill>
        <p:spPr>
          <a:xfrm>
            <a:off x="9276060" y="3714700"/>
            <a:ext cx="254000" cy="254000"/>
          </a:xfrm>
          <a:prstGeom prst="rect">
            <a:avLst/>
          </a:prstGeom>
        </p:spPr>
      </p:pic>
      <p:sp>
        <p:nvSpPr>
          <p:cNvPr id="24" name="Shape 18"/>
          <p:cNvSpPr/>
          <p:nvPr/>
        </p:nvSpPr>
        <p:spPr>
          <a:xfrm>
            <a:off x="9638010" y="1847800"/>
            <a:ext cx="1734840" cy="3987850"/>
          </a:xfrm>
          <a:prstGeom prst="roundRect">
            <a:avLst>
              <a:gd name="adj" fmla="val 6955"/>
            </a:avLst>
          </a:prstGeom>
          <a:solidFill>
            <a:srgbClr val="FFFFFF"/>
          </a:solidFill>
          <a:ln w="12700">
            <a:solidFill>
              <a:srgbClr val="17B8A6"/>
            </a:solidFill>
            <a:prstDash val="solid"/>
          </a:ln>
        </p:spPr>
        <p:txBody>
          <a:bodyPr/>
          <a:lstStyle/>
          <a:p>
            <a:endParaRPr lang="en-US"/>
          </a:p>
        </p:txBody>
      </p:sp>
      <p:sp>
        <p:nvSpPr>
          <p:cNvPr id="25" name="Text 19"/>
          <p:cNvSpPr/>
          <p:nvPr/>
        </p:nvSpPr>
        <p:spPr>
          <a:xfrm>
            <a:off x="9796760" y="2057350"/>
            <a:ext cx="1468140"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0E8F81"/>
                </a:solidFill>
                <a:latin typeface="Nunito Sans" pitchFamily="34" charset="0"/>
                <a:ea typeface="Nunito Sans" pitchFamily="34" charset="-122"/>
                <a:cs typeface="Nunito Sans" pitchFamily="34" charset="-120"/>
              </a:rPr>
              <a:t>RESYNC</a:t>
            </a:r>
            <a:endParaRPr lang="en-US" sz="1200"/>
          </a:p>
        </p:txBody>
      </p:sp>
      <p:sp>
        <p:nvSpPr>
          <p:cNvPr id="26" name="Text 20"/>
          <p:cNvSpPr/>
          <p:nvPr/>
        </p:nvSpPr>
        <p:spPr>
          <a:xfrm>
            <a:off x="9796760" y="2372271"/>
            <a:ext cx="146814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8A8FA8"/>
                </a:solidFill>
                <a:latin typeface="Nunito Sans" pitchFamily="34" charset="0"/>
                <a:ea typeface="Nunito Sans" pitchFamily="34" charset="-122"/>
                <a:cs typeface="Nunito Sans" pitchFamily="34" charset="-120"/>
              </a:rPr>
              <a:t>link restored</a:t>
            </a:r>
            <a:endParaRPr lang="en-US" sz="1000"/>
          </a:p>
        </p:txBody>
      </p:sp>
      <p:sp>
        <p:nvSpPr>
          <p:cNvPr id="27" name="Text 21"/>
          <p:cNvSpPr/>
          <p:nvPr/>
        </p:nvSpPr>
        <p:spPr>
          <a:xfrm>
            <a:off x="9796760" y="2651671"/>
            <a:ext cx="1468140" cy="612080"/>
          </a:xfrm>
          <a:prstGeom prst="rect">
            <a:avLst/>
          </a:prstGeom>
          <a:noFill/>
          <a:ln/>
        </p:spPr>
        <p:txBody>
          <a:bodyPr wrap="square" lIns="0" tIns="0" rIns="0" bIns="0" rtlCol="0" anchor="t">
            <a:normAutofit/>
          </a:bodyPr>
          <a:lstStyle/>
          <a:p>
            <a:pPr marL="0" indent="0" algn="l">
              <a:lnSpc>
                <a:spcPts val="1540"/>
              </a:lnSpc>
              <a:buNone/>
            </a:pPr>
            <a:r>
              <a:rPr lang="en-US" sz="1100">
                <a:solidFill>
                  <a:srgbClr val="3A4160"/>
                </a:solidFill>
                <a:latin typeface="Nunito Sans" pitchFamily="34" charset="0"/>
                <a:ea typeface="Nunito Sans" pitchFamily="34" charset="-122"/>
                <a:cs typeface="Nunito Sans" pitchFamily="34" charset="-120"/>
              </a:rPr>
              <a:t>Pose &amp; epoch validated, fresh lease issued</a:t>
            </a:r>
            <a:endParaRPr lang="en-US" sz="1100"/>
          </a:p>
        </p:txBody>
      </p:sp>
      <p:sp>
        <p:nvSpPr>
          <p:cNvPr id="28" name="Text 22"/>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29" name="Text 23"/>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06 / 17</a:t>
            </a:r>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14163B"/>
                </a:solidFill>
                <a:latin typeface="Rubik" pitchFamily="34" charset="0"/>
                <a:ea typeface="Rubik" pitchFamily="34" charset="-122"/>
                <a:cs typeface="Rubik" pitchFamily="34" charset="-120"/>
              </a:rPr>
              <a:t>Three configurations, one codebase</a:t>
            </a:r>
            <a:endParaRPr lang="en-US" sz="2800"/>
          </a:p>
        </p:txBody>
      </p:sp>
      <p:sp>
        <p:nvSpPr>
          <p:cNvPr id="3" name="Text 1"/>
          <p:cNvSpPr/>
          <p:nvPr/>
        </p:nvSpPr>
        <p:spPr>
          <a:xfrm>
            <a:off x="812800" y="1305520"/>
            <a:ext cx="9810750" cy="487660"/>
          </a:xfrm>
          <a:prstGeom prst="rect">
            <a:avLst/>
          </a:prstGeom>
          <a:noFill/>
          <a:ln/>
        </p:spPr>
        <p:txBody>
          <a:bodyPr wrap="square" lIns="0" tIns="0" rIns="0" bIns="0" rtlCol="0" anchor="t">
            <a:normAutofit/>
          </a:bodyPr>
          <a:lstStyle/>
          <a:p>
            <a:pPr marL="0" indent="0" algn="l">
              <a:lnSpc>
                <a:spcPts val="1820"/>
              </a:lnSpc>
              <a:buNone/>
            </a:pPr>
            <a:r>
              <a:rPr lang="en-US" sz="1300">
                <a:solidFill>
                  <a:srgbClr val="5A6180"/>
                </a:solidFill>
                <a:latin typeface="Nunito Sans" pitchFamily="34" charset="0"/>
                <a:ea typeface="Nunito Sans" pitchFamily="34" charset="-122"/>
                <a:cs typeface="Nunito Sans" pitchFamily="34" charset="-120"/>
              </a:rPr>
              <a:t>Selectable by a single policy flag. The wider M1 / M2 sweep from the original design was dropped from this revision to keep the campaign focused on the floor, the proposal and the baseline.</a:t>
            </a:r>
            <a:endParaRPr lang="en-US" sz="13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2021780"/>
          <a:ext cx="10566400" cy="3220640"/>
        </p:xfrm>
        <a:graphic>
          <a:graphicData uri="http://schemas.openxmlformats.org/drawingml/2006/table">
            <a:tbl>
              <a:tblPr/>
              <a:tblGrid>
                <a:gridCol w="1901952">
                  <a:extLst>
                    <a:ext uri="{9D8B030D-6E8A-4147-A177-3AD203B41FA5}">
                      <a16:colId xmlns:a16="http://schemas.microsoft.com/office/drawing/2014/main" val="20000"/>
                    </a:ext>
                  </a:extLst>
                </a:gridCol>
                <a:gridCol w="3169920">
                  <a:extLst>
                    <a:ext uri="{9D8B030D-6E8A-4147-A177-3AD203B41FA5}">
                      <a16:colId xmlns:a16="http://schemas.microsoft.com/office/drawing/2014/main" val="20001"/>
                    </a:ext>
                  </a:extLst>
                </a:gridCol>
                <a:gridCol w="2958592">
                  <a:extLst>
                    <a:ext uri="{9D8B030D-6E8A-4147-A177-3AD203B41FA5}">
                      <a16:colId xmlns:a16="http://schemas.microsoft.com/office/drawing/2014/main" val="20002"/>
                    </a:ext>
                  </a:extLst>
                </a:gridCol>
                <a:gridCol w="2535936">
                  <a:extLst>
                    <a:ext uri="{9D8B030D-6E8A-4147-A177-3AD203B41FA5}">
                      <a16:colId xmlns:a16="http://schemas.microsoft.com/office/drawing/2014/main" val="20003"/>
                    </a:ext>
                  </a:extLst>
                </a:gridCol>
              </a:tblGrid>
              <a:tr h="574030">
                <a:tc>
                  <a:txBody>
                    <a:bodyPr/>
                    <a:lstStyle/>
                    <a:p>
                      <a:pPr marL="0" indent="0">
                        <a:lnSpc>
                          <a:spcPts val="1820"/>
                        </a:lnSpc>
                        <a:buNone/>
                      </a:pPr>
                      <a:r>
                        <a:rPr lang="en-US" sz="1300" b="1">
                          <a:solidFill>
                            <a:srgbClr val="FBFBF8"/>
                          </a:solidFill>
                          <a:latin typeface="Nunito Sans" pitchFamily="34" charset="0"/>
                          <a:ea typeface="Nunito Sans" pitchFamily="34" charset="-122"/>
                          <a:cs typeface="Nunito Sans" pitchFamily="34" charset="-120"/>
                        </a:rPr>
                        <a:t>Config</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14163B"/>
                    </a:solidFill>
                  </a:tcPr>
                </a:tc>
                <a:tc>
                  <a:txBody>
                    <a:bodyPr/>
                    <a:lstStyle/>
                    <a:p>
                      <a:pPr marL="0" indent="0">
                        <a:lnSpc>
                          <a:spcPts val="1820"/>
                        </a:lnSpc>
                        <a:buNone/>
                      </a:pPr>
                      <a:r>
                        <a:rPr lang="en-US" sz="1300" b="1">
                          <a:solidFill>
                            <a:srgbClr val="FBFBF8"/>
                          </a:solidFill>
                          <a:latin typeface="Nunito Sans" pitchFamily="34" charset="0"/>
                          <a:ea typeface="Nunito Sans" pitchFamily="34" charset="-122"/>
                          <a:cs typeface="Nunito Sans" pitchFamily="34" charset="-120"/>
                        </a:rPr>
                        <a:t>Decision path</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14163B"/>
                    </a:solidFill>
                  </a:tcPr>
                </a:tc>
                <a:tc>
                  <a:txBody>
                    <a:bodyPr/>
                    <a:lstStyle/>
                    <a:p>
                      <a:pPr marL="0" indent="0">
                        <a:lnSpc>
                          <a:spcPts val="1820"/>
                        </a:lnSpc>
                        <a:buNone/>
                      </a:pPr>
                      <a:r>
                        <a:rPr lang="en-US" sz="1300" b="1">
                          <a:solidFill>
                            <a:srgbClr val="FBFBF8"/>
                          </a:solidFill>
                          <a:latin typeface="Nunito Sans" pitchFamily="34" charset="0"/>
                          <a:ea typeface="Nunito Sans" pitchFamily="34" charset="-122"/>
                          <a:cs typeface="Nunito Sans" pitchFamily="34" charset="-120"/>
                        </a:rPr>
                        <a:t>Where it wins</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14163B"/>
                    </a:solidFill>
                  </a:tcPr>
                </a:tc>
                <a:tc>
                  <a:txBody>
                    <a:bodyPr/>
                    <a:lstStyle/>
                    <a:p>
                      <a:pPr marL="0" indent="0">
                        <a:lnSpc>
                          <a:spcPts val="1820"/>
                        </a:lnSpc>
                        <a:buNone/>
                      </a:pPr>
                      <a:r>
                        <a:rPr lang="en-US" sz="1300" b="1">
                          <a:solidFill>
                            <a:srgbClr val="FBFBF8"/>
                          </a:solidFill>
                          <a:latin typeface="Nunito Sans" pitchFamily="34" charset="0"/>
                          <a:ea typeface="Nunito Sans" pitchFamily="34" charset="-122"/>
                          <a:cs typeface="Nunito Sans" pitchFamily="34" charset="-120"/>
                        </a:rPr>
                        <a:t>Cost driver</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14163B"/>
                    </a:solidFill>
                  </a:tcPr>
                </a:tc>
                <a:extLst>
                  <a:ext uri="{0D108BD9-81ED-4DB2-BD59-A6C34878D82A}">
                    <a16:rowId xmlns:a16="http://schemas.microsoft.com/office/drawing/2014/main" val="10000"/>
                  </a:ext>
                </a:extLst>
              </a:tr>
              <a:tr h="1036290">
                <a:tc>
                  <a:txBody>
                    <a:bodyPr/>
                    <a:lstStyle/>
                    <a:p>
                      <a:pPr marL="0" indent="0">
                        <a:lnSpc>
                          <a:spcPts val="1820"/>
                        </a:lnSpc>
                        <a:buNone/>
                      </a:pPr>
                      <a:r>
                        <a:rPr lang="en-US" sz="1300">
                          <a:solidFill>
                            <a:srgbClr val="17B8A6"/>
                          </a:solidFill>
                          <a:latin typeface="Nunito Sans" pitchFamily="34" charset="0"/>
                          <a:ea typeface="Nunito Sans" pitchFamily="34" charset="-122"/>
                          <a:cs typeface="Nunito Sans" pitchFamily="34" charset="-120"/>
                        </a:rPr>
                        <a:t>M0 · Classical floor</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nSpc>
                          <a:spcPts val="1820"/>
                        </a:lnSpc>
                        <a:buNone/>
                      </a:pPr>
                      <a:r>
                        <a:rPr lang="en-US" sz="1300">
                          <a:solidFill>
                            <a:srgbClr val="191B3A"/>
                          </a:solidFill>
                          <a:latin typeface="Nunito Sans" pitchFamily="34" charset="0"/>
                          <a:ea typeface="Nunito Sans" pitchFamily="34" charset="-122"/>
                          <a:cs typeface="Nunito Sans" pitchFamily="34" charset="-120"/>
                        </a:rPr>
                        <a:t>Reflex + reactive only, precomputed route — no language model anywhere</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nSpc>
                          <a:spcPts val="1820"/>
                        </a:lnSpc>
                        <a:buNone/>
                      </a:pPr>
                      <a:r>
                        <a:rPr lang="en-US" sz="1300">
                          <a:solidFill>
                            <a:srgbClr val="191B3A"/>
                          </a:solidFill>
                          <a:latin typeface="Nunito Sans" pitchFamily="34" charset="0"/>
                          <a:ea typeface="Nunito Sans" pitchFamily="34" charset="-122"/>
                          <a:cs typeface="Nunito Sans" pitchFamily="34" charset="-120"/>
                        </a:rPr>
                        <a:t>Safety and cost floor; always available</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nSpc>
                          <a:spcPts val="1820"/>
                        </a:lnSpc>
                        <a:buNone/>
                      </a:pPr>
                      <a:r>
                        <a:rPr lang="en-US" sz="1300">
                          <a:solidFill>
                            <a:srgbClr val="191B3A"/>
                          </a:solidFill>
                          <a:latin typeface="Nunito Sans" pitchFamily="34" charset="0"/>
                          <a:ea typeface="Nunito Sans" pitchFamily="34" charset="-122"/>
                          <a:cs typeface="Nunito Sans" pitchFamily="34" charset="-120"/>
                        </a:rPr>
                        <a:t>None</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5160">
                <a:tc>
                  <a:txBody>
                    <a:bodyPr/>
                    <a:lstStyle/>
                    <a:p>
                      <a:pPr marL="0" indent="0">
                        <a:lnSpc>
                          <a:spcPts val="1820"/>
                        </a:lnSpc>
                        <a:buNone/>
                      </a:pPr>
                      <a:r>
                        <a:rPr lang="en-US" sz="1300">
                          <a:solidFill>
                            <a:srgbClr val="8B7CF6"/>
                          </a:solidFill>
                          <a:latin typeface="Nunito Sans" pitchFamily="34" charset="0"/>
                          <a:ea typeface="Nunito Sans" pitchFamily="34" charset="-122"/>
                          <a:cs typeface="Nunito Sans" pitchFamily="34" charset="-120"/>
                        </a:rPr>
                        <a:t>M3+ · Leased authority (proposed)</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nSpc>
                          <a:spcPts val="1820"/>
                        </a:lnSpc>
                        <a:buNone/>
                      </a:pPr>
                      <a:r>
                        <a:rPr lang="en-US" sz="1300">
                          <a:solidFill>
                            <a:srgbClr val="191B3A"/>
                          </a:solidFill>
                          <a:latin typeface="Nunito Sans" pitchFamily="34" charset="0"/>
                          <a:ea typeface="Nunito Sans" pitchFamily="34" charset="-122"/>
                          <a:cs typeface="Nunito Sans" pitchFamily="34" charset="-120"/>
                        </a:rPr>
                        <a:t>SLM decides inside lease bounds; cloud plans and renews rarely</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nSpc>
                          <a:spcPts val="1820"/>
                        </a:lnSpc>
                        <a:buNone/>
                      </a:pPr>
                      <a:r>
                        <a:rPr lang="en-US" sz="1300">
                          <a:solidFill>
                            <a:srgbClr val="191B3A"/>
                          </a:solidFill>
                          <a:latin typeface="Nunito Sans" pitchFamily="34" charset="0"/>
                          <a:ea typeface="Nunito Sans" pitchFamily="34" charset="-122"/>
                          <a:cs typeface="Nunito Sans" pitchFamily="34" charset="-120"/>
                        </a:rPr>
                        <a:t>Holds the frontier as the link degrades</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nSpc>
                          <a:spcPts val="1820"/>
                        </a:lnSpc>
                        <a:buNone/>
                      </a:pPr>
                      <a:r>
                        <a:rPr lang="en-US" sz="1300">
                          <a:solidFill>
                            <a:srgbClr val="191B3A"/>
                          </a:solidFill>
                          <a:latin typeface="Nunito Sans" pitchFamily="34" charset="0"/>
                          <a:ea typeface="Nunito Sans" pitchFamily="34" charset="-122"/>
                          <a:cs typeface="Nunito Sans" pitchFamily="34" charset="-120"/>
                        </a:rPr>
                        <a:t>Tokens only at plan / replan time</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extLst>
                  <a:ext uri="{0D108BD9-81ED-4DB2-BD59-A6C34878D82A}">
                    <a16:rowId xmlns:a16="http://schemas.microsoft.com/office/drawing/2014/main" val="10002"/>
                  </a:ext>
                </a:extLst>
              </a:tr>
              <a:tr h="805160">
                <a:tc>
                  <a:txBody>
                    <a:bodyPr/>
                    <a:lstStyle/>
                    <a:p>
                      <a:pPr marL="0" indent="0">
                        <a:lnSpc>
                          <a:spcPts val="1820"/>
                        </a:lnSpc>
                        <a:buNone/>
                      </a:pPr>
                      <a:r>
                        <a:rPr lang="en-US" sz="1300">
                          <a:solidFill>
                            <a:srgbClr val="D9564C"/>
                          </a:solidFill>
                          <a:latin typeface="Nunito Sans" pitchFamily="34" charset="0"/>
                          <a:ea typeface="Nunito Sans" pitchFamily="34" charset="-122"/>
                          <a:cs typeface="Nunito Sans" pitchFamily="34" charset="-120"/>
                        </a:rPr>
                        <a:t>M4 · Cloud-authoritative</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nSpc>
                          <a:spcPts val="1820"/>
                        </a:lnSpc>
                        <a:buNone/>
                      </a:pPr>
                      <a:r>
                        <a:rPr lang="en-US" sz="1300">
                          <a:solidFill>
                            <a:srgbClr val="191B3A"/>
                          </a:solidFill>
                          <a:latin typeface="Nunito Sans" pitchFamily="34" charset="0"/>
                          <a:ea typeface="Nunito Sans" pitchFamily="34" charset="-122"/>
                          <a:cs typeface="Nunito Sans" pitchFamily="34" charset="-120"/>
                        </a:rPr>
                        <a:t>Every tactical decision goes to the cloud LLM</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nSpc>
                          <a:spcPts val="1820"/>
                        </a:lnSpc>
                        <a:buNone/>
                      </a:pPr>
                      <a:r>
                        <a:rPr lang="en-US" sz="1300">
                          <a:solidFill>
                            <a:srgbClr val="191B3A"/>
                          </a:solidFill>
                          <a:latin typeface="Nunito Sans" pitchFamily="34" charset="0"/>
                          <a:ea typeface="Nunito Sans" pitchFamily="34" charset="-122"/>
                          <a:cs typeface="Nunito Sans" pitchFamily="34" charset="-120"/>
                        </a:rPr>
                        <a:t>Simplest to reason about on a stable link</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nSpc>
                          <a:spcPts val="1820"/>
                        </a:lnSpc>
                        <a:buNone/>
                      </a:pPr>
                      <a:r>
                        <a:rPr lang="en-US" sz="1300">
                          <a:solidFill>
                            <a:srgbClr val="191B3A"/>
                          </a:solidFill>
                          <a:latin typeface="Nunito Sans" pitchFamily="34" charset="0"/>
                          <a:ea typeface="Nunito Sans" pitchFamily="34" charset="-122"/>
                          <a:cs typeface="Nunito Sans" pitchFamily="34" charset="-120"/>
                        </a:rPr>
                        <a:t>Dominated by the token term</a:t>
                      </a:r>
                      <a:endParaRPr lang="en-US" sz="1300">
                        <a:latin typeface="Nunito Sans" charset="0"/>
                        <a:ea typeface="Nunito Sans" charset="0"/>
                        <a:cs typeface="Nunito Sans" charset="0"/>
                      </a:endParaRPr>
                    </a:p>
                  </a:txBody>
                  <a:tcPr marL="177800" marR="177800" marT="165100" marB="1651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6" name="Text 3"/>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07 / 17</a:t>
            </a:r>
            <a:endParaRPr 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14163B"/>
                </a:solidFill>
                <a:latin typeface="Rubik" pitchFamily="34" charset="0"/>
                <a:ea typeface="Rubik" pitchFamily="34" charset="-122"/>
                <a:cs typeface="Rubik" pitchFamily="34" charset="-120"/>
              </a:rPr>
              <a:t>Scope: in, out, and the MVP</a:t>
            </a:r>
            <a:endParaRPr lang="en-US" sz="2800"/>
          </a:p>
        </p:txBody>
      </p:sp>
      <p:sp>
        <p:nvSpPr>
          <p:cNvPr id="3" name="Shape 1"/>
          <p:cNvSpPr/>
          <p:nvPr/>
        </p:nvSpPr>
        <p:spPr>
          <a:xfrm>
            <a:off x="812800" y="1457920"/>
            <a:ext cx="3420517" cy="4384080"/>
          </a:xfrm>
          <a:prstGeom prst="roundRect">
            <a:avLst>
              <a:gd name="adj" fmla="val 3713"/>
            </a:avLst>
          </a:prstGeom>
          <a:solidFill>
            <a:srgbClr val="FFFFFF"/>
          </a:solidFill>
          <a:ln/>
        </p:spPr>
        <p:txBody>
          <a:bodyPr/>
          <a:lstStyle/>
          <a:p>
            <a:endParaRPr lang="en-US"/>
          </a:p>
        </p:txBody>
      </p:sp>
      <p:sp>
        <p:nvSpPr>
          <p:cNvPr id="4" name="Shape 2"/>
          <p:cNvSpPr/>
          <p:nvPr/>
        </p:nvSpPr>
        <p:spPr>
          <a:xfrm>
            <a:off x="812800" y="1483320"/>
            <a:ext cx="3420517" cy="0"/>
          </a:xfrm>
          <a:prstGeom prst="line">
            <a:avLst/>
          </a:prstGeom>
          <a:noFill/>
          <a:ln w="50800">
            <a:solidFill>
              <a:srgbClr val="17B8A6"/>
            </a:solidFill>
            <a:prstDash val="solid"/>
          </a:ln>
        </p:spPr>
        <p:txBody>
          <a:bodyPr/>
          <a:lstStyle/>
          <a:p>
            <a:endParaRPr lang="en-US"/>
          </a:p>
        </p:txBody>
      </p:sp>
      <p:sp>
        <p:nvSpPr>
          <p:cNvPr id="5" name="Text 3"/>
          <p:cNvSpPr/>
          <p:nvPr/>
        </p:nvSpPr>
        <p:spPr>
          <a:xfrm>
            <a:off x="1041400" y="1737320"/>
            <a:ext cx="3052216"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0E8F81"/>
                </a:solidFill>
                <a:latin typeface="Nunito Sans" pitchFamily="34" charset="0"/>
                <a:ea typeface="Nunito Sans" pitchFamily="34" charset="-122"/>
                <a:cs typeface="Nunito Sans" pitchFamily="34" charset="-120"/>
              </a:rPr>
              <a:t>In scope</a:t>
            </a:r>
            <a:endParaRPr lang="en-US" sz="1300"/>
          </a:p>
        </p:txBody>
      </p:sp>
      <p:sp>
        <p:nvSpPr>
          <p:cNvPr id="6" name="Text 4"/>
          <p:cNvSpPr/>
          <p:nvPr/>
        </p:nvSpPr>
        <p:spPr>
          <a:xfrm>
            <a:off x="1041400" y="2095450"/>
            <a:ext cx="3052216" cy="1885454"/>
          </a:xfrm>
          <a:prstGeom prst="rect">
            <a:avLst/>
          </a:prstGeom>
          <a:noFill/>
          <a:ln/>
        </p:spPr>
        <p:txBody>
          <a:bodyPr wrap="square" lIns="0" tIns="0" rIns="0" bIns="0" rtlCol="0" anchor="t">
            <a:normAutofit/>
          </a:bodyPr>
          <a:lstStyle/>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Lease control plane: issue, renew, escalate, revoke, resync</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Four-band control stack</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Degradation ladder</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Cloud-resident map &amp; mission state on AWS</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API Gateway remote-control front door</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Three arbitration models + no-LLM floor</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Fault injection, workload generator, evidence pipeline</a:t>
            </a:r>
            <a:endParaRPr lang="en-US" sz="1050"/>
          </a:p>
        </p:txBody>
      </p:sp>
      <p:sp>
        <p:nvSpPr>
          <p:cNvPr id="7" name="Shape 5"/>
          <p:cNvSpPr/>
          <p:nvPr/>
        </p:nvSpPr>
        <p:spPr>
          <a:xfrm>
            <a:off x="4385717" y="1457920"/>
            <a:ext cx="3420566" cy="4384080"/>
          </a:xfrm>
          <a:prstGeom prst="roundRect">
            <a:avLst>
              <a:gd name="adj" fmla="val 3713"/>
            </a:avLst>
          </a:prstGeom>
          <a:solidFill>
            <a:srgbClr val="FFFFFF"/>
          </a:solidFill>
          <a:ln/>
        </p:spPr>
        <p:txBody>
          <a:bodyPr/>
          <a:lstStyle/>
          <a:p>
            <a:endParaRPr lang="en-US"/>
          </a:p>
        </p:txBody>
      </p:sp>
      <p:sp>
        <p:nvSpPr>
          <p:cNvPr id="8" name="Shape 6"/>
          <p:cNvSpPr/>
          <p:nvPr/>
        </p:nvSpPr>
        <p:spPr>
          <a:xfrm>
            <a:off x="4385717" y="1483320"/>
            <a:ext cx="3420566" cy="0"/>
          </a:xfrm>
          <a:prstGeom prst="line">
            <a:avLst/>
          </a:prstGeom>
          <a:noFill/>
          <a:ln w="50800">
            <a:solidFill>
              <a:srgbClr val="D9564C"/>
            </a:solidFill>
            <a:prstDash val="solid"/>
          </a:ln>
        </p:spPr>
        <p:txBody>
          <a:bodyPr/>
          <a:lstStyle/>
          <a:p>
            <a:endParaRPr lang="en-US"/>
          </a:p>
        </p:txBody>
      </p:sp>
      <p:sp>
        <p:nvSpPr>
          <p:cNvPr id="9" name="Text 7"/>
          <p:cNvSpPr/>
          <p:nvPr/>
        </p:nvSpPr>
        <p:spPr>
          <a:xfrm>
            <a:off x="4614317" y="1737320"/>
            <a:ext cx="3052267"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B23A31"/>
                </a:solidFill>
                <a:latin typeface="Nunito Sans" pitchFamily="34" charset="0"/>
                <a:ea typeface="Nunito Sans" pitchFamily="34" charset="-122"/>
                <a:cs typeface="Nunito Sans" pitchFamily="34" charset="-120"/>
              </a:rPr>
              <a:t>Out of scope</a:t>
            </a:r>
            <a:endParaRPr lang="en-US" sz="1300"/>
          </a:p>
        </p:txBody>
      </p:sp>
      <p:sp>
        <p:nvSpPr>
          <p:cNvPr id="10" name="Text 8"/>
          <p:cNvSpPr/>
          <p:nvPr/>
        </p:nvSpPr>
        <p:spPr>
          <a:xfrm>
            <a:off x="4614317" y="2095450"/>
            <a:ext cx="3052267" cy="1472109"/>
          </a:xfrm>
          <a:prstGeom prst="rect">
            <a:avLst/>
          </a:prstGeom>
          <a:noFill/>
          <a:ln/>
        </p:spPr>
        <p:txBody>
          <a:bodyPr wrap="square" lIns="0" tIns="0" rIns="0" bIns="0" rtlCol="0" anchor="t">
            <a:normAutofit/>
          </a:bodyPr>
          <a:lstStyle/>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Zero-connectivity operation as a design goal</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SLAM research (fiducial localisation only)</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A physical multi-robot fleet</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Training or fine-tuning any model</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Modifying the PiCar-X chassis or sensors</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Formal safety certification</a:t>
            </a:r>
            <a:endParaRPr lang="en-US" sz="1050"/>
          </a:p>
          <a:p>
            <a:pPr marL="342900" indent="-342900" algn="l">
              <a:lnSpc>
                <a:spcPts val="1628"/>
              </a:lnSpc>
              <a:buSzPct val="100000"/>
              <a:buChar char="•"/>
            </a:pPr>
            <a:r>
              <a:rPr lang="en-US" sz="1050">
                <a:solidFill>
                  <a:srgbClr val="3A4160"/>
                </a:solidFill>
                <a:latin typeface="Nunito Sans" pitchFamily="34" charset="0"/>
                <a:ea typeface="Nunito Sans" pitchFamily="34" charset="-122"/>
                <a:cs typeface="Nunito Sans" pitchFamily="34" charset="-120"/>
              </a:rPr>
              <a:t>Centimetre-grade positioning</a:t>
            </a:r>
            <a:endParaRPr lang="en-US" sz="1050"/>
          </a:p>
        </p:txBody>
      </p:sp>
      <p:sp>
        <p:nvSpPr>
          <p:cNvPr id="11" name="Shape 9"/>
          <p:cNvSpPr/>
          <p:nvPr/>
        </p:nvSpPr>
        <p:spPr>
          <a:xfrm>
            <a:off x="7958683" y="1457920"/>
            <a:ext cx="3420517" cy="4384080"/>
          </a:xfrm>
          <a:prstGeom prst="roundRect">
            <a:avLst>
              <a:gd name="adj" fmla="val 3713"/>
            </a:avLst>
          </a:prstGeom>
          <a:solidFill>
            <a:srgbClr val="14163B"/>
          </a:solidFill>
          <a:ln/>
        </p:spPr>
        <p:txBody>
          <a:bodyPr/>
          <a:lstStyle/>
          <a:p>
            <a:endParaRPr lang="en-US"/>
          </a:p>
        </p:txBody>
      </p:sp>
      <p:sp>
        <p:nvSpPr>
          <p:cNvPr id="12" name="Shape 10"/>
          <p:cNvSpPr/>
          <p:nvPr/>
        </p:nvSpPr>
        <p:spPr>
          <a:xfrm>
            <a:off x="7958683" y="1483320"/>
            <a:ext cx="3420517" cy="0"/>
          </a:xfrm>
          <a:prstGeom prst="line">
            <a:avLst/>
          </a:prstGeom>
          <a:noFill/>
          <a:ln w="50800">
            <a:solidFill>
              <a:srgbClr val="8B7CF6"/>
            </a:solidFill>
            <a:prstDash val="solid"/>
          </a:ln>
        </p:spPr>
        <p:txBody>
          <a:bodyPr/>
          <a:lstStyle/>
          <a:p>
            <a:endParaRPr lang="en-US"/>
          </a:p>
        </p:txBody>
      </p:sp>
      <p:sp>
        <p:nvSpPr>
          <p:cNvPr id="13" name="Text 11"/>
          <p:cNvSpPr/>
          <p:nvPr/>
        </p:nvSpPr>
        <p:spPr>
          <a:xfrm>
            <a:off x="8187283" y="1737320"/>
            <a:ext cx="3052216"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B7ABFB"/>
                </a:solidFill>
                <a:latin typeface="Nunito Sans" pitchFamily="34" charset="0"/>
                <a:ea typeface="Nunito Sans" pitchFamily="34" charset="-122"/>
                <a:cs typeface="Nunito Sans" pitchFamily="34" charset="-120"/>
              </a:rPr>
              <a:t>MVP</a:t>
            </a:r>
            <a:endParaRPr lang="en-US" sz="1300"/>
          </a:p>
        </p:txBody>
      </p:sp>
      <p:sp>
        <p:nvSpPr>
          <p:cNvPr id="14" name="Text 12"/>
          <p:cNvSpPr/>
          <p:nvPr/>
        </p:nvSpPr>
        <p:spPr>
          <a:xfrm>
            <a:off x="8187283" y="2095450"/>
            <a:ext cx="3052216" cy="645418"/>
          </a:xfrm>
          <a:prstGeom prst="rect">
            <a:avLst/>
          </a:prstGeom>
          <a:noFill/>
          <a:ln/>
        </p:spPr>
        <p:txBody>
          <a:bodyPr wrap="square" lIns="0" tIns="0" rIns="0" bIns="0" rtlCol="0" anchor="t">
            <a:normAutofit/>
          </a:bodyPr>
          <a:lstStyle/>
          <a:p>
            <a:pPr marL="0" indent="0" algn="l">
              <a:lnSpc>
                <a:spcPts val="1628"/>
              </a:lnSpc>
              <a:buNone/>
            </a:pPr>
            <a:r>
              <a:rPr lang="en-US" sz="1050">
                <a:solidFill>
                  <a:srgbClr val="E4E6F5"/>
                </a:solidFill>
                <a:latin typeface="Nunito Sans" pitchFamily="34" charset="0"/>
                <a:ea typeface="Nunito Sans" pitchFamily="34" charset="-122"/>
                <a:cs typeface="Nunito Sans" pitchFamily="34" charset="-120"/>
              </a:rPr>
              <a:t>FR-1 to FR-7 and NFR-1 to NFR-7, configurations M0, M3+ and M4, run primarily in Gazebo simulation.</a:t>
            </a:r>
            <a:endParaRPr lang="en-US" sz="1050"/>
          </a:p>
        </p:txBody>
      </p:sp>
      <p:sp>
        <p:nvSpPr>
          <p:cNvPr id="15" name="Shape 13"/>
          <p:cNvSpPr/>
          <p:nvPr/>
        </p:nvSpPr>
        <p:spPr>
          <a:xfrm>
            <a:off x="8187283" y="5011440"/>
            <a:ext cx="2963317" cy="601960"/>
          </a:xfrm>
          <a:prstGeom prst="roundRect">
            <a:avLst>
              <a:gd name="adj" fmla="val 14768"/>
            </a:avLst>
          </a:prstGeom>
          <a:solidFill>
            <a:srgbClr val="5EEBD9">
              <a:alpha val="12000"/>
            </a:srgbClr>
          </a:solidFill>
          <a:ln/>
        </p:spPr>
        <p:txBody>
          <a:bodyPr/>
          <a:lstStyle/>
          <a:p>
            <a:endParaRPr lang="en-US"/>
          </a:p>
        </p:txBody>
      </p:sp>
      <p:sp>
        <p:nvSpPr>
          <p:cNvPr id="16" name="Text 14"/>
          <p:cNvSpPr/>
          <p:nvPr/>
        </p:nvSpPr>
        <p:spPr>
          <a:xfrm>
            <a:off x="8326983" y="5125740"/>
            <a:ext cx="2764434" cy="398760"/>
          </a:xfrm>
          <a:prstGeom prst="rect">
            <a:avLst/>
          </a:prstGeom>
          <a:noFill/>
          <a:ln/>
        </p:spPr>
        <p:txBody>
          <a:bodyPr wrap="square" lIns="0" tIns="0" rIns="0" bIns="0" rtlCol="0" anchor="t">
            <a:normAutofit/>
          </a:bodyPr>
          <a:lstStyle/>
          <a:p>
            <a:pPr marL="0" indent="0" algn="l">
              <a:lnSpc>
                <a:spcPts val="1470"/>
              </a:lnSpc>
              <a:buNone/>
            </a:pPr>
            <a:r>
              <a:rPr lang="en-US" sz="1050" b="1">
                <a:solidFill>
                  <a:srgbClr val="5EEBD9"/>
                </a:solidFill>
                <a:latin typeface="Nunito Sans" pitchFamily="34" charset="0"/>
                <a:ea typeface="Nunito Sans" pitchFamily="34" charset="-122"/>
                <a:cs typeface="Nunito Sans" pitchFamily="34" charset="-120"/>
              </a:rPr>
              <a:t>PiCar-X hardware validation moves to Stretch</a:t>
            </a:r>
            <a:endParaRPr lang="en-US" sz="1050"/>
          </a:p>
        </p:txBody>
      </p:sp>
      <p:sp>
        <p:nvSpPr>
          <p:cNvPr id="17" name="Text 15"/>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18" name="Text 16"/>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08 / 17</a:t>
            </a:r>
            <a:endParaRPr 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14163B"/>
                </a:solidFill>
                <a:latin typeface="Rubik" pitchFamily="34" charset="0"/>
                <a:ea typeface="Rubik" pitchFamily="34" charset="-122"/>
                <a:cs typeface="Rubik" pitchFamily="34" charset="-120"/>
              </a:rPr>
              <a:t>What must be true: the MVP requirements</a:t>
            </a:r>
            <a:endParaRPr lang="en-US" sz="2800"/>
          </a:p>
        </p:txBody>
      </p:sp>
      <p:sp>
        <p:nvSpPr>
          <p:cNvPr id="3" name="Text 1"/>
          <p:cNvSpPr/>
          <p:nvPr/>
        </p:nvSpPr>
        <p:spPr>
          <a:xfrm>
            <a:off x="812800" y="12928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180"/>
                </a:solidFill>
                <a:latin typeface="Nunito Sans" pitchFamily="34" charset="0"/>
                <a:ea typeface="Nunito Sans" pitchFamily="34" charset="-122"/>
                <a:cs typeface="Nunito Sans" pitchFamily="34" charset="-120"/>
              </a:rPr>
              <a:t>FR-1 to FR-7 and NFR-1 to NFR-7 — the requirement set behind the MVP scope</a:t>
            </a:r>
            <a:endParaRPr lang="en-US" sz="1200"/>
          </a:p>
        </p:txBody>
      </p:sp>
      <p:sp>
        <p:nvSpPr>
          <p:cNvPr id="4" name="Text 2"/>
          <p:cNvSpPr/>
          <p:nvPr/>
        </p:nvSpPr>
        <p:spPr>
          <a:xfrm>
            <a:off x="812800" y="1709341"/>
            <a:ext cx="5350129"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17B8A6"/>
                </a:solidFill>
                <a:latin typeface="Nunito Sans" pitchFamily="34" charset="0"/>
                <a:ea typeface="Nunito Sans" pitchFamily="34" charset="-122"/>
                <a:cs typeface="Nunito Sans" pitchFamily="34" charset="-120"/>
              </a:rPr>
              <a:t>FUNCTIONAL — WHAT IT MUST DO</a:t>
            </a:r>
            <a:endParaRPr lang="en-US" sz="1100"/>
          </a:p>
        </p:txBody>
      </p:sp>
      <p:sp>
        <p:nvSpPr>
          <p:cNvPr id="5" name="Shape 3"/>
          <p:cNvSpPr/>
          <p:nvPr/>
        </p:nvSpPr>
        <p:spPr>
          <a:xfrm>
            <a:off x="812800" y="1981101"/>
            <a:ext cx="5194300" cy="381000"/>
          </a:xfrm>
          <a:prstGeom prst="roundRect">
            <a:avLst>
              <a:gd name="adj" fmla="val 23333"/>
            </a:avLst>
          </a:prstGeom>
          <a:solidFill>
            <a:srgbClr val="FFFFFF"/>
          </a:solidFill>
          <a:ln/>
        </p:spPr>
        <p:txBody>
          <a:bodyPr/>
          <a:lstStyle/>
          <a:p>
            <a:endParaRPr lang="en-US"/>
          </a:p>
        </p:txBody>
      </p:sp>
      <p:sp>
        <p:nvSpPr>
          <p:cNvPr id="6" name="Text 4"/>
          <p:cNvSpPr/>
          <p:nvPr/>
        </p:nvSpPr>
        <p:spPr>
          <a:xfrm>
            <a:off x="939800" y="2082701"/>
            <a:ext cx="4572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17B8A6"/>
                </a:solidFill>
                <a:latin typeface="Nunito Sans" pitchFamily="34" charset="0"/>
                <a:ea typeface="Nunito Sans" pitchFamily="34" charset="-122"/>
                <a:cs typeface="Nunito Sans" pitchFamily="34" charset="-120"/>
              </a:rPr>
              <a:t>FR-1</a:t>
            </a:r>
            <a:endParaRPr lang="en-US" sz="1000"/>
          </a:p>
        </p:txBody>
      </p:sp>
      <p:sp>
        <p:nvSpPr>
          <p:cNvPr id="7" name="Text 5"/>
          <p:cNvSpPr/>
          <p:nvPr/>
        </p:nvSpPr>
        <p:spPr>
          <a:xfrm>
            <a:off x="1460500" y="2089051"/>
            <a:ext cx="3345875"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3A4160"/>
                </a:solidFill>
                <a:latin typeface="Nunito Sans" pitchFamily="34" charset="0"/>
                <a:ea typeface="Nunito Sans" pitchFamily="34" charset="-122"/>
                <a:cs typeface="Nunito Sans" pitchFamily="34" charset="-120"/>
              </a:rPr>
              <a:t>Device reflex gate — clamps speed, no network or model</a:t>
            </a:r>
            <a:endParaRPr lang="en-US" sz="1000"/>
          </a:p>
        </p:txBody>
      </p:sp>
      <p:sp>
        <p:nvSpPr>
          <p:cNvPr id="8" name="Shape 6"/>
          <p:cNvSpPr/>
          <p:nvPr/>
        </p:nvSpPr>
        <p:spPr>
          <a:xfrm>
            <a:off x="812800" y="2425601"/>
            <a:ext cx="5194300" cy="381000"/>
          </a:xfrm>
          <a:prstGeom prst="roundRect">
            <a:avLst>
              <a:gd name="adj" fmla="val 23333"/>
            </a:avLst>
          </a:prstGeom>
          <a:solidFill>
            <a:srgbClr val="FFFFFF"/>
          </a:solidFill>
          <a:ln/>
        </p:spPr>
        <p:txBody>
          <a:bodyPr/>
          <a:lstStyle/>
          <a:p>
            <a:endParaRPr lang="en-US"/>
          </a:p>
        </p:txBody>
      </p:sp>
      <p:sp>
        <p:nvSpPr>
          <p:cNvPr id="9" name="Text 7"/>
          <p:cNvSpPr/>
          <p:nvPr/>
        </p:nvSpPr>
        <p:spPr>
          <a:xfrm>
            <a:off x="939800" y="2527201"/>
            <a:ext cx="4572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17B8A6"/>
                </a:solidFill>
                <a:latin typeface="Nunito Sans" pitchFamily="34" charset="0"/>
                <a:ea typeface="Nunito Sans" pitchFamily="34" charset="-122"/>
                <a:cs typeface="Nunito Sans" pitchFamily="34" charset="-120"/>
              </a:rPr>
              <a:t>FR-2</a:t>
            </a:r>
            <a:endParaRPr lang="en-US" sz="1000"/>
          </a:p>
        </p:txBody>
      </p:sp>
      <p:sp>
        <p:nvSpPr>
          <p:cNvPr id="10" name="Text 8"/>
          <p:cNvSpPr/>
          <p:nvPr/>
        </p:nvSpPr>
        <p:spPr>
          <a:xfrm>
            <a:off x="1460500" y="2533551"/>
            <a:ext cx="3327224"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3A4160"/>
                </a:solidFill>
                <a:latin typeface="Nunito Sans" pitchFamily="34" charset="0"/>
                <a:ea typeface="Nunito Sans" pitchFamily="34" charset="-122"/>
                <a:cs typeface="Nunito Sans" pitchFamily="34" charset="-120"/>
              </a:rPr>
              <a:t>Edge reactive avoidance — classical, no LLM on this path</a:t>
            </a:r>
            <a:endParaRPr lang="en-US" sz="1000"/>
          </a:p>
        </p:txBody>
      </p:sp>
      <p:sp>
        <p:nvSpPr>
          <p:cNvPr id="11" name="Shape 9"/>
          <p:cNvSpPr/>
          <p:nvPr/>
        </p:nvSpPr>
        <p:spPr>
          <a:xfrm>
            <a:off x="812800" y="2870101"/>
            <a:ext cx="5194300" cy="381000"/>
          </a:xfrm>
          <a:prstGeom prst="roundRect">
            <a:avLst>
              <a:gd name="adj" fmla="val 23333"/>
            </a:avLst>
          </a:prstGeom>
          <a:solidFill>
            <a:srgbClr val="FFFFFF"/>
          </a:solidFill>
          <a:ln/>
        </p:spPr>
        <p:txBody>
          <a:bodyPr/>
          <a:lstStyle/>
          <a:p>
            <a:endParaRPr lang="en-US"/>
          </a:p>
        </p:txBody>
      </p:sp>
      <p:sp>
        <p:nvSpPr>
          <p:cNvPr id="12" name="Text 10"/>
          <p:cNvSpPr/>
          <p:nvPr/>
        </p:nvSpPr>
        <p:spPr>
          <a:xfrm>
            <a:off x="939800" y="2971701"/>
            <a:ext cx="4572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17B8A6"/>
                </a:solidFill>
                <a:latin typeface="Nunito Sans" pitchFamily="34" charset="0"/>
                <a:ea typeface="Nunito Sans" pitchFamily="34" charset="-122"/>
                <a:cs typeface="Nunito Sans" pitchFamily="34" charset="-120"/>
              </a:rPr>
              <a:t>FR-3</a:t>
            </a:r>
            <a:endParaRPr lang="en-US" sz="1000"/>
          </a:p>
        </p:txBody>
      </p:sp>
      <p:sp>
        <p:nvSpPr>
          <p:cNvPr id="13" name="Text 11"/>
          <p:cNvSpPr/>
          <p:nvPr/>
        </p:nvSpPr>
        <p:spPr>
          <a:xfrm>
            <a:off x="1460500" y="2978051"/>
            <a:ext cx="3101526"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3A4160"/>
                </a:solidFill>
                <a:latin typeface="Nunito Sans" pitchFamily="34" charset="0"/>
                <a:ea typeface="Nunito Sans" pitchFamily="34" charset="-122"/>
                <a:cs typeface="Nunito Sans" pitchFamily="34" charset="-120"/>
              </a:rPr>
              <a:t>Plan &amp; lease issue — route + schema-validated lease</a:t>
            </a:r>
            <a:endParaRPr lang="en-US" sz="1000"/>
          </a:p>
        </p:txBody>
      </p:sp>
      <p:sp>
        <p:nvSpPr>
          <p:cNvPr id="14" name="Shape 12"/>
          <p:cNvSpPr/>
          <p:nvPr/>
        </p:nvSpPr>
        <p:spPr>
          <a:xfrm>
            <a:off x="812800" y="3314601"/>
            <a:ext cx="5194300" cy="381000"/>
          </a:xfrm>
          <a:prstGeom prst="roundRect">
            <a:avLst>
              <a:gd name="adj" fmla="val 23333"/>
            </a:avLst>
          </a:prstGeom>
          <a:solidFill>
            <a:srgbClr val="FFFFFF"/>
          </a:solidFill>
          <a:ln/>
        </p:spPr>
        <p:txBody>
          <a:bodyPr/>
          <a:lstStyle/>
          <a:p>
            <a:endParaRPr lang="en-US"/>
          </a:p>
        </p:txBody>
      </p:sp>
      <p:sp>
        <p:nvSpPr>
          <p:cNvPr id="15" name="Text 13"/>
          <p:cNvSpPr/>
          <p:nvPr/>
        </p:nvSpPr>
        <p:spPr>
          <a:xfrm>
            <a:off x="939800" y="3416201"/>
            <a:ext cx="4572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17B8A6"/>
                </a:solidFill>
                <a:latin typeface="Nunito Sans" pitchFamily="34" charset="0"/>
                <a:ea typeface="Nunito Sans" pitchFamily="34" charset="-122"/>
                <a:cs typeface="Nunito Sans" pitchFamily="34" charset="-120"/>
              </a:rPr>
              <a:t>FR-4</a:t>
            </a:r>
            <a:endParaRPr lang="en-US" sz="1000"/>
          </a:p>
        </p:txBody>
      </p:sp>
      <p:sp>
        <p:nvSpPr>
          <p:cNvPr id="16" name="Text 14"/>
          <p:cNvSpPr/>
          <p:nvPr/>
        </p:nvSpPr>
        <p:spPr>
          <a:xfrm>
            <a:off x="1460500" y="3422551"/>
            <a:ext cx="2931728"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3A4160"/>
                </a:solidFill>
                <a:latin typeface="Nunito Sans" pitchFamily="34" charset="0"/>
                <a:ea typeface="Nunito Sans" pitchFamily="34" charset="-122"/>
                <a:cs typeface="Nunito Sans" pitchFamily="34" charset="-120"/>
              </a:rPr>
              <a:t>Prefetch-on-lease — map tiles ship with the lease</a:t>
            </a:r>
            <a:endParaRPr lang="en-US" sz="1000"/>
          </a:p>
        </p:txBody>
      </p:sp>
      <p:sp>
        <p:nvSpPr>
          <p:cNvPr id="17" name="Shape 15"/>
          <p:cNvSpPr/>
          <p:nvPr/>
        </p:nvSpPr>
        <p:spPr>
          <a:xfrm>
            <a:off x="812800" y="3759101"/>
            <a:ext cx="5194300" cy="381000"/>
          </a:xfrm>
          <a:prstGeom prst="roundRect">
            <a:avLst>
              <a:gd name="adj" fmla="val 23333"/>
            </a:avLst>
          </a:prstGeom>
          <a:solidFill>
            <a:srgbClr val="FFFFFF"/>
          </a:solidFill>
          <a:ln/>
        </p:spPr>
        <p:txBody>
          <a:bodyPr/>
          <a:lstStyle/>
          <a:p>
            <a:endParaRPr lang="en-US"/>
          </a:p>
        </p:txBody>
      </p:sp>
      <p:sp>
        <p:nvSpPr>
          <p:cNvPr id="18" name="Text 16"/>
          <p:cNvSpPr/>
          <p:nvPr/>
        </p:nvSpPr>
        <p:spPr>
          <a:xfrm>
            <a:off x="939800" y="3860701"/>
            <a:ext cx="4572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17B8A6"/>
                </a:solidFill>
                <a:latin typeface="Nunito Sans" pitchFamily="34" charset="0"/>
                <a:ea typeface="Nunito Sans" pitchFamily="34" charset="-122"/>
                <a:cs typeface="Nunito Sans" pitchFamily="34" charset="-120"/>
              </a:rPr>
              <a:t>FR-5</a:t>
            </a:r>
            <a:endParaRPr lang="en-US" sz="1000"/>
          </a:p>
        </p:txBody>
      </p:sp>
      <p:sp>
        <p:nvSpPr>
          <p:cNvPr id="19" name="Text 17"/>
          <p:cNvSpPr/>
          <p:nvPr/>
        </p:nvSpPr>
        <p:spPr>
          <a:xfrm>
            <a:off x="1460500" y="3867051"/>
            <a:ext cx="3490736"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3A4160"/>
                </a:solidFill>
                <a:latin typeface="Nunito Sans" pitchFamily="34" charset="0"/>
                <a:ea typeface="Nunito Sans" pitchFamily="34" charset="-122"/>
                <a:cs typeface="Nunito Sans" pitchFamily="34" charset="-120"/>
              </a:rPr>
              <a:t>Tactical SLM arbiter — ≤32-token schema-checked decision</a:t>
            </a:r>
            <a:endParaRPr lang="en-US" sz="1000"/>
          </a:p>
        </p:txBody>
      </p:sp>
      <p:sp>
        <p:nvSpPr>
          <p:cNvPr id="20" name="Shape 18"/>
          <p:cNvSpPr/>
          <p:nvPr/>
        </p:nvSpPr>
        <p:spPr>
          <a:xfrm>
            <a:off x="812800" y="4203601"/>
            <a:ext cx="5194300" cy="381000"/>
          </a:xfrm>
          <a:prstGeom prst="roundRect">
            <a:avLst>
              <a:gd name="adj" fmla="val 23333"/>
            </a:avLst>
          </a:prstGeom>
          <a:solidFill>
            <a:srgbClr val="FFFFFF"/>
          </a:solidFill>
          <a:ln/>
        </p:spPr>
        <p:txBody>
          <a:bodyPr/>
          <a:lstStyle/>
          <a:p>
            <a:endParaRPr lang="en-US"/>
          </a:p>
        </p:txBody>
      </p:sp>
      <p:sp>
        <p:nvSpPr>
          <p:cNvPr id="21" name="Text 19"/>
          <p:cNvSpPr/>
          <p:nvPr/>
        </p:nvSpPr>
        <p:spPr>
          <a:xfrm>
            <a:off x="939800" y="4305201"/>
            <a:ext cx="4572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17B8A6"/>
                </a:solidFill>
                <a:latin typeface="Nunito Sans" pitchFamily="34" charset="0"/>
                <a:ea typeface="Nunito Sans" pitchFamily="34" charset="-122"/>
                <a:cs typeface="Nunito Sans" pitchFamily="34" charset="-120"/>
              </a:rPr>
              <a:t>FR-6</a:t>
            </a:r>
            <a:endParaRPr lang="en-US" sz="1000"/>
          </a:p>
        </p:txBody>
      </p:sp>
      <p:sp>
        <p:nvSpPr>
          <p:cNvPr id="22" name="Text 20"/>
          <p:cNvSpPr/>
          <p:nvPr/>
        </p:nvSpPr>
        <p:spPr>
          <a:xfrm>
            <a:off x="1460500" y="4311551"/>
            <a:ext cx="2989826"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3A4160"/>
                </a:solidFill>
                <a:latin typeface="Nunito Sans" pitchFamily="34" charset="0"/>
                <a:ea typeface="Nunito Sans" pitchFamily="34" charset="-122"/>
                <a:cs typeface="Nunito Sans" pitchFamily="34" charset="-120"/>
              </a:rPr>
              <a:t>Escalation path — compact delta, never improvised</a:t>
            </a:r>
            <a:endParaRPr lang="en-US" sz="1000"/>
          </a:p>
        </p:txBody>
      </p:sp>
      <p:sp>
        <p:nvSpPr>
          <p:cNvPr id="23" name="Shape 21"/>
          <p:cNvSpPr/>
          <p:nvPr/>
        </p:nvSpPr>
        <p:spPr>
          <a:xfrm>
            <a:off x="812800" y="4648101"/>
            <a:ext cx="5194300" cy="381000"/>
          </a:xfrm>
          <a:prstGeom prst="roundRect">
            <a:avLst>
              <a:gd name="adj" fmla="val 23333"/>
            </a:avLst>
          </a:prstGeom>
          <a:solidFill>
            <a:srgbClr val="FFFFFF"/>
          </a:solidFill>
          <a:ln/>
        </p:spPr>
        <p:txBody>
          <a:bodyPr/>
          <a:lstStyle/>
          <a:p>
            <a:endParaRPr lang="en-US"/>
          </a:p>
        </p:txBody>
      </p:sp>
      <p:sp>
        <p:nvSpPr>
          <p:cNvPr id="24" name="Text 22"/>
          <p:cNvSpPr/>
          <p:nvPr/>
        </p:nvSpPr>
        <p:spPr>
          <a:xfrm>
            <a:off x="939800" y="4749701"/>
            <a:ext cx="4572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17B8A6"/>
                </a:solidFill>
                <a:latin typeface="Nunito Sans" pitchFamily="34" charset="0"/>
                <a:ea typeface="Nunito Sans" pitchFamily="34" charset="-122"/>
                <a:cs typeface="Nunito Sans" pitchFamily="34" charset="-120"/>
              </a:rPr>
              <a:t>FR-7</a:t>
            </a:r>
            <a:endParaRPr lang="en-US" sz="1000"/>
          </a:p>
        </p:txBody>
      </p:sp>
      <p:sp>
        <p:nvSpPr>
          <p:cNvPr id="25" name="Text 23"/>
          <p:cNvSpPr/>
          <p:nvPr/>
        </p:nvSpPr>
        <p:spPr>
          <a:xfrm>
            <a:off x="1460500" y="4756051"/>
            <a:ext cx="2798465"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3A4160"/>
                </a:solidFill>
                <a:latin typeface="Nunito Sans" pitchFamily="34" charset="0"/>
                <a:ea typeface="Nunito Sans" pitchFamily="34" charset="-122"/>
                <a:cs typeface="Nunito Sans" pitchFamily="34" charset="-120"/>
              </a:rPr>
              <a:t>Degradation ladder — lease age maps to L0–L3</a:t>
            </a:r>
            <a:endParaRPr lang="en-US" sz="1000"/>
          </a:p>
        </p:txBody>
      </p:sp>
      <p:sp>
        <p:nvSpPr>
          <p:cNvPr id="26" name="Text 24"/>
          <p:cNvSpPr/>
          <p:nvPr/>
        </p:nvSpPr>
        <p:spPr>
          <a:xfrm>
            <a:off x="6184900" y="1709341"/>
            <a:ext cx="5350129"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8B7CF6"/>
                </a:solidFill>
                <a:latin typeface="Nunito Sans" pitchFamily="34" charset="0"/>
                <a:ea typeface="Nunito Sans" pitchFamily="34" charset="-122"/>
                <a:cs typeface="Nunito Sans" pitchFamily="34" charset="-120"/>
              </a:rPr>
              <a:t>NON-FUNCTIONAL — MVP TARGETS</a:t>
            </a:r>
            <a:endParaRPr lang="en-US" sz="1100"/>
          </a:p>
        </p:txBody>
      </p:sp>
      <p:sp>
        <p:nvSpPr>
          <p:cNvPr id="27" name="Shape 25"/>
          <p:cNvSpPr/>
          <p:nvPr/>
        </p:nvSpPr>
        <p:spPr>
          <a:xfrm>
            <a:off x="6184900" y="1981101"/>
            <a:ext cx="5194300" cy="381000"/>
          </a:xfrm>
          <a:prstGeom prst="roundRect">
            <a:avLst>
              <a:gd name="adj" fmla="val 23333"/>
            </a:avLst>
          </a:prstGeom>
          <a:solidFill>
            <a:srgbClr val="14163B"/>
          </a:solidFill>
          <a:ln/>
        </p:spPr>
        <p:txBody>
          <a:bodyPr/>
          <a:lstStyle/>
          <a:p>
            <a:endParaRPr lang="en-US"/>
          </a:p>
        </p:txBody>
      </p:sp>
      <p:sp>
        <p:nvSpPr>
          <p:cNvPr id="28" name="Text 26"/>
          <p:cNvSpPr/>
          <p:nvPr/>
        </p:nvSpPr>
        <p:spPr>
          <a:xfrm>
            <a:off x="6311900" y="2082701"/>
            <a:ext cx="11938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≤100ms p99</a:t>
            </a:r>
            <a:endParaRPr lang="en-US" sz="1000"/>
          </a:p>
        </p:txBody>
      </p:sp>
      <p:sp>
        <p:nvSpPr>
          <p:cNvPr id="29" name="Text 27"/>
          <p:cNvSpPr/>
          <p:nvPr/>
        </p:nvSpPr>
        <p:spPr>
          <a:xfrm>
            <a:off x="7569200" y="2089051"/>
            <a:ext cx="2429642"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C7CBEA"/>
                </a:solidFill>
                <a:latin typeface="Nunito Sans" pitchFamily="34" charset="0"/>
                <a:ea typeface="Nunito Sans" pitchFamily="34" charset="-122"/>
                <a:cs typeface="Nunito Sans" pitchFamily="34" charset="-120"/>
              </a:rPr>
              <a:t>NFR-1 · breach to zero-velocity command</a:t>
            </a:r>
            <a:endParaRPr lang="en-US" sz="1000"/>
          </a:p>
        </p:txBody>
      </p:sp>
      <p:sp>
        <p:nvSpPr>
          <p:cNvPr id="30" name="Shape 28"/>
          <p:cNvSpPr/>
          <p:nvPr/>
        </p:nvSpPr>
        <p:spPr>
          <a:xfrm>
            <a:off x="6184900" y="2425601"/>
            <a:ext cx="5194300" cy="381000"/>
          </a:xfrm>
          <a:prstGeom prst="roundRect">
            <a:avLst>
              <a:gd name="adj" fmla="val 23333"/>
            </a:avLst>
          </a:prstGeom>
          <a:solidFill>
            <a:srgbClr val="14163B"/>
          </a:solidFill>
          <a:ln/>
        </p:spPr>
        <p:txBody>
          <a:bodyPr/>
          <a:lstStyle/>
          <a:p>
            <a:endParaRPr lang="en-US"/>
          </a:p>
        </p:txBody>
      </p:sp>
      <p:sp>
        <p:nvSpPr>
          <p:cNvPr id="31" name="Text 29"/>
          <p:cNvSpPr/>
          <p:nvPr/>
        </p:nvSpPr>
        <p:spPr>
          <a:xfrm>
            <a:off x="6311900" y="2527201"/>
            <a:ext cx="11938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≤200ms p95</a:t>
            </a:r>
            <a:endParaRPr lang="en-US" sz="1000"/>
          </a:p>
        </p:txBody>
      </p:sp>
      <p:sp>
        <p:nvSpPr>
          <p:cNvPr id="32" name="Text 30"/>
          <p:cNvSpPr/>
          <p:nvPr/>
        </p:nvSpPr>
        <p:spPr>
          <a:xfrm>
            <a:off x="7569200" y="2533551"/>
            <a:ext cx="2629536"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C7CBEA"/>
                </a:solidFill>
                <a:latin typeface="Nunito Sans" pitchFamily="34" charset="0"/>
                <a:ea typeface="Nunito Sans" pitchFamily="34" charset="-122"/>
                <a:cs typeface="Nunito Sans" pitchFamily="34" charset="-120"/>
              </a:rPr>
              <a:t>NFR-2 · perception frame to revised segment</a:t>
            </a:r>
            <a:endParaRPr lang="en-US" sz="1000"/>
          </a:p>
        </p:txBody>
      </p:sp>
      <p:sp>
        <p:nvSpPr>
          <p:cNvPr id="33" name="Shape 31"/>
          <p:cNvSpPr/>
          <p:nvPr/>
        </p:nvSpPr>
        <p:spPr>
          <a:xfrm>
            <a:off x="6184900" y="2870101"/>
            <a:ext cx="5194300" cy="381000"/>
          </a:xfrm>
          <a:prstGeom prst="roundRect">
            <a:avLst>
              <a:gd name="adj" fmla="val 23333"/>
            </a:avLst>
          </a:prstGeom>
          <a:solidFill>
            <a:srgbClr val="14163B"/>
          </a:solidFill>
          <a:ln/>
        </p:spPr>
        <p:txBody>
          <a:bodyPr/>
          <a:lstStyle/>
          <a:p>
            <a:endParaRPr lang="en-US"/>
          </a:p>
        </p:txBody>
      </p:sp>
      <p:sp>
        <p:nvSpPr>
          <p:cNvPr id="34" name="Text 32"/>
          <p:cNvSpPr/>
          <p:nvPr/>
        </p:nvSpPr>
        <p:spPr>
          <a:xfrm>
            <a:off x="6311900" y="2971701"/>
            <a:ext cx="11938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≤1.2s p95</a:t>
            </a:r>
            <a:endParaRPr lang="en-US" sz="1000"/>
          </a:p>
        </p:txBody>
      </p:sp>
      <p:sp>
        <p:nvSpPr>
          <p:cNvPr id="35" name="Text 33"/>
          <p:cNvSpPr/>
          <p:nvPr/>
        </p:nvSpPr>
        <p:spPr>
          <a:xfrm>
            <a:off x="7569200" y="2978051"/>
            <a:ext cx="2099858"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C7CBEA"/>
                </a:solidFill>
                <a:latin typeface="Nunito Sans" pitchFamily="34" charset="0"/>
                <a:ea typeface="Nunito Sans" pitchFamily="34" charset="-122"/>
                <a:cs typeface="Nunito Sans" pitchFamily="34" charset="-120"/>
              </a:rPr>
              <a:t>NFR-3 · SLM decision, 32-token cap</a:t>
            </a:r>
            <a:endParaRPr lang="en-US" sz="1000"/>
          </a:p>
        </p:txBody>
      </p:sp>
      <p:sp>
        <p:nvSpPr>
          <p:cNvPr id="36" name="Shape 34"/>
          <p:cNvSpPr/>
          <p:nvPr/>
        </p:nvSpPr>
        <p:spPr>
          <a:xfrm>
            <a:off x="6184900" y="3314601"/>
            <a:ext cx="5194300" cy="381000"/>
          </a:xfrm>
          <a:prstGeom prst="roundRect">
            <a:avLst>
              <a:gd name="adj" fmla="val 23333"/>
            </a:avLst>
          </a:prstGeom>
          <a:solidFill>
            <a:srgbClr val="14163B"/>
          </a:solidFill>
          <a:ln/>
        </p:spPr>
        <p:txBody>
          <a:bodyPr/>
          <a:lstStyle/>
          <a:p>
            <a:endParaRPr lang="en-US"/>
          </a:p>
        </p:txBody>
      </p:sp>
      <p:sp>
        <p:nvSpPr>
          <p:cNvPr id="37" name="Text 35"/>
          <p:cNvSpPr/>
          <p:nvPr/>
        </p:nvSpPr>
        <p:spPr>
          <a:xfrm>
            <a:off x="6311900" y="3416201"/>
            <a:ext cx="11938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≤8s p95</a:t>
            </a:r>
            <a:endParaRPr lang="en-US" sz="1000"/>
          </a:p>
        </p:txBody>
      </p:sp>
      <p:sp>
        <p:nvSpPr>
          <p:cNvPr id="38" name="Text 36"/>
          <p:cNvSpPr/>
          <p:nvPr/>
        </p:nvSpPr>
        <p:spPr>
          <a:xfrm>
            <a:off x="7569200" y="3422551"/>
            <a:ext cx="1853823"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C7CBEA"/>
                </a:solidFill>
                <a:latin typeface="Nunito Sans" pitchFamily="34" charset="0"/>
                <a:ea typeface="Nunito Sans" pitchFamily="34" charset="-122"/>
                <a:cs typeface="Nunito Sans" pitchFamily="34" charset="-120"/>
              </a:rPr>
              <a:t>NFR-4 · plan + lease committed</a:t>
            </a:r>
            <a:endParaRPr lang="en-US" sz="1000"/>
          </a:p>
        </p:txBody>
      </p:sp>
      <p:sp>
        <p:nvSpPr>
          <p:cNvPr id="39" name="Shape 37"/>
          <p:cNvSpPr/>
          <p:nvPr/>
        </p:nvSpPr>
        <p:spPr>
          <a:xfrm>
            <a:off x="6184900" y="3759101"/>
            <a:ext cx="5194300" cy="381000"/>
          </a:xfrm>
          <a:prstGeom prst="roundRect">
            <a:avLst>
              <a:gd name="adj" fmla="val 23333"/>
            </a:avLst>
          </a:prstGeom>
          <a:solidFill>
            <a:srgbClr val="14163B"/>
          </a:solidFill>
          <a:ln/>
        </p:spPr>
        <p:txBody>
          <a:bodyPr/>
          <a:lstStyle/>
          <a:p>
            <a:endParaRPr lang="en-US"/>
          </a:p>
        </p:txBody>
      </p:sp>
      <p:sp>
        <p:nvSpPr>
          <p:cNvPr id="40" name="Text 38"/>
          <p:cNvSpPr/>
          <p:nvPr/>
        </p:nvSpPr>
        <p:spPr>
          <a:xfrm>
            <a:off x="6311900" y="3860701"/>
            <a:ext cx="11938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≤400ms p95</a:t>
            </a:r>
            <a:endParaRPr lang="en-US" sz="1000"/>
          </a:p>
        </p:txBody>
      </p:sp>
      <p:sp>
        <p:nvSpPr>
          <p:cNvPr id="41" name="Text 39"/>
          <p:cNvSpPr/>
          <p:nvPr/>
        </p:nvSpPr>
        <p:spPr>
          <a:xfrm>
            <a:off x="7569200" y="3867051"/>
            <a:ext cx="2407773"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C7CBEA"/>
                </a:solidFill>
                <a:latin typeface="Nunito Sans" pitchFamily="34" charset="0"/>
                <a:ea typeface="Nunito Sans" pitchFamily="34" charset="-122"/>
                <a:cs typeface="Nunito Sans" pitchFamily="34" charset="-120"/>
              </a:rPr>
              <a:t>NFR-5 · lease renewal round trip, no LLM</a:t>
            </a:r>
            <a:endParaRPr lang="en-US" sz="1000"/>
          </a:p>
        </p:txBody>
      </p:sp>
      <p:sp>
        <p:nvSpPr>
          <p:cNvPr id="42" name="Shape 40"/>
          <p:cNvSpPr/>
          <p:nvPr/>
        </p:nvSpPr>
        <p:spPr>
          <a:xfrm>
            <a:off x="6184900" y="4203601"/>
            <a:ext cx="5194300" cy="381000"/>
          </a:xfrm>
          <a:prstGeom prst="roundRect">
            <a:avLst>
              <a:gd name="adj" fmla="val 23333"/>
            </a:avLst>
          </a:prstGeom>
          <a:solidFill>
            <a:srgbClr val="14163B"/>
          </a:solidFill>
          <a:ln/>
        </p:spPr>
        <p:txBody>
          <a:bodyPr/>
          <a:lstStyle/>
          <a:p>
            <a:endParaRPr lang="en-US"/>
          </a:p>
        </p:txBody>
      </p:sp>
      <p:sp>
        <p:nvSpPr>
          <p:cNvPr id="43" name="Text 41"/>
          <p:cNvSpPr/>
          <p:nvPr/>
        </p:nvSpPr>
        <p:spPr>
          <a:xfrm>
            <a:off x="6311900" y="4305201"/>
            <a:ext cx="11938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Zero collisions</a:t>
            </a:r>
            <a:endParaRPr lang="en-US" sz="1000"/>
          </a:p>
        </p:txBody>
      </p:sp>
      <p:sp>
        <p:nvSpPr>
          <p:cNvPr id="44" name="Text 42"/>
          <p:cNvSpPr/>
          <p:nvPr/>
        </p:nvSpPr>
        <p:spPr>
          <a:xfrm>
            <a:off x="7569200" y="4311551"/>
            <a:ext cx="2699949"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C7CBEA"/>
                </a:solidFill>
                <a:latin typeface="Nunito Sans" pitchFamily="34" charset="0"/>
                <a:ea typeface="Nunito Sans" pitchFamily="34" charset="-122"/>
                <a:cs typeface="Nunito Sans" pitchFamily="34" charset="-120"/>
              </a:rPr>
              <a:t>NFR-6 · across 50 injected instability episodes</a:t>
            </a:r>
            <a:endParaRPr lang="en-US" sz="1000"/>
          </a:p>
        </p:txBody>
      </p:sp>
      <p:sp>
        <p:nvSpPr>
          <p:cNvPr id="45" name="Shape 43"/>
          <p:cNvSpPr/>
          <p:nvPr/>
        </p:nvSpPr>
        <p:spPr>
          <a:xfrm>
            <a:off x="6184900" y="4648101"/>
            <a:ext cx="5194300" cy="381000"/>
          </a:xfrm>
          <a:prstGeom prst="roundRect">
            <a:avLst>
              <a:gd name="adj" fmla="val 23333"/>
            </a:avLst>
          </a:prstGeom>
          <a:solidFill>
            <a:srgbClr val="14163B"/>
          </a:solidFill>
          <a:ln/>
        </p:spPr>
        <p:txBody>
          <a:bodyPr/>
          <a:lstStyle/>
          <a:p>
            <a:endParaRPr lang="en-US"/>
          </a:p>
        </p:txBody>
      </p:sp>
      <p:sp>
        <p:nvSpPr>
          <p:cNvPr id="46" name="Text 44"/>
          <p:cNvSpPr/>
          <p:nvPr/>
        </p:nvSpPr>
        <p:spPr>
          <a:xfrm>
            <a:off x="6311900" y="4749701"/>
            <a:ext cx="1193800"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100% rejection</a:t>
            </a:r>
            <a:endParaRPr lang="en-US" sz="1000"/>
          </a:p>
        </p:txBody>
      </p:sp>
      <p:sp>
        <p:nvSpPr>
          <p:cNvPr id="47" name="Text 45"/>
          <p:cNvSpPr/>
          <p:nvPr/>
        </p:nvSpPr>
        <p:spPr>
          <a:xfrm>
            <a:off x="7569200" y="4756051"/>
            <a:ext cx="3168872" cy="190500"/>
          </a:xfrm>
          <a:prstGeom prst="rect">
            <a:avLst/>
          </a:prstGeom>
          <a:noFill/>
          <a:ln/>
        </p:spPr>
        <p:txBody>
          <a:bodyPr wrap="square" lIns="0" tIns="0" rIns="0" bIns="0" rtlCol="0" anchor="t">
            <a:normAutofit/>
          </a:bodyPr>
          <a:lstStyle/>
          <a:p>
            <a:pPr marL="0" indent="0" algn="l">
              <a:lnSpc>
                <a:spcPts val="1300"/>
              </a:lnSpc>
              <a:buNone/>
            </a:pPr>
            <a:r>
              <a:rPr lang="en-US" sz="1000">
                <a:solidFill>
                  <a:srgbClr val="C7CBEA"/>
                </a:solidFill>
                <a:latin typeface="Nunito Sans" pitchFamily="34" charset="0"/>
                <a:ea typeface="Nunito Sans" pitchFamily="34" charset="-122"/>
                <a:cs typeface="Nunito Sans" pitchFamily="34" charset="-120"/>
              </a:rPr>
              <a:t>NFR-7 · duplicated, reordered, stale-epoch commands</a:t>
            </a:r>
            <a:endParaRPr lang="en-US" sz="1000"/>
          </a:p>
        </p:txBody>
      </p:sp>
      <p:sp>
        <p:nvSpPr>
          <p:cNvPr id="48" name="Text 46"/>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49" name="Text 47"/>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09 / 17</a:t>
            </a:r>
            <a:endParaRPr lang="en-US"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14163B"/>
                </a:solidFill>
                <a:latin typeface="Rubik" pitchFamily="34" charset="0"/>
                <a:ea typeface="Rubik" pitchFamily="34" charset="-122"/>
                <a:cs typeface="Rubik" pitchFamily="34" charset="-120"/>
              </a:rPr>
              <a:t>Experiments and evidence</a:t>
            </a:r>
            <a:endParaRPr lang="en-US" sz="2800"/>
          </a:p>
        </p:txBody>
      </p:sp>
      <p:sp>
        <p:nvSpPr>
          <p:cNvPr id="3" name="Shape 1"/>
          <p:cNvSpPr/>
          <p:nvPr/>
        </p:nvSpPr>
        <p:spPr>
          <a:xfrm>
            <a:off x="812800" y="1432520"/>
            <a:ext cx="2546350" cy="2141240"/>
          </a:xfrm>
          <a:prstGeom prst="roundRect">
            <a:avLst>
              <a:gd name="adj" fmla="val 5338"/>
            </a:avLst>
          </a:prstGeom>
          <a:solidFill>
            <a:srgbClr val="FFFFFF"/>
          </a:solidFill>
          <a:ln/>
        </p:spPr>
        <p:txBody>
          <a:bodyPr/>
          <a:lstStyle/>
          <a:p>
            <a:endParaRPr lang="en-US"/>
          </a:p>
        </p:txBody>
      </p:sp>
      <p:sp>
        <p:nvSpPr>
          <p:cNvPr id="4" name="Text 2"/>
          <p:cNvSpPr/>
          <p:nvPr/>
        </p:nvSpPr>
        <p:spPr>
          <a:xfrm>
            <a:off x="1003300" y="1597620"/>
            <a:ext cx="2230311"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7B8A6"/>
                </a:solidFill>
                <a:latin typeface="Nunito Sans" pitchFamily="34" charset="0"/>
                <a:ea typeface="Nunito Sans" pitchFamily="34" charset="-122"/>
                <a:cs typeface="Nunito Sans" pitchFamily="34" charset="-120"/>
              </a:rPr>
              <a:t>E1 · Nominal campaign</a:t>
            </a:r>
            <a:endParaRPr lang="en-US" sz="1200"/>
          </a:p>
        </p:txBody>
      </p:sp>
      <p:sp>
        <p:nvSpPr>
          <p:cNvPr id="5" name="Text 3"/>
          <p:cNvSpPr/>
          <p:nvPr/>
        </p:nvSpPr>
        <p:spPr>
          <a:xfrm>
            <a:off x="1003300" y="1861741"/>
            <a:ext cx="2230311" cy="381000"/>
          </a:xfrm>
          <a:prstGeom prst="rect">
            <a:avLst/>
          </a:prstGeom>
          <a:noFill/>
          <a:ln/>
        </p:spPr>
        <p:txBody>
          <a:bodyPr wrap="square" lIns="0" tIns="0" rIns="0" bIns="0" rtlCol="0" anchor="t">
            <a:normAutofit/>
          </a:bodyPr>
          <a:lstStyle/>
          <a:p>
            <a:pPr marL="0" indent="0" algn="l">
              <a:lnSpc>
                <a:spcPts val="1400"/>
              </a:lnSpc>
              <a:buNone/>
            </a:pPr>
            <a:r>
              <a:rPr lang="en-US" sz="1000">
                <a:solidFill>
                  <a:srgbClr val="4A5170"/>
                </a:solidFill>
                <a:latin typeface="Nunito Sans" pitchFamily="34" charset="0"/>
                <a:ea typeface="Nunito Sans" pitchFamily="34" charset="-122"/>
                <a:cs typeface="Nunito Sans" pitchFamily="34" charset="-120"/>
              </a:rPr>
              <a:t>Success, latency and cost across all configs and link profiles</a:t>
            </a:r>
            <a:endParaRPr lang="en-US" sz="1000"/>
          </a:p>
        </p:txBody>
      </p:sp>
      <p:sp>
        <p:nvSpPr>
          <p:cNvPr id="6" name="Shape 4"/>
          <p:cNvSpPr/>
          <p:nvPr/>
        </p:nvSpPr>
        <p:spPr>
          <a:xfrm>
            <a:off x="3486150" y="1432520"/>
            <a:ext cx="2546350" cy="2141240"/>
          </a:xfrm>
          <a:prstGeom prst="roundRect">
            <a:avLst>
              <a:gd name="adj" fmla="val 5338"/>
            </a:avLst>
          </a:prstGeom>
          <a:solidFill>
            <a:srgbClr val="FFFFFF"/>
          </a:solidFill>
          <a:ln/>
        </p:spPr>
        <p:txBody>
          <a:bodyPr/>
          <a:lstStyle/>
          <a:p>
            <a:endParaRPr lang="en-US"/>
          </a:p>
        </p:txBody>
      </p:sp>
      <p:sp>
        <p:nvSpPr>
          <p:cNvPr id="7" name="Text 5"/>
          <p:cNvSpPr/>
          <p:nvPr/>
        </p:nvSpPr>
        <p:spPr>
          <a:xfrm>
            <a:off x="3676650" y="1597620"/>
            <a:ext cx="2230311"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7B8A6"/>
                </a:solidFill>
                <a:latin typeface="Nunito Sans" pitchFamily="34" charset="0"/>
                <a:ea typeface="Nunito Sans" pitchFamily="34" charset="-122"/>
                <a:cs typeface="Nunito Sans" pitchFamily="34" charset="-120"/>
              </a:rPr>
              <a:t>E2 · Dynamic obstacles</a:t>
            </a:r>
            <a:endParaRPr lang="en-US" sz="1200"/>
          </a:p>
        </p:txBody>
      </p:sp>
      <p:sp>
        <p:nvSpPr>
          <p:cNvPr id="8" name="Text 6"/>
          <p:cNvSpPr/>
          <p:nvPr/>
        </p:nvSpPr>
        <p:spPr>
          <a:xfrm>
            <a:off x="3676650" y="1861741"/>
            <a:ext cx="2230311" cy="381000"/>
          </a:xfrm>
          <a:prstGeom prst="rect">
            <a:avLst/>
          </a:prstGeom>
          <a:noFill/>
          <a:ln/>
        </p:spPr>
        <p:txBody>
          <a:bodyPr wrap="square" lIns="0" tIns="0" rIns="0" bIns="0" rtlCol="0" anchor="t">
            <a:normAutofit/>
          </a:bodyPr>
          <a:lstStyle/>
          <a:p>
            <a:pPr marL="0" indent="0" algn="l">
              <a:lnSpc>
                <a:spcPts val="1400"/>
              </a:lnSpc>
              <a:buNone/>
            </a:pPr>
            <a:r>
              <a:rPr lang="en-US" sz="1000">
                <a:solidFill>
                  <a:srgbClr val="4A5170"/>
                </a:solidFill>
                <a:latin typeface="Nunito Sans" pitchFamily="34" charset="0"/>
                <a:ea typeface="Nunito Sans" pitchFamily="34" charset="-122"/>
                <a:cs typeface="Nunito Sans" pitchFamily="34" charset="-120"/>
              </a:rPr>
              <a:t>Isolates what the tactical band adds over classical avoidance</a:t>
            </a:r>
            <a:endParaRPr lang="en-US" sz="1000"/>
          </a:p>
        </p:txBody>
      </p:sp>
      <p:sp>
        <p:nvSpPr>
          <p:cNvPr id="9" name="Shape 7"/>
          <p:cNvSpPr/>
          <p:nvPr/>
        </p:nvSpPr>
        <p:spPr>
          <a:xfrm>
            <a:off x="6159500" y="1432520"/>
            <a:ext cx="2546350" cy="2141240"/>
          </a:xfrm>
          <a:prstGeom prst="roundRect">
            <a:avLst>
              <a:gd name="adj" fmla="val 5338"/>
            </a:avLst>
          </a:prstGeom>
          <a:solidFill>
            <a:srgbClr val="FFFFFF"/>
          </a:solidFill>
          <a:ln/>
        </p:spPr>
        <p:txBody>
          <a:bodyPr/>
          <a:lstStyle/>
          <a:p>
            <a:endParaRPr lang="en-US"/>
          </a:p>
        </p:txBody>
      </p:sp>
      <p:sp>
        <p:nvSpPr>
          <p:cNvPr id="10" name="Text 8"/>
          <p:cNvSpPr/>
          <p:nvPr/>
        </p:nvSpPr>
        <p:spPr>
          <a:xfrm>
            <a:off x="6350000" y="1597620"/>
            <a:ext cx="2230311"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7B8A6"/>
                </a:solidFill>
                <a:latin typeface="Nunito Sans" pitchFamily="34" charset="0"/>
                <a:ea typeface="Nunito Sans" pitchFamily="34" charset="-122"/>
                <a:cs typeface="Nunito Sans" pitchFamily="34" charset="-120"/>
              </a:rPr>
              <a:t>E3 · Degraded-link sweep</a:t>
            </a:r>
            <a:endParaRPr lang="en-US" sz="1200"/>
          </a:p>
        </p:txBody>
      </p:sp>
      <p:sp>
        <p:nvSpPr>
          <p:cNvPr id="11" name="Text 9"/>
          <p:cNvSpPr/>
          <p:nvPr/>
        </p:nvSpPr>
        <p:spPr>
          <a:xfrm>
            <a:off x="6350000" y="1861741"/>
            <a:ext cx="2230311" cy="381000"/>
          </a:xfrm>
          <a:prstGeom prst="rect">
            <a:avLst/>
          </a:prstGeom>
          <a:noFill/>
          <a:ln/>
        </p:spPr>
        <p:txBody>
          <a:bodyPr wrap="square" lIns="0" tIns="0" rIns="0" bIns="0" rtlCol="0" anchor="t">
            <a:normAutofit/>
          </a:bodyPr>
          <a:lstStyle/>
          <a:p>
            <a:pPr marL="0" indent="0" algn="l">
              <a:lnSpc>
                <a:spcPts val="1400"/>
              </a:lnSpc>
              <a:buNone/>
            </a:pPr>
            <a:r>
              <a:rPr lang="en-US" sz="1000">
                <a:solidFill>
                  <a:srgbClr val="4A5170"/>
                </a:solidFill>
                <a:latin typeface="Nunito Sans" pitchFamily="34" charset="0"/>
                <a:ea typeface="Nunito Sans" pitchFamily="34" charset="-122"/>
                <a:cs typeface="Nunito Sans" pitchFamily="34" charset="-120"/>
              </a:rPr>
              <a:t>Configs under P1/P2, plus the lease-context ablation</a:t>
            </a:r>
            <a:endParaRPr lang="en-US" sz="1000"/>
          </a:p>
        </p:txBody>
      </p:sp>
      <p:sp>
        <p:nvSpPr>
          <p:cNvPr id="12" name="Shape 10"/>
          <p:cNvSpPr/>
          <p:nvPr/>
        </p:nvSpPr>
        <p:spPr>
          <a:xfrm>
            <a:off x="8832850" y="1432520"/>
            <a:ext cx="2546350" cy="2141240"/>
          </a:xfrm>
          <a:prstGeom prst="roundRect">
            <a:avLst>
              <a:gd name="adj" fmla="val 5338"/>
            </a:avLst>
          </a:prstGeom>
          <a:solidFill>
            <a:srgbClr val="FFFFFF"/>
          </a:solidFill>
          <a:ln/>
        </p:spPr>
        <p:txBody>
          <a:bodyPr/>
          <a:lstStyle/>
          <a:p>
            <a:endParaRPr lang="en-US"/>
          </a:p>
        </p:txBody>
      </p:sp>
      <p:sp>
        <p:nvSpPr>
          <p:cNvPr id="13" name="Text 11"/>
          <p:cNvSpPr/>
          <p:nvPr/>
        </p:nvSpPr>
        <p:spPr>
          <a:xfrm>
            <a:off x="9023350" y="1597620"/>
            <a:ext cx="2230311"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17B8A6"/>
                </a:solidFill>
                <a:latin typeface="Nunito Sans" pitchFamily="34" charset="0"/>
                <a:ea typeface="Nunito Sans" pitchFamily="34" charset="-122"/>
                <a:cs typeface="Nunito Sans" pitchFamily="34" charset="-120"/>
              </a:rPr>
              <a:t>E4 · Instability &amp; recovery</a:t>
            </a:r>
            <a:endParaRPr lang="en-US" sz="1200"/>
          </a:p>
        </p:txBody>
      </p:sp>
      <p:sp>
        <p:nvSpPr>
          <p:cNvPr id="14" name="Text 12"/>
          <p:cNvSpPr/>
          <p:nvPr/>
        </p:nvSpPr>
        <p:spPr>
          <a:xfrm>
            <a:off x="9023350" y="1861741"/>
            <a:ext cx="2230311" cy="381000"/>
          </a:xfrm>
          <a:prstGeom prst="rect">
            <a:avLst/>
          </a:prstGeom>
          <a:noFill/>
          <a:ln/>
        </p:spPr>
        <p:txBody>
          <a:bodyPr wrap="square" lIns="0" tIns="0" rIns="0" bIns="0" rtlCol="0" anchor="t">
            <a:normAutofit/>
          </a:bodyPr>
          <a:lstStyle/>
          <a:p>
            <a:pPr marL="0" indent="0" algn="l">
              <a:lnSpc>
                <a:spcPts val="1400"/>
              </a:lnSpc>
              <a:buNone/>
            </a:pPr>
            <a:r>
              <a:rPr lang="en-US" sz="1000">
                <a:solidFill>
                  <a:srgbClr val="4A5170"/>
                </a:solidFill>
                <a:latin typeface="Nunito Sans" pitchFamily="34" charset="0"/>
                <a:ea typeface="Nunito Sans" pitchFamily="34" charset="-122"/>
                <a:cs typeface="Nunito Sans" pitchFamily="34" charset="-120"/>
              </a:rPr>
              <a:t>Ladder transitions, collisions, RPO and RTO under P3/P4</a:t>
            </a:r>
            <a:endParaRPr lang="en-US" sz="1000"/>
          </a:p>
        </p:txBody>
      </p:sp>
      <p:sp>
        <p:nvSpPr>
          <p:cNvPr id="15" name="Shape 13"/>
          <p:cNvSpPr/>
          <p:nvPr/>
        </p:nvSpPr>
        <p:spPr>
          <a:xfrm>
            <a:off x="812800" y="3700760"/>
            <a:ext cx="2546350" cy="2141240"/>
          </a:xfrm>
          <a:prstGeom prst="roundRect">
            <a:avLst>
              <a:gd name="adj" fmla="val 5338"/>
            </a:avLst>
          </a:prstGeom>
          <a:solidFill>
            <a:srgbClr val="14163B"/>
          </a:solidFill>
          <a:ln/>
        </p:spPr>
        <p:txBody>
          <a:bodyPr/>
          <a:lstStyle/>
          <a:p>
            <a:endParaRPr lang="en-US"/>
          </a:p>
        </p:txBody>
      </p:sp>
      <p:sp>
        <p:nvSpPr>
          <p:cNvPr id="16" name="Text 14"/>
          <p:cNvSpPr/>
          <p:nvPr/>
        </p:nvSpPr>
        <p:spPr>
          <a:xfrm>
            <a:off x="1003300" y="3865860"/>
            <a:ext cx="2230311"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EEBD9"/>
                </a:solidFill>
                <a:latin typeface="Nunito Sans" pitchFamily="34" charset="0"/>
                <a:ea typeface="Nunito Sans" pitchFamily="34" charset="-122"/>
                <a:cs typeface="Nunito Sans" pitchFamily="34" charset="-120"/>
              </a:rPr>
              <a:t>E5 · Idempotency</a:t>
            </a:r>
            <a:endParaRPr lang="en-US" sz="1200"/>
          </a:p>
        </p:txBody>
      </p:sp>
      <p:sp>
        <p:nvSpPr>
          <p:cNvPr id="17" name="Text 15"/>
          <p:cNvSpPr/>
          <p:nvPr/>
        </p:nvSpPr>
        <p:spPr>
          <a:xfrm>
            <a:off x="1003300" y="4129980"/>
            <a:ext cx="2230311" cy="381000"/>
          </a:xfrm>
          <a:prstGeom prst="rect">
            <a:avLst/>
          </a:prstGeom>
          <a:noFill/>
          <a:ln/>
        </p:spPr>
        <p:txBody>
          <a:bodyPr wrap="square" lIns="0" tIns="0" rIns="0" bIns="0" rtlCol="0" anchor="t">
            <a:normAutofit/>
          </a:bodyPr>
          <a:lstStyle/>
          <a:p>
            <a:pPr marL="0" indent="0" algn="l">
              <a:lnSpc>
                <a:spcPts val="1400"/>
              </a:lnSpc>
              <a:buNone/>
            </a:pPr>
            <a:r>
              <a:rPr lang="en-US" sz="1000">
                <a:solidFill>
                  <a:srgbClr val="C7CBEA"/>
                </a:solidFill>
                <a:latin typeface="Nunito Sans" pitchFamily="34" charset="0"/>
                <a:ea typeface="Nunito Sans" pitchFamily="34" charset="-122"/>
                <a:cs typeface="Nunito Sans" pitchFamily="34" charset="-120"/>
              </a:rPr>
              <a:t>500-message replay with duplication, reorder and epoch rollback</a:t>
            </a:r>
            <a:endParaRPr lang="en-US" sz="1000"/>
          </a:p>
        </p:txBody>
      </p:sp>
      <p:sp>
        <p:nvSpPr>
          <p:cNvPr id="18" name="Shape 16"/>
          <p:cNvSpPr/>
          <p:nvPr/>
        </p:nvSpPr>
        <p:spPr>
          <a:xfrm>
            <a:off x="3486150" y="3700760"/>
            <a:ext cx="2546350" cy="2141240"/>
          </a:xfrm>
          <a:prstGeom prst="roundRect">
            <a:avLst>
              <a:gd name="adj" fmla="val 5338"/>
            </a:avLst>
          </a:prstGeom>
          <a:solidFill>
            <a:srgbClr val="14163B"/>
          </a:solidFill>
          <a:ln/>
        </p:spPr>
        <p:txBody>
          <a:bodyPr/>
          <a:lstStyle/>
          <a:p>
            <a:endParaRPr lang="en-US"/>
          </a:p>
        </p:txBody>
      </p:sp>
      <p:sp>
        <p:nvSpPr>
          <p:cNvPr id="19" name="Text 17"/>
          <p:cNvSpPr/>
          <p:nvPr/>
        </p:nvSpPr>
        <p:spPr>
          <a:xfrm>
            <a:off x="3676650" y="3865860"/>
            <a:ext cx="2230311"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EEBD9"/>
                </a:solidFill>
                <a:latin typeface="Nunito Sans" pitchFamily="34" charset="0"/>
                <a:ea typeface="Nunito Sans" pitchFamily="34" charset="-122"/>
                <a:cs typeface="Nunito Sans" pitchFamily="34" charset="-120"/>
              </a:rPr>
              <a:t>E6 · Safety floor</a:t>
            </a:r>
            <a:endParaRPr lang="en-US" sz="1200"/>
          </a:p>
        </p:txBody>
      </p:sp>
      <p:sp>
        <p:nvSpPr>
          <p:cNvPr id="20" name="Text 18"/>
          <p:cNvSpPr/>
          <p:nvPr/>
        </p:nvSpPr>
        <p:spPr>
          <a:xfrm>
            <a:off x="3676650" y="4129980"/>
            <a:ext cx="2230311" cy="558800"/>
          </a:xfrm>
          <a:prstGeom prst="rect">
            <a:avLst/>
          </a:prstGeom>
          <a:noFill/>
          <a:ln/>
        </p:spPr>
        <p:txBody>
          <a:bodyPr wrap="square" lIns="0" tIns="0" rIns="0" bIns="0" rtlCol="0" anchor="t">
            <a:normAutofit/>
          </a:bodyPr>
          <a:lstStyle/>
          <a:p>
            <a:pPr marL="0" indent="0" algn="l">
              <a:lnSpc>
                <a:spcPts val="1400"/>
              </a:lnSpc>
              <a:buNone/>
            </a:pPr>
            <a:r>
              <a:rPr lang="en-US" sz="1000">
                <a:solidFill>
                  <a:srgbClr val="C7CBEA"/>
                </a:solidFill>
                <a:latin typeface="Nunito Sans" pitchFamily="34" charset="0"/>
                <a:ea typeface="Nunito Sans" pitchFamily="34" charset="-122"/>
                <a:cs typeface="Nunito Sans" pitchFamily="34" charset="-120"/>
              </a:rPr>
              <a:t>Reflex cutoff latency, sim and hardware, edge and cloud black-holed</a:t>
            </a:r>
            <a:endParaRPr lang="en-US" sz="1000"/>
          </a:p>
        </p:txBody>
      </p:sp>
      <p:sp>
        <p:nvSpPr>
          <p:cNvPr id="21" name="Shape 19"/>
          <p:cNvSpPr/>
          <p:nvPr/>
        </p:nvSpPr>
        <p:spPr>
          <a:xfrm>
            <a:off x="6159500" y="3700760"/>
            <a:ext cx="2546350" cy="2141240"/>
          </a:xfrm>
          <a:prstGeom prst="roundRect">
            <a:avLst>
              <a:gd name="adj" fmla="val 5338"/>
            </a:avLst>
          </a:prstGeom>
          <a:solidFill>
            <a:srgbClr val="14163B"/>
          </a:solidFill>
          <a:ln/>
        </p:spPr>
        <p:txBody>
          <a:bodyPr/>
          <a:lstStyle/>
          <a:p>
            <a:endParaRPr lang="en-US"/>
          </a:p>
        </p:txBody>
      </p:sp>
      <p:sp>
        <p:nvSpPr>
          <p:cNvPr id="22" name="Text 20"/>
          <p:cNvSpPr/>
          <p:nvPr/>
        </p:nvSpPr>
        <p:spPr>
          <a:xfrm>
            <a:off x="6350000" y="3865860"/>
            <a:ext cx="2230311"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EEBD9"/>
                </a:solidFill>
                <a:latin typeface="Nunito Sans" pitchFamily="34" charset="0"/>
                <a:ea typeface="Nunito Sans" pitchFamily="34" charset="-122"/>
                <a:cs typeface="Nunito Sans" pitchFamily="34" charset="-120"/>
              </a:rPr>
              <a:t>E7 · Elasticity</a:t>
            </a:r>
            <a:endParaRPr lang="en-US" sz="1200"/>
          </a:p>
        </p:txBody>
      </p:sp>
      <p:sp>
        <p:nvSpPr>
          <p:cNvPr id="23" name="Text 21"/>
          <p:cNvSpPr/>
          <p:nvPr/>
        </p:nvSpPr>
        <p:spPr>
          <a:xfrm>
            <a:off x="6350000" y="4129980"/>
            <a:ext cx="2230311" cy="381000"/>
          </a:xfrm>
          <a:prstGeom prst="rect">
            <a:avLst/>
          </a:prstGeom>
          <a:noFill/>
          <a:ln/>
        </p:spPr>
        <p:txBody>
          <a:bodyPr wrap="square" lIns="0" tIns="0" rIns="0" bIns="0" rtlCol="0" anchor="t">
            <a:normAutofit/>
          </a:bodyPr>
          <a:lstStyle/>
          <a:p>
            <a:pPr marL="0" indent="0" algn="l">
              <a:lnSpc>
                <a:spcPts val="1400"/>
              </a:lnSpc>
              <a:buNone/>
            </a:pPr>
            <a:r>
              <a:rPr lang="en-US" sz="1000">
                <a:solidFill>
                  <a:srgbClr val="C7CBEA"/>
                </a:solidFill>
                <a:latin typeface="Nunito Sans" pitchFamily="34" charset="0"/>
                <a:ea typeface="Nunito Sans" pitchFamily="34" charset="-122"/>
                <a:cs typeface="Nunito Sans" pitchFamily="34" charset="-120"/>
              </a:rPr>
              <a:t>Synthetic fleet at 1, 10, 25 robots loads the cloud tier</a:t>
            </a:r>
            <a:endParaRPr lang="en-US" sz="1000"/>
          </a:p>
        </p:txBody>
      </p:sp>
      <p:sp>
        <p:nvSpPr>
          <p:cNvPr id="24" name="Shape 22"/>
          <p:cNvSpPr/>
          <p:nvPr/>
        </p:nvSpPr>
        <p:spPr>
          <a:xfrm>
            <a:off x="8832850" y="3700760"/>
            <a:ext cx="2546350" cy="2141240"/>
          </a:xfrm>
          <a:prstGeom prst="roundRect">
            <a:avLst>
              <a:gd name="adj" fmla="val 5338"/>
            </a:avLst>
          </a:prstGeom>
          <a:solidFill>
            <a:srgbClr val="14163B"/>
          </a:solidFill>
          <a:ln/>
        </p:spPr>
        <p:txBody>
          <a:bodyPr/>
          <a:lstStyle/>
          <a:p>
            <a:endParaRPr lang="en-US"/>
          </a:p>
        </p:txBody>
      </p:sp>
      <p:sp>
        <p:nvSpPr>
          <p:cNvPr id="25" name="Text 23"/>
          <p:cNvSpPr/>
          <p:nvPr/>
        </p:nvSpPr>
        <p:spPr>
          <a:xfrm>
            <a:off x="9023350" y="3865860"/>
            <a:ext cx="2230311"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5EEBD9"/>
                </a:solidFill>
                <a:latin typeface="Nunito Sans" pitchFamily="34" charset="0"/>
                <a:ea typeface="Nunito Sans" pitchFamily="34" charset="-122"/>
                <a:cs typeface="Nunito Sans" pitchFamily="34" charset="-120"/>
              </a:rPr>
              <a:t>E8 · Red team</a:t>
            </a:r>
            <a:endParaRPr lang="en-US" sz="1200"/>
          </a:p>
        </p:txBody>
      </p:sp>
      <p:sp>
        <p:nvSpPr>
          <p:cNvPr id="26" name="Text 24"/>
          <p:cNvSpPr/>
          <p:nvPr/>
        </p:nvSpPr>
        <p:spPr>
          <a:xfrm>
            <a:off x="9023350" y="4129980"/>
            <a:ext cx="2230311" cy="558800"/>
          </a:xfrm>
          <a:prstGeom prst="rect">
            <a:avLst/>
          </a:prstGeom>
          <a:noFill/>
          <a:ln/>
        </p:spPr>
        <p:txBody>
          <a:bodyPr wrap="square" lIns="0" tIns="0" rIns="0" bIns="0" rtlCol="0" anchor="t">
            <a:normAutofit/>
          </a:bodyPr>
          <a:lstStyle/>
          <a:p>
            <a:pPr marL="0" indent="0" algn="l">
              <a:lnSpc>
                <a:spcPts val="1400"/>
              </a:lnSpc>
              <a:buNone/>
            </a:pPr>
            <a:r>
              <a:rPr lang="en-US" sz="1000">
                <a:solidFill>
                  <a:srgbClr val="C7CBEA"/>
                </a:solidFill>
                <a:latin typeface="Nunito Sans" pitchFamily="34" charset="0"/>
                <a:ea typeface="Nunito Sans" pitchFamily="34" charset="-122"/>
                <a:cs typeface="Nunito Sans" pitchFamily="34" charset="-120"/>
              </a:rPr>
              <a:t>20 adversarial scenes; prompt-injection and forged-marker resistance</a:t>
            </a:r>
            <a:endParaRPr lang="en-US" sz="1000"/>
          </a:p>
        </p:txBody>
      </p:sp>
      <p:sp>
        <p:nvSpPr>
          <p:cNvPr id="27" name="Text 25"/>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28" name="Text 26"/>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10 / 17</a:t>
            </a:r>
            <a:endParaRPr 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17B8A6"/>
                </a:solidFill>
                <a:latin typeface="Nunito Sans" pitchFamily="34" charset="0"/>
                <a:ea typeface="Nunito Sans" pitchFamily="34" charset="-122"/>
                <a:cs typeface="Nunito Sans" pitchFamily="34" charset="-120"/>
              </a:rPr>
              <a:t>WITHIN CURRENT SCOPE</a:t>
            </a:r>
            <a:endParaRPr lang="en-US" sz="1100"/>
          </a:p>
        </p:txBody>
      </p:sp>
      <p:sp>
        <p:nvSpPr>
          <p:cNvPr id="3" name="Text 1"/>
          <p:cNvSpPr/>
          <p:nvPr/>
        </p:nvSpPr>
        <p:spPr>
          <a:xfrm>
            <a:off x="812800" y="109726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14163B"/>
                </a:solidFill>
                <a:latin typeface="Rubik" pitchFamily="34" charset="0"/>
                <a:ea typeface="Rubik" pitchFamily="34" charset="-122"/>
                <a:cs typeface="Rubik" pitchFamily="34" charset="-120"/>
              </a:rPr>
              <a:t>Nimbus in action: a sample errand</a:t>
            </a:r>
            <a:endParaRPr lang="en-US" sz="2800"/>
          </a:p>
        </p:txBody>
      </p:sp>
      <p:sp>
        <p:nvSpPr>
          <p:cNvPr id="4" name="Shape 2"/>
          <p:cNvSpPr/>
          <p:nvPr/>
        </p:nvSpPr>
        <p:spPr>
          <a:xfrm>
            <a:off x="812800" y="1716980"/>
            <a:ext cx="10566400" cy="721320"/>
          </a:xfrm>
          <a:prstGeom prst="roundRect">
            <a:avLst>
              <a:gd name="adj" fmla="val 17607"/>
            </a:avLst>
          </a:prstGeom>
          <a:solidFill>
            <a:srgbClr val="14163B"/>
          </a:solidFill>
          <a:ln/>
        </p:spPr>
        <p:txBody>
          <a:bodyPr/>
          <a:lstStyle/>
          <a:p>
            <a:endParaRPr lang="en-US"/>
          </a:p>
        </p:txBody>
      </p:sp>
      <p:sp>
        <p:nvSpPr>
          <p:cNvPr id="5" name="Text 3"/>
          <p:cNvSpPr/>
          <p:nvPr/>
        </p:nvSpPr>
        <p:spPr>
          <a:xfrm>
            <a:off x="1016000" y="1979861"/>
            <a:ext cx="737046" cy="220960"/>
          </a:xfrm>
          <a:prstGeom prst="rect">
            <a:avLst/>
          </a:prstGeom>
          <a:noFill/>
          <a:ln/>
        </p:spPr>
        <p:txBody>
          <a:bodyPr wrap="square" lIns="0" tIns="0" rIns="0" bIns="0" rtlCol="0" anchor="t">
            <a:normAutofit/>
          </a:bodyPr>
          <a:lstStyle/>
          <a:p>
            <a:pPr marL="0" indent="0" algn="l">
              <a:lnSpc>
                <a:spcPts val="1540"/>
              </a:lnSpc>
              <a:buNone/>
            </a:pPr>
            <a:r>
              <a:rPr lang="en-US" sz="1100" b="1">
                <a:solidFill>
                  <a:srgbClr val="9CA1C9"/>
                </a:solidFill>
                <a:latin typeface="Nunito Sans" pitchFamily="34" charset="0"/>
                <a:ea typeface="Nunito Sans" pitchFamily="34" charset="-122"/>
                <a:cs typeface="Nunito Sans" pitchFamily="34" charset="-120"/>
              </a:rPr>
              <a:t>In the app:</a:t>
            </a:r>
            <a:endParaRPr lang="en-US" sz="1100"/>
          </a:p>
        </p:txBody>
      </p:sp>
      <p:sp>
        <p:nvSpPr>
          <p:cNvPr id="6" name="Shape 4"/>
          <p:cNvSpPr/>
          <p:nvPr/>
        </p:nvSpPr>
        <p:spPr>
          <a:xfrm>
            <a:off x="1829246" y="1882080"/>
            <a:ext cx="1154509" cy="391120"/>
          </a:xfrm>
          <a:prstGeom prst="roundRect">
            <a:avLst>
              <a:gd name="adj" fmla="val 50000"/>
            </a:avLst>
          </a:prstGeom>
          <a:solidFill>
            <a:srgbClr val="FFFFFF">
              <a:alpha val="8000"/>
            </a:srgbClr>
          </a:solidFill>
          <a:ln/>
        </p:spPr>
        <p:txBody>
          <a:bodyPr/>
          <a:lstStyle/>
          <a:p>
            <a:endParaRPr lang="en-US"/>
          </a:p>
        </p:txBody>
      </p:sp>
      <p:pic>
        <p:nvPicPr>
          <p:cNvPr id="7" name="Image 0" descr="Home"/>
          <p:cNvPicPr>
            <a:picLocks noChangeAspect="1"/>
          </p:cNvPicPr>
          <p:nvPr/>
        </p:nvPicPr>
        <p:blipFill>
          <a:blip r:embed="rId3"/>
          <a:srcRect/>
          <a:stretch/>
        </p:blipFill>
        <p:spPr>
          <a:xfrm>
            <a:off x="1994346" y="1995091"/>
            <a:ext cx="165100" cy="165100"/>
          </a:xfrm>
          <a:prstGeom prst="rect">
            <a:avLst/>
          </a:prstGeom>
        </p:spPr>
      </p:pic>
      <p:sp>
        <p:nvSpPr>
          <p:cNvPr id="8" name="Text 5"/>
          <p:cNvSpPr/>
          <p:nvPr/>
        </p:nvSpPr>
        <p:spPr>
          <a:xfrm>
            <a:off x="2248346" y="1970980"/>
            <a:ext cx="621109"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FBFBF8"/>
                </a:solidFill>
                <a:latin typeface="Nunito Sans" pitchFamily="34" charset="0"/>
                <a:ea typeface="Nunito Sans" pitchFamily="34" charset="-122"/>
                <a:cs typeface="Nunito Sans" pitchFamily="34" charset="-120"/>
              </a:rPr>
              <a:t>Bench 2</a:t>
            </a:r>
            <a:endParaRPr lang="en-US" sz="1200"/>
          </a:p>
        </p:txBody>
      </p:sp>
      <p:pic>
        <p:nvPicPr>
          <p:cNvPr id="9" name="Image 1" descr="Lightning"/>
          <p:cNvPicPr>
            <a:picLocks noChangeAspect="1"/>
          </p:cNvPicPr>
          <p:nvPr/>
        </p:nvPicPr>
        <p:blipFill>
          <a:blip r:embed="rId4"/>
          <a:srcRect/>
          <a:stretch/>
        </p:blipFill>
        <p:spPr>
          <a:xfrm>
            <a:off x="3110756" y="2007791"/>
            <a:ext cx="139700" cy="139700"/>
          </a:xfrm>
          <a:prstGeom prst="rect">
            <a:avLst/>
          </a:prstGeom>
        </p:spPr>
      </p:pic>
      <p:sp>
        <p:nvSpPr>
          <p:cNvPr id="10" name="Shape 6"/>
          <p:cNvSpPr/>
          <p:nvPr/>
        </p:nvSpPr>
        <p:spPr>
          <a:xfrm>
            <a:off x="3377456" y="1882080"/>
            <a:ext cx="1154509" cy="391120"/>
          </a:xfrm>
          <a:prstGeom prst="roundRect">
            <a:avLst>
              <a:gd name="adj" fmla="val 50000"/>
            </a:avLst>
          </a:prstGeom>
          <a:solidFill>
            <a:srgbClr val="FFFFFF">
              <a:alpha val="8000"/>
            </a:srgbClr>
          </a:solidFill>
          <a:ln/>
        </p:spPr>
        <p:txBody>
          <a:bodyPr/>
          <a:lstStyle/>
          <a:p>
            <a:endParaRPr lang="en-US"/>
          </a:p>
        </p:txBody>
      </p:sp>
      <p:pic>
        <p:nvPicPr>
          <p:cNvPr id="11" name="Image 2" descr="Home"/>
          <p:cNvPicPr>
            <a:picLocks noChangeAspect="1"/>
          </p:cNvPicPr>
          <p:nvPr/>
        </p:nvPicPr>
        <p:blipFill>
          <a:blip r:embed="rId5"/>
          <a:srcRect/>
          <a:stretch/>
        </p:blipFill>
        <p:spPr>
          <a:xfrm>
            <a:off x="3542556" y="1995091"/>
            <a:ext cx="165100" cy="165100"/>
          </a:xfrm>
          <a:prstGeom prst="rect">
            <a:avLst/>
          </a:prstGeom>
        </p:spPr>
      </p:pic>
      <p:sp>
        <p:nvSpPr>
          <p:cNvPr id="12" name="Text 7"/>
          <p:cNvSpPr/>
          <p:nvPr/>
        </p:nvSpPr>
        <p:spPr>
          <a:xfrm>
            <a:off x="3796556" y="1970980"/>
            <a:ext cx="621109"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FBFBF8"/>
                </a:solidFill>
                <a:latin typeface="Nunito Sans" pitchFamily="34" charset="0"/>
                <a:ea typeface="Nunito Sans" pitchFamily="34" charset="-122"/>
                <a:cs typeface="Nunito Sans" pitchFamily="34" charset="-120"/>
              </a:rPr>
              <a:t>Bench 5</a:t>
            </a:r>
            <a:endParaRPr lang="en-US" sz="1200"/>
          </a:p>
        </p:txBody>
      </p:sp>
      <p:sp>
        <p:nvSpPr>
          <p:cNvPr id="13" name="Shape 8"/>
          <p:cNvSpPr/>
          <p:nvPr/>
        </p:nvSpPr>
        <p:spPr>
          <a:xfrm>
            <a:off x="9958784" y="1890961"/>
            <a:ext cx="1217216" cy="373360"/>
          </a:xfrm>
          <a:prstGeom prst="roundRect">
            <a:avLst>
              <a:gd name="adj" fmla="val 50000"/>
            </a:avLst>
          </a:prstGeom>
          <a:solidFill>
            <a:srgbClr val="5EEBD9"/>
          </a:solidFill>
          <a:ln/>
        </p:spPr>
        <p:txBody>
          <a:bodyPr/>
          <a:lstStyle/>
          <a:p>
            <a:endParaRPr lang="en-US"/>
          </a:p>
        </p:txBody>
      </p:sp>
      <p:sp>
        <p:nvSpPr>
          <p:cNvPr id="14" name="Text 9"/>
          <p:cNvSpPr/>
          <p:nvPr/>
        </p:nvSpPr>
        <p:spPr>
          <a:xfrm>
            <a:off x="10161984" y="1979861"/>
            <a:ext cx="861616" cy="220960"/>
          </a:xfrm>
          <a:prstGeom prst="rect">
            <a:avLst/>
          </a:prstGeom>
          <a:noFill/>
          <a:ln/>
        </p:spPr>
        <p:txBody>
          <a:bodyPr wrap="square" lIns="0" tIns="0" rIns="0" bIns="0" rtlCol="0" anchor="t">
            <a:normAutofit/>
          </a:bodyPr>
          <a:lstStyle/>
          <a:p>
            <a:pPr marL="0" indent="0" algn="l">
              <a:lnSpc>
                <a:spcPts val="1540"/>
              </a:lnSpc>
              <a:buNone/>
            </a:pPr>
            <a:r>
              <a:rPr lang="en-US" sz="1100" b="1">
                <a:solidFill>
                  <a:srgbClr val="14163B"/>
                </a:solidFill>
                <a:latin typeface="Nunito Sans" pitchFamily="34" charset="0"/>
                <a:ea typeface="Nunito Sans" pitchFamily="34" charset="-122"/>
                <a:cs typeface="Nunito Sans" pitchFamily="34" charset="-120"/>
              </a:rPr>
              <a:t>Send errand</a:t>
            </a:r>
            <a:endParaRPr lang="en-US" sz="1100"/>
          </a:p>
        </p:txBody>
      </p:sp>
      <p:sp>
        <p:nvSpPr>
          <p:cNvPr id="15" name="Shape 10"/>
          <p:cNvSpPr/>
          <p:nvPr/>
        </p:nvSpPr>
        <p:spPr>
          <a:xfrm>
            <a:off x="812800" y="2666901"/>
            <a:ext cx="1788120" cy="3175099"/>
          </a:xfrm>
          <a:prstGeom prst="roundRect">
            <a:avLst>
              <a:gd name="adj" fmla="val 6392"/>
            </a:avLst>
          </a:prstGeom>
          <a:solidFill>
            <a:srgbClr val="FFFFFF"/>
          </a:solidFill>
          <a:ln/>
        </p:spPr>
        <p:txBody>
          <a:bodyPr/>
          <a:lstStyle/>
          <a:p>
            <a:endParaRPr lang="en-US"/>
          </a:p>
        </p:txBody>
      </p:sp>
      <p:sp>
        <p:nvSpPr>
          <p:cNvPr id="16" name="Text 11"/>
          <p:cNvSpPr/>
          <p:nvPr/>
        </p:nvSpPr>
        <p:spPr>
          <a:xfrm>
            <a:off x="952500" y="2832001"/>
            <a:ext cx="1559520"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C7CBD8"/>
                </a:solidFill>
                <a:latin typeface="Nunito Sans" pitchFamily="34" charset="0"/>
                <a:ea typeface="Nunito Sans" pitchFamily="34" charset="-122"/>
                <a:cs typeface="Nunito Sans" pitchFamily="34" charset="-120"/>
              </a:rPr>
              <a:t>1</a:t>
            </a:r>
            <a:endParaRPr lang="en-US" sz="1600"/>
          </a:p>
        </p:txBody>
      </p:sp>
      <p:sp>
        <p:nvSpPr>
          <p:cNvPr id="17" name="Text 12"/>
          <p:cNvSpPr/>
          <p:nvPr/>
        </p:nvSpPr>
        <p:spPr>
          <a:xfrm>
            <a:off x="952500" y="3192661"/>
            <a:ext cx="1559520" cy="220960"/>
          </a:xfrm>
          <a:prstGeom prst="rect">
            <a:avLst/>
          </a:prstGeom>
          <a:noFill/>
          <a:ln/>
        </p:spPr>
        <p:txBody>
          <a:bodyPr wrap="square" lIns="0" tIns="0" rIns="0" bIns="0" rtlCol="0" anchor="t">
            <a:normAutofit/>
          </a:bodyPr>
          <a:lstStyle/>
          <a:p>
            <a:pPr marL="0" indent="0" algn="l">
              <a:lnSpc>
                <a:spcPts val="1540"/>
              </a:lnSpc>
              <a:buNone/>
            </a:pPr>
            <a:r>
              <a:rPr lang="en-US" sz="1100" b="1">
                <a:solidFill>
                  <a:srgbClr val="14163B"/>
                </a:solidFill>
                <a:latin typeface="Nunito Sans" pitchFamily="34" charset="0"/>
                <a:ea typeface="Nunito Sans" pitchFamily="34" charset="-122"/>
                <a:cs typeface="Nunito Sans" pitchFamily="34" charset="-120"/>
              </a:rPr>
              <a:t>Requester asks</a:t>
            </a:r>
            <a:endParaRPr lang="en-US" sz="1100"/>
          </a:p>
        </p:txBody>
      </p:sp>
      <p:sp>
        <p:nvSpPr>
          <p:cNvPr id="18" name="Text 13"/>
          <p:cNvSpPr/>
          <p:nvPr/>
        </p:nvSpPr>
        <p:spPr>
          <a:xfrm>
            <a:off x="952500" y="3464421"/>
            <a:ext cx="1559520" cy="532011"/>
          </a:xfrm>
          <a:prstGeom prst="rect">
            <a:avLst/>
          </a:prstGeom>
          <a:noFill/>
          <a:ln/>
        </p:spPr>
        <p:txBody>
          <a:bodyPr wrap="square" lIns="0" tIns="0" rIns="0" bIns="0" rtlCol="0" anchor="t">
            <a:normAutofit/>
          </a:bodyPr>
          <a:lstStyle/>
          <a:p>
            <a:pPr marL="0" indent="0" algn="l">
              <a:lnSpc>
                <a:spcPts val="1330"/>
              </a:lnSpc>
              <a:buNone/>
            </a:pPr>
            <a:r>
              <a:rPr lang="en-US" sz="950">
                <a:solidFill>
                  <a:srgbClr val="5A6180"/>
                </a:solidFill>
                <a:latin typeface="Nunito Sans" pitchFamily="34" charset="0"/>
                <a:ea typeface="Nunito Sans" pitchFamily="34" charset="-122"/>
                <a:cs typeface="Nunito Sans" pitchFamily="34" charset="-120"/>
              </a:rPr>
              <a:t>Natural-language errand, Bench 2 to Bench 5, typed into the app</a:t>
            </a:r>
            <a:endParaRPr lang="en-US" sz="950"/>
          </a:p>
        </p:txBody>
      </p:sp>
      <p:pic>
        <p:nvPicPr>
          <p:cNvPr id="19" name="Image 3" descr="arrow-right"/>
          <p:cNvPicPr>
            <a:picLocks noChangeAspect="1"/>
          </p:cNvPicPr>
          <p:nvPr/>
        </p:nvPicPr>
        <p:blipFill>
          <a:blip r:embed="rId6"/>
          <a:srcRect/>
          <a:stretch/>
        </p:blipFill>
        <p:spPr>
          <a:xfrm>
            <a:off x="2702520" y="4152850"/>
            <a:ext cx="203200" cy="203200"/>
          </a:xfrm>
          <a:prstGeom prst="rect">
            <a:avLst/>
          </a:prstGeom>
        </p:spPr>
      </p:pic>
      <p:sp>
        <p:nvSpPr>
          <p:cNvPr id="20" name="Shape 14"/>
          <p:cNvSpPr/>
          <p:nvPr/>
        </p:nvSpPr>
        <p:spPr>
          <a:xfrm>
            <a:off x="3007320" y="2666901"/>
            <a:ext cx="1788170" cy="3175099"/>
          </a:xfrm>
          <a:prstGeom prst="roundRect">
            <a:avLst>
              <a:gd name="adj" fmla="val 6392"/>
            </a:avLst>
          </a:prstGeom>
          <a:solidFill>
            <a:srgbClr val="FFFFFF"/>
          </a:solidFill>
          <a:ln/>
        </p:spPr>
        <p:txBody>
          <a:bodyPr/>
          <a:lstStyle/>
          <a:p>
            <a:endParaRPr lang="en-US"/>
          </a:p>
        </p:txBody>
      </p:sp>
      <p:sp>
        <p:nvSpPr>
          <p:cNvPr id="21" name="Text 15"/>
          <p:cNvSpPr/>
          <p:nvPr/>
        </p:nvSpPr>
        <p:spPr>
          <a:xfrm>
            <a:off x="3147020" y="2832001"/>
            <a:ext cx="1559570"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C7CBD8"/>
                </a:solidFill>
                <a:latin typeface="Nunito Sans" pitchFamily="34" charset="0"/>
                <a:ea typeface="Nunito Sans" pitchFamily="34" charset="-122"/>
                <a:cs typeface="Nunito Sans" pitchFamily="34" charset="-120"/>
              </a:rPr>
              <a:t>2</a:t>
            </a:r>
            <a:endParaRPr lang="en-US" sz="1600"/>
          </a:p>
        </p:txBody>
      </p:sp>
      <p:sp>
        <p:nvSpPr>
          <p:cNvPr id="22" name="Text 16"/>
          <p:cNvSpPr/>
          <p:nvPr/>
        </p:nvSpPr>
        <p:spPr>
          <a:xfrm>
            <a:off x="3147020" y="3192661"/>
            <a:ext cx="1559570" cy="220960"/>
          </a:xfrm>
          <a:prstGeom prst="rect">
            <a:avLst/>
          </a:prstGeom>
          <a:noFill/>
          <a:ln/>
        </p:spPr>
        <p:txBody>
          <a:bodyPr wrap="square" lIns="0" tIns="0" rIns="0" bIns="0" rtlCol="0" anchor="t">
            <a:normAutofit/>
          </a:bodyPr>
          <a:lstStyle/>
          <a:p>
            <a:pPr marL="0" indent="0" algn="l">
              <a:lnSpc>
                <a:spcPts val="1540"/>
              </a:lnSpc>
              <a:buNone/>
            </a:pPr>
            <a:r>
              <a:rPr lang="en-US" sz="1100" b="1">
                <a:solidFill>
                  <a:srgbClr val="14163B"/>
                </a:solidFill>
                <a:latin typeface="Nunito Sans" pitchFamily="34" charset="0"/>
                <a:ea typeface="Nunito Sans" pitchFamily="34" charset="-122"/>
                <a:cs typeface="Nunito Sans" pitchFamily="34" charset="-120"/>
              </a:rPr>
              <a:t>Cloud plans &amp; leases</a:t>
            </a:r>
            <a:endParaRPr lang="en-US" sz="1100"/>
          </a:p>
        </p:txBody>
      </p:sp>
      <p:sp>
        <p:nvSpPr>
          <p:cNvPr id="23" name="Text 17"/>
          <p:cNvSpPr/>
          <p:nvPr/>
        </p:nvSpPr>
        <p:spPr>
          <a:xfrm>
            <a:off x="3147020" y="3464421"/>
            <a:ext cx="1559570" cy="532011"/>
          </a:xfrm>
          <a:prstGeom prst="rect">
            <a:avLst/>
          </a:prstGeom>
          <a:noFill/>
          <a:ln/>
        </p:spPr>
        <p:txBody>
          <a:bodyPr wrap="square" lIns="0" tIns="0" rIns="0" bIns="0" rtlCol="0" anchor="t">
            <a:normAutofit/>
          </a:bodyPr>
          <a:lstStyle/>
          <a:p>
            <a:pPr marL="0" indent="0" algn="l">
              <a:lnSpc>
                <a:spcPts val="1330"/>
              </a:lnSpc>
              <a:buNone/>
            </a:pPr>
            <a:r>
              <a:rPr lang="en-US" sz="950">
                <a:solidFill>
                  <a:srgbClr val="5A6180"/>
                </a:solidFill>
                <a:latin typeface="Nunito Sans" pitchFamily="34" charset="0"/>
                <a:ea typeface="Nunito Sans" pitchFamily="34" charset="-122"/>
                <a:cs typeface="Nunito Sans" pitchFamily="34" charset="-120"/>
              </a:rPr>
              <a:t>Route plus a 20s-TTL lease for the corridor; map tiles prefetched</a:t>
            </a:r>
            <a:endParaRPr lang="en-US" sz="950"/>
          </a:p>
        </p:txBody>
      </p:sp>
      <p:pic>
        <p:nvPicPr>
          <p:cNvPr id="24" name="Image 4" descr="arrow-right"/>
          <p:cNvPicPr>
            <a:picLocks noChangeAspect="1"/>
          </p:cNvPicPr>
          <p:nvPr/>
        </p:nvPicPr>
        <p:blipFill>
          <a:blip r:embed="rId6"/>
          <a:srcRect/>
          <a:stretch/>
        </p:blipFill>
        <p:spPr>
          <a:xfrm>
            <a:off x="4897090" y="4152850"/>
            <a:ext cx="203200" cy="203200"/>
          </a:xfrm>
          <a:prstGeom prst="rect">
            <a:avLst/>
          </a:prstGeom>
        </p:spPr>
      </p:pic>
      <p:sp>
        <p:nvSpPr>
          <p:cNvPr id="25" name="Shape 18"/>
          <p:cNvSpPr/>
          <p:nvPr/>
        </p:nvSpPr>
        <p:spPr>
          <a:xfrm>
            <a:off x="5201890" y="2666901"/>
            <a:ext cx="1788170" cy="3175099"/>
          </a:xfrm>
          <a:prstGeom prst="roundRect">
            <a:avLst>
              <a:gd name="adj" fmla="val 6392"/>
            </a:avLst>
          </a:prstGeom>
          <a:solidFill>
            <a:srgbClr val="FFFFFF"/>
          </a:solidFill>
          <a:ln/>
        </p:spPr>
        <p:txBody>
          <a:bodyPr/>
          <a:lstStyle/>
          <a:p>
            <a:endParaRPr lang="en-US"/>
          </a:p>
        </p:txBody>
      </p:sp>
      <p:sp>
        <p:nvSpPr>
          <p:cNvPr id="26" name="Text 19"/>
          <p:cNvSpPr/>
          <p:nvPr/>
        </p:nvSpPr>
        <p:spPr>
          <a:xfrm>
            <a:off x="5341590" y="2832001"/>
            <a:ext cx="1559570"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C7CBD8"/>
                </a:solidFill>
                <a:latin typeface="Nunito Sans" pitchFamily="34" charset="0"/>
                <a:ea typeface="Nunito Sans" pitchFamily="34" charset="-122"/>
                <a:cs typeface="Nunito Sans" pitchFamily="34" charset="-120"/>
              </a:rPr>
              <a:t>3</a:t>
            </a:r>
            <a:endParaRPr lang="en-US" sz="1600"/>
          </a:p>
        </p:txBody>
      </p:sp>
      <p:sp>
        <p:nvSpPr>
          <p:cNvPr id="27" name="Text 20"/>
          <p:cNvSpPr/>
          <p:nvPr/>
        </p:nvSpPr>
        <p:spPr>
          <a:xfrm>
            <a:off x="5341590" y="3192661"/>
            <a:ext cx="1559570" cy="416520"/>
          </a:xfrm>
          <a:prstGeom prst="rect">
            <a:avLst/>
          </a:prstGeom>
          <a:noFill/>
          <a:ln/>
        </p:spPr>
        <p:txBody>
          <a:bodyPr wrap="square" lIns="0" tIns="0" rIns="0" bIns="0" rtlCol="0" anchor="t">
            <a:normAutofit/>
          </a:bodyPr>
          <a:lstStyle/>
          <a:p>
            <a:pPr marL="0" indent="0" algn="l">
              <a:lnSpc>
                <a:spcPts val="1540"/>
              </a:lnSpc>
              <a:buNone/>
            </a:pPr>
            <a:r>
              <a:rPr lang="en-US" sz="1100" b="1">
                <a:solidFill>
                  <a:srgbClr val="14163B"/>
                </a:solidFill>
                <a:latin typeface="Nunito Sans" pitchFamily="34" charset="0"/>
                <a:ea typeface="Nunito Sans" pitchFamily="34" charset="-122"/>
                <a:cs typeface="Nunito Sans" pitchFamily="34" charset="-120"/>
              </a:rPr>
              <a:t>Obstacle, handled locally</a:t>
            </a:r>
            <a:endParaRPr lang="en-US" sz="1100"/>
          </a:p>
        </p:txBody>
      </p:sp>
      <p:sp>
        <p:nvSpPr>
          <p:cNvPr id="28" name="Text 21"/>
          <p:cNvSpPr/>
          <p:nvPr/>
        </p:nvSpPr>
        <p:spPr>
          <a:xfrm>
            <a:off x="5341590" y="3659981"/>
            <a:ext cx="1559570" cy="532011"/>
          </a:xfrm>
          <a:prstGeom prst="rect">
            <a:avLst/>
          </a:prstGeom>
          <a:noFill/>
          <a:ln/>
        </p:spPr>
        <p:txBody>
          <a:bodyPr wrap="square" lIns="0" tIns="0" rIns="0" bIns="0" rtlCol="0" anchor="t">
            <a:normAutofit/>
          </a:bodyPr>
          <a:lstStyle/>
          <a:p>
            <a:pPr marL="0" indent="0" algn="l">
              <a:lnSpc>
                <a:spcPts val="1330"/>
              </a:lnSpc>
              <a:buNone/>
            </a:pPr>
            <a:r>
              <a:rPr lang="en-US" sz="950">
                <a:solidFill>
                  <a:srgbClr val="5A6180"/>
                </a:solidFill>
                <a:latin typeface="Nunito Sans" pitchFamily="34" charset="0"/>
                <a:ea typeface="Nunito Sans" pitchFamily="34" charset="-122"/>
                <a:cs typeface="Nunito Sans" pitchFamily="34" charset="-120"/>
              </a:rPr>
              <a:t>A person crosses; the edge reactive layer avoids it, no cloud call</a:t>
            </a:r>
            <a:endParaRPr lang="en-US" sz="950"/>
          </a:p>
        </p:txBody>
      </p:sp>
      <p:pic>
        <p:nvPicPr>
          <p:cNvPr id="29" name="Image 5" descr="arrow-right"/>
          <p:cNvPicPr>
            <a:picLocks noChangeAspect="1"/>
          </p:cNvPicPr>
          <p:nvPr/>
        </p:nvPicPr>
        <p:blipFill>
          <a:blip r:embed="rId6"/>
          <a:srcRect/>
          <a:stretch/>
        </p:blipFill>
        <p:spPr>
          <a:xfrm>
            <a:off x="7091660" y="4152850"/>
            <a:ext cx="203200" cy="203200"/>
          </a:xfrm>
          <a:prstGeom prst="rect">
            <a:avLst/>
          </a:prstGeom>
        </p:spPr>
      </p:pic>
      <p:sp>
        <p:nvSpPr>
          <p:cNvPr id="30" name="Shape 22"/>
          <p:cNvSpPr/>
          <p:nvPr/>
        </p:nvSpPr>
        <p:spPr>
          <a:xfrm>
            <a:off x="7396460" y="2666901"/>
            <a:ext cx="1788170" cy="3175099"/>
          </a:xfrm>
          <a:prstGeom prst="roundRect">
            <a:avLst>
              <a:gd name="adj" fmla="val 6392"/>
            </a:avLst>
          </a:prstGeom>
          <a:solidFill>
            <a:srgbClr val="FFFFFF"/>
          </a:solidFill>
          <a:ln/>
        </p:spPr>
        <p:txBody>
          <a:bodyPr/>
          <a:lstStyle/>
          <a:p>
            <a:endParaRPr lang="en-US"/>
          </a:p>
        </p:txBody>
      </p:sp>
      <p:sp>
        <p:nvSpPr>
          <p:cNvPr id="31" name="Text 23"/>
          <p:cNvSpPr/>
          <p:nvPr/>
        </p:nvSpPr>
        <p:spPr>
          <a:xfrm>
            <a:off x="7536160" y="2832001"/>
            <a:ext cx="1559570"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C7CBD8"/>
                </a:solidFill>
                <a:latin typeface="Nunito Sans" pitchFamily="34" charset="0"/>
                <a:ea typeface="Nunito Sans" pitchFamily="34" charset="-122"/>
                <a:cs typeface="Nunito Sans" pitchFamily="34" charset="-120"/>
              </a:rPr>
              <a:t>4</a:t>
            </a:r>
            <a:endParaRPr lang="en-US" sz="1600"/>
          </a:p>
        </p:txBody>
      </p:sp>
      <p:sp>
        <p:nvSpPr>
          <p:cNvPr id="32" name="Text 24"/>
          <p:cNvSpPr/>
          <p:nvPr/>
        </p:nvSpPr>
        <p:spPr>
          <a:xfrm>
            <a:off x="7536160" y="3192661"/>
            <a:ext cx="1559570" cy="220960"/>
          </a:xfrm>
          <a:prstGeom prst="rect">
            <a:avLst/>
          </a:prstGeom>
          <a:noFill/>
          <a:ln/>
        </p:spPr>
        <p:txBody>
          <a:bodyPr wrap="square" lIns="0" tIns="0" rIns="0" bIns="0" rtlCol="0" anchor="t">
            <a:normAutofit/>
          </a:bodyPr>
          <a:lstStyle/>
          <a:p>
            <a:pPr marL="0" indent="0" algn="l">
              <a:lnSpc>
                <a:spcPts val="1540"/>
              </a:lnSpc>
              <a:buNone/>
            </a:pPr>
            <a:r>
              <a:rPr lang="en-US" sz="1100" b="1">
                <a:solidFill>
                  <a:srgbClr val="14163B"/>
                </a:solidFill>
                <a:latin typeface="Nunito Sans" pitchFamily="34" charset="0"/>
                <a:ea typeface="Nunito Sans" pitchFamily="34" charset="-122"/>
                <a:cs typeface="Nunito Sans" pitchFamily="34" charset="-120"/>
              </a:rPr>
              <a:t>Lease renews</a:t>
            </a:r>
            <a:endParaRPr lang="en-US" sz="1100"/>
          </a:p>
        </p:txBody>
      </p:sp>
      <p:sp>
        <p:nvSpPr>
          <p:cNvPr id="33" name="Text 25"/>
          <p:cNvSpPr/>
          <p:nvPr/>
        </p:nvSpPr>
        <p:spPr>
          <a:xfrm>
            <a:off x="7536160" y="3464421"/>
            <a:ext cx="1559570" cy="532011"/>
          </a:xfrm>
          <a:prstGeom prst="rect">
            <a:avLst/>
          </a:prstGeom>
          <a:noFill/>
          <a:ln/>
        </p:spPr>
        <p:txBody>
          <a:bodyPr wrap="square" lIns="0" tIns="0" rIns="0" bIns="0" rtlCol="0" anchor="t">
            <a:normAutofit/>
          </a:bodyPr>
          <a:lstStyle/>
          <a:p>
            <a:pPr marL="0" indent="0" algn="l">
              <a:lnSpc>
                <a:spcPts val="1330"/>
              </a:lnSpc>
              <a:buNone/>
            </a:pPr>
            <a:r>
              <a:rPr lang="en-US" sz="950">
                <a:solidFill>
                  <a:srgbClr val="5A6180"/>
                </a:solidFill>
                <a:latin typeface="Nunito Sans" pitchFamily="34" charset="0"/>
                <a:ea typeface="Nunito Sans" pitchFamily="34" charset="-122"/>
                <a:cs typeface="Nunito Sans" pitchFamily="34" charset="-120"/>
              </a:rPr>
              <a:t>Four renewals along the way — control-plane pings, zero LLM calls</a:t>
            </a:r>
            <a:endParaRPr lang="en-US" sz="950"/>
          </a:p>
        </p:txBody>
      </p:sp>
      <p:pic>
        <p:nvPicPr>
          <p:cNvPr id="34" name="Image 6" descr="arrow-right"/>
          <p:cNvPicPr>
            <a:picLocks noChangeAspect="1"/>
          </p:cNvPicPr>
          <p:nvPr/>
        </p:nvPicPr>
        <p:blipFill>
          <a:blip r:embed="rId6"/>
          <a:srcRect/>
          <a:stretch/>
        </p:blipFill>
        <p:spPr>
          <a:xfrm>
            <a:off x="9286230" y="4152850"/>
            <a:ext cx="203200" cy="203200"/>
          </a:xfrm>
          <a:prstGeom prst="rect">
            <a:avLst/>
          </a:prstGeom>
        </p:spPr>
      </p:pic>
      <p:sp>
        <p:nvSpPr>
          <p:cNvPr id="35" name="Shape 26"/>
          <p:cNvSpPr/>
          <p:nvPr/>
        </p:nvSpPr>
        <p:spPr>
          <a:xfrm>
            <a:off x="9591030" y="2666901"/>
            <a:ext cx="1788170" cy="3175099"/>
          </a:xfrm>
          <a:prstGeom prst="roundRect">
            <a:avLst>
              <a:gd name="adj" fmla="val 6392"/>
            </a:avLst>
          </a:prstGeom>
          <a:solidFill>
            <a:srgbClr val="14163B"/>
          </a:solidFill>
          <a:ln/>
        </p:spPr>
        <p:txBody>
          <a:bodyPr/>
          <a:lstStyle/>
          <a:p>
            <a:endParaRPr lang="en-US"/>
          </a:p>
        </p:txBody>
      </p:sp>
      <p:sp>
        <p:nvSpPr>
          <p:cNvPr id="36" name="Text 27"/>
          <p:cNvSpPr/>
          <p:nvPr/>
        </p:nvSpPr>
        <p:spPr>
          <a:xfrm>
            <a:off x="9730730" y="2832001"/>
            <a:ext cx="1559570" cy="309860"/>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4A5170"/>
                </a:solidFill>
                <a:latin typeface="Nunito Sans" pitchFamily="34" charset="0"/>
                <a:ea typeface="Nunito Sans" pitchFamily="34" charset="-122"/>
                <a:cs typeface="Nunito Sans" pitchFamily="34" charset="-120"/>
              </a:rPr>
              <a:t>5</a:t>
            </a:r>
            <a:endParaRPr lang="en-US" sz="1600"/>
          </a:p>
        </p:txBody>
      </p:sp>
      <p:sp>
        <p:nvSpPr>
          <p:cNvPr id="37" name="Text 28"/>
          <p:cNvSpPr/>
          <p:nvPr/>
        </p:nvSpPr>
        <p:spPr>
          <a:xfrm>
            <a:off x="9730730" y="3192661"/>
            <a:ext cx="1559570" cy="220960"/>
          </a:xfrm>
          <a:prstGeom prst="rect">
            <a:avLst/>
          </a:prstGeom>
          <a:noFill/>
          <a:ln/>
        </p:spPr>
        <p:txBody>
          <a:bodyPr wrap="square" lIns="0" tIns="0" rIns="0" bIns="0" rtlCol="0" anchor="t">
            <a:normAutofit/>
          </a:bodyPr>
          <a:lstStyle/>
          <a:p>
            <a:pPr marL="0" indent="0" algn="l">
              <a:lnSpc>
                <a:spcPts val="1540"/>
              </a:lnSpc>
              <a:buNone/>
            </a:pPr>
            <a:r>
              <a:rPr lang="en-US" sz="1100" b="1">
                <a:solidFill>
                  <a:srgbClr val="FBFBF8"/>
                </a:solidFill>
                <a:latin typeface="Nunito Sans" pitchFamily="34" charset="0"/>
                <a:ea typeface="Nunito Sans" pitchFamily="34" charset="-122"/>
                <a:cs typeface="Nunito Sans" pitchFamily="34" charset="-120"/>
              </a:rPr>
              <a:t>Arrival</a:t>
            </a:r>
            <a:endParaRPr lang="en-US" sz="1100"/>
          </a:p>
        </p:txBody>
      </p:sp>
      <p:sp>
        <p:nvSpPr>
          <p:cNvPr id="38" name="Text 29"/>
          <p:cNvSpPr/>
          <p:nvPr/>
        </p:nvSpPr>
        <p:spPr>
          <a:xfrm>
            <a:off x="9730730" y="3464421"/>
            <a:ext cx="1559570" cy="363141"/>
          </a:xfrm>
          <a:prstGeom prst="rect">
            <a:avLst/>
          </a:prstGeom>
          <a:noFill/>
          <a:ln/>
        </p:spPr>
        <p:txBody>
          <a:bodyPr wrap="square" lIns="0" tIns="0" rIns="0" bIns="0" rtlCol="0" anchor="t">
            <a:normAutofit/>
          </a:bodyPr>
          <a:lstStyle/>
          <a:p>
            <a:pPr marL="0" indent="0" algn="l">
              <a:lnSpc>
                <a:spcPts val="1330"/>
              </a:lnSpc>
              <a:buNone/>
            </a:pPr>
            <a:r>
              <a:rPr lang="en-US" sz="950">
                <a:solidFill>
                  <a:srgbClr val="C7CBEA"/>
                </a:solidFill>
                <a:latin typeface="Nunito Sans" pitchFamily="34" charset="0"/>
                <a:ea typeface="Nunito Sans" pitchFamily="34" charset="-122"/>
                <a:cs typeface="Nunito Sans" pitchFamily="34" charset="-120"/>
              </a:rPr>
              <a:t>One LLM call billed for the whole errand</a:t>
            </a:r>
            <a:endParaRPr lang="en-US" sz="950"/>
          </a:p>
        </p:txBody>
      </p:sp>
      <p:sp>
        <p:nvSpPr>
          <p:cNvPr id="39" name="Text 30"/>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40" name="Text 31"/>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11 / 17</a:t>
            </a:r>
            <a:endParaRPr 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63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163B"/>
              </a:gs>
              <a:gs pos="100000">
                <a:srgbClr val="1E2150"/>
              </a:gs>
            </a:gsLst>
            <a:lin ang="3000000" scaled="0"/>
          </a:gradFill>
          <a:ln/>
        </p:spPr>
        <p:txBody>
          <a:bodyPr/>
          <a:lstStyle/>
          <a:p>
            <a:endParaRPr lang="en-US"/>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5EEBD9"/>
                </a:solidFill>
                <a:latin typeface="Nunito Sans" pitchFamily="34" charset="0"/>
                <a:ea typeface="Nunito Sans" pitchFamily="34" charset="-122"/>
                <a:cs typeface="Nunito Sans" pitchFamily="34" charset="-120"/>
              </a:rPr>
              <a:t>NOT IN THE CURRENT PROPOSAL</a:t>
            </a:r>
            <a:endParaRPr lang="en-US" sz="1200"/>
          </a:p>
        </p:txBody>
      </p:sp>
      <p:sp>
        <p:nvSpPr>
          <p:cNvPr id="4" name="Text 2"/>
          <p:cNvSpPr/>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FBFBF8"/>
                </a:solidFill>
                <a:latin typeface="Rubik" pitchFamily="34" charset="0"/>
                <a:ea typeface="Rubik" pitchFamily="34" charset="-122"/>
                <a:cs typeface="Rubik" pitchFamily="34" charset="-120"/>
              </a:rPr>
              <a:t>Beyond this proposal: where the lease generalises</a:t>
            </a:r>
            <a:endParaRPr lang="en-US" sz="2800"/>
          </a:p>
        </p:txBody>
      </p:sp>
      <p:sp>
        <p:nvSpPr>
          <p:cNvPr id="5" name="Text 3"/>
          <p:cNvSpPr/>
          <p:nvPr/>
        </p:nvSpPr>
        <p:spPr>
          <a:xfrm>
            <a:off x="812800" y="1620441"/>
            <a:ext cx="9810750" cy="487660"/>
          </a:xfrm>
          <a:prstGeom prst="rect">
            <a:avLst/>
          </a:prstGeom>
          <a:noFill/>
          <a:ln/>
        </p:spPr>
        <p:txBody>
          <a:bodyPr wrap="square" lIns="0" tIns="0" rIns="0" bIns="0" rtlCol="0" anchor="t">
            <a:normAutofit/>
          </a:bodyPr>
          <a:lstStyle/>
          <a:p>
            <a:pPr marL="0" indent="0" algn="l">
              <a:lnSpc>
                <a:spcPts val="1820"/>
              </a:lnSpc>
              <a:buNone/>
            </a:pPr>
            <a:r>
              <a:rPr lang="en-US" sz="1300">
                <a:solidFill>
                  <a:srgbClr val="C7CBEA"/>
                </a:solidFill>
                <a:latin typeface="Nunito Sans" pitchFamily="34" charset="0"/>
                <a:ea typeface="Nunito Sans" pitchFamily="34" charset="-122"/>
                <a:cs typeface="Nunito Sans" pitchFamily="34" charset="-120"/>
              </a:rPr>
              <a:t>The lease is a generic authority abstraction, not an errand-specific one — FR-14's stretch reminder capability already tests that on the unchanged lease schema.</a:t>
            </a:r>
            <a:endParaRPr lang="en-US" sz="1300"/>
          </a:p>
        </p:txBody>
      </p:sp>
      <p:sp>
        <p:nvSpPr>
          <p:cNvPr id="6" name="Shape 4"/>
          <p:cNvSpPr/>
          <p:nvPr/>
        </p:nvSpPr>
        <p:spPr>
          <a:xfrm>
            <a:off x="815975" y="2314476"/>
            <a:ext cx="2005310" cy="3524349"/>
          </a:xfrm>
          <a:prstGeom prst="roundRect">
            <a:avLst>
              <a:gd name="adj" fmla="val 6175"/>
            </a:avLst>
          </a:prstGeom>
          <a:solidFill>
            <a:srgbClr val="FFFFFF">
              <a:alpha val="7000"/>
            </a:srgbClr>
          </a:solidFill>
          <a:ln w="6350">
            <a:solidFill>
              <a:srgbClr val="FFFFFF">
                <a:alpha val="16000"/>
              </a:srgbClr>
            </a:solidFill>
            <a:prstDash val="solid"/>
          </a:ln>
        </p:spPr>
        <p:txBody>
          <a:bodyPr/>
          <a:lstStyle/>
          <a:p>
            <a:endParaRPr lang="en-US"/>
          </a:p>
        </p:txBody>
      </p:sp>
      <p:pic>
        <p:nvPicPr>
          <p:cNvPr id="7" name="Image 0" descr="Lightning"/>
          <p:cNvPicPr>
            <a:picLocks noChangeAspect="1"/>
          </p:cNvPicPr>
          <p:nvPr/>
        </p:nvPicPr>
        <p:blipFill>
          <a:blip r:embed="rId3"/>
          <a:srcRect/>
          <a:stretch/>
        </p:blipFill>
        <p:spPr>
          <a:xfrm>
            <a:off x="984250" y="2520851"/>
            <a:ext cx="228600" cy="228600"/>
          </a:xfrm>
          <a:prstGeom prst="rect">
            <a:avLst/>
          </a:prstGeom>
        </p:spPr>
      </p:pic>
      <p:sp>
        <p:nvSpPr>
          <p:cNvPr id="8" name="Text 5"/>
          <p:cNvSpPr/>
          <p:nvPr/>
        </p:nvSpPr>
        <p:spPr>
          <a:xfrm>
            <a:off x="984250" y="2838351"/>
            <a:ext cx="1719560"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FBFBF8"/>
                </a:solidFill>
                <a:latin typeface="Nunito Sans" pitchFamily="34" charset="0"/>
                <a:ea typeface="Nunito Sans" pitchFamily="34" charset="-122"/>
                <a:cs typeface="Nunito Sans" pitchFamily="34" charset="-120"/>
              </a:rPr>
              <a:t>More errand types</a:t>
            </a:r>
            <a:endParaRPr lang="en-US" sz="1200"/>
          </a:p>
        </p:txBody>
      </p:sp>
      <p:sp>
        <p:nvSpPr>
          <p:cNvPr id="9" name="Text 6"/>
          <p:cNvSpPr/>
          <p:nvPr/>
        </p:nvSpPr>
        <p:spPr>
          <a:xfrm>
            <a:off x="984250" y="3140571"/>
            <a:ext cx="1719560" cy="736600"/>
          </a:xfrm>
          <a:prstGeom prst="rect">
            <a:avLst/>
          </a:prstGeom>
          <a:noFill/>
          <a:ln/>
        </p:spPr>
        <p:txBody>
          <a:bodyPr wrap="square" lIns="0" tIns="0" rIns="0" bIns="0" rtlCol="0" anchor="t">
            <a:normAutofit/>
          </a:bodyPr>
          <a:lstStyle/>
          <a:p>
            <a:pPr marL="0" indent="0" algn="l">
              <a:lnSpc>
                <a:spcPts val="1400"/>
              </a:lnSpc>
              <a:buNone/>
            </a:pPr>
            <a:r>
              <a:rPr lang="en-US" sz="1000">
                <a:solidFill>
                  <a:srgbClr val="C7CBEA"/>
                </a:solidFill>
                <a:latin typeface="Nunito Sans" pitchFamily="34" charset="0"/>
                <a:ea typeface="Nunito Sans" pitchFamily="34" charset="-122"/>
                <a:cs typeface="Nunito Sans" pitchFamily="34" charset="-120"/>
              </a:rPr>
              <a:t>New guard sets and action schemas on the same lease machinery, no control-loop change</a:t>
            </a:r>
            <a:endParaRPr lang="en-US" sz="1000"/>
          </a:p>
        </p:txBody>
      </p:sp>
      <p:sp>
        <p:nvSpPr>
          <p:cNvPr id="10" name="Shape 7"/>
          <p:cNvSpPr/>
          <p:nvPr/>
        </p:nvSpPr>
        <p:spPr>
          <a:xfrm>
            <a:off x="2954635" y="2314476"/>
            <a:ext cx="2005360" cy="3524349"/>
          </a:xfrm>
          <a:prstGeom prst="roundRect">
            <a:avLst>
              <a:gd name="adj" fmla="val 6175"/>
            </a:avLst>
          </a:prstGeom>
          <a:solidFill>
            <a:srgbClr val="FFFFFF">
              <a:alpha val="7000"/>
            </a:srgbClr>
          </a:solidFill>
          <a:ln w="6350">
            <a:solidFill>
              <a:srgbClr val="FFFFFF">
                <a:alpha val="16000"/>
              </a:srgbClr>
            </a:solidFill>
            <a:prstDash val="solid"/>
          </a:ln>
        </p:spPr>
        <p:txBody>
          <a:bodyPr/>
          <a:lstStyle/>
          <a:p>
            <a:endParaRPr lang="en-US"/>
          </a:p>
        </p:txBody>
      </p:sp>
      <p:pic>
        <p:nvPicPr>
          <p:cNvPr id="11" name="Image 1" descr="Users"/>
          <p:cNvPicPr>
            <a:picLocks noChangeAspect="1"/>
          </p:cNvPicPr>
          <p:nvPr/>
        </p:nvPicPr>
        <p:blipFill>
          <a:blip r:embed="rId4"/>
          <a:srcRect/>
          <a:stretch/>
        </p:blipFill>
        <p:spPr>
          <a:xfrm>
            <a:off x="3122910" y="2520851"/>
            <a:ext cx="228600" cy="228600"/>
          </a:xfrm>
          <a:prstGeom prst="rect">
            <a:avLst/>
          </a:prstGeom>
        </p:spPr>
      </p:pic>
      <p:sp>
        <p:nvSpPr>
          <p:cNvPr id="12" name="Text 8"/>
          <p:cNvSpPr/>
          <p:nvPr/>
        </p:nvSpPr>
        <p:spPr>
          <a:xfrm>
            <a:off x="3122910" y="2838351"/>
            <a:ext cx="1719610" cy="452041"/>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FBFBF8"/>
                </a:solidFill>
                <a:latin typeface="Nunito Sans" pitchFamily="34" charset="0"/>
                <a:ea typeface="Nunito Sans" pitchFamily="34" charset="-122"/>
                <a:cs typeface="Nunito Sans" pitchFamily="34" charset="-120"/>
              </a:rPr>
              <a:t>A physical multi-robot fleet</a:t>
            </a:r>
            <a:endParaRPr lang="en-US" sz="1200"/>
          </a:p>
        </p:txBody>
      </p:sp>
      <p:sp>
        <p:nvSpPr>
          <p:cNvPr id="13" name="Text 9"/>
          <p:cNvSpPr/>
          <p:nvPr/>
        </p:nvSpPr>
        <p:spPr>
          <a:xfrm>
            <a:off x="3122910" y="3353891"/>
            <a:ext cx="1719610" cy="558800"/>
          </a:xfrm>
          <a:prstGeom prst="rect">
            <a:avLst/>
          </a:prstGeom>
          <a:noFill/>
          <a:ln/>
        </p:spPr>
        <p:txBody>
          <a:bodyPr wrap="square" lIns="0" tIns="0" rIns="0" bIns="0" rtlCol="0" anchor="t">
            <a:normAutofit/>
          </a:bodyPr>
          <a:lstStyle/>
          <a:p>
            <a:pPr marL="0" indent="0" algn="l">
              <a:lnSpc>
                <a:spcPts val="1400"/>
              </a:lnSpc>
              <a:buNone/>
            </a:pPr>
            <a:r>
              <a:rPr lang="en-US" sz="1000">
                <a:solidFill>
                  <a:srgbClr val="C7CBEA"/>
                </a:solidFill>
                <a:latin typeface="Nunito Sans" pitchFamily="34" charset="0"/>
                <a:ea typeface="Nunito Sans" pitchFamily="34" charset="-122"/>
                <a:cs typeface="Nunito Sans" pitchFamily="34" charset="-120"/>
              </a:rPr>
              <a:t>The lease plane is already load-tested against a synthetic fleet of 25</a:t>
            </a:r>
            <a:endParaRPr lang="en-US" sz="1000"/>
          </a:p>
        </p:txBody>
      </p:sp>
      <p:sp>
        <p:nvSpPr>
          <p:cNvPr id="14" name="Shape 10"/>
          <p:cNvSpPr/>
          <p:nvPr/>
        </p:nvSpPr>
        <p:spPr>
          <a:xfrm>
            <a:off x="5093345" y="2314476"/>
            <a:ext cx="2005310" cy="3524349"/>
          </a:xfrm>
          <a:prstGeom prst="roundRect">
            <a:avLst>
              <a:gd name="adj" fmla="val 6175"/>
            </a:avLst>
          </a:prstGeom>
          <a:solidFill>
            <a:srgbClr val="FFFFFF">
              <a:alpha val="7000"/>
            </a:srgbClr>
          </a:solidFill>
          <a:ln w="6350">
            <a:solidFill>
              <a:srgbClr val="FFFFFF">
                <a:alpha val="16000"/>
              </a:srgbClr>
            </a:solidFill>
            <a:prstDash val="solid"/>
          </a:ln>
        </p:spPr>
        <p:txBody>
          <a:bodyPr/>
          <a:lstStyle/>
          <a:p>
            <a:endParaRPr lang="en-US"/>
          </a:p>
        </p:txBody>
      </p:sp>
      <p:pic>
        <p:nvPicPr>
          <p:cNvPr id="15" name="Image 2" descr="Globe"/>
          <p:cNvPicPr>
            <a:picLocks noChangeAspect="1"/>
          </p:cNvPicPr>
          <p:nvPr/>
        </p:nvPicPr>
        <p:blipFill>
          <a:blip r:embed="rId5"/>
          <a:srcRect/>
          <a:stretch/>
        </p:blipFill>
        <p:spPr>
          <a:xfrm>
            <a:off x="5261620" y="2520851"/>
            <a:ext cx="228600" cy="228600"/>
          </a:xfrm>
          <a:prstGeom prst="rect">
            <a:avLst/>
          </a:prstGeom>
        </p:spPr>
      </p:pic>
      <p:sp>
        <p:nvSpPr>
          <p:cNvPr id="16" name="Text 11"/>
          <p:cNvSpPr/>
          <p:nvPr/>
        </p:nvSpPr>
        <p:spPr>
          <a:xfrm>
            <a:off x="5261620" y="2838351"/>
            <a:ext cx="1719560" cy="452041"/>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FBFBF8"/>
                </a:solidFill>
                <a:latin typeface="Nunito Sans" pitchFamily="34" charset="0"/>
                <a:ea typeface="Nunito Sans" pitchFamily="34" charset="-122"/>
                <a:cs typeface="Nunito Sans" pitchFamily="34" charset="-120"/>
              </a:rPr>
              <a:t>Other mobile platforms</a:t>
            </a:r>
            <a:endParaRPr lang="en-US" sz="1200"/>
          </a:p>
        </p:txBody>
      </p:sp>
      <p:sp>
        <p:nvSpPr>
          <p:cNvPr id="17" name="Text 12"/>
          <p:cNvSpPr/>
          <p:nvPr/>
        </p:nvSpPr>
        <p:spPr>
          <a:xfrm>
            <a:off x="5261620" y="3353891"/>
            <a:ext cx="1719560" cy="736600"/>
          </a:xfrm>
          <a:prstGeom prst="rect">
            <a:avLst/>
          </a:prstGeom>
          <a:noFill/>
          <a:ln/>
        </p:spPr>
        <p:txBody>
          <a:bodyPr wrap="square" lIns="0" tIns="0" rIns="0" bIns="0" rtlCol="0" anchor="t">
            <a:normAutofit/>
          </a:bodyPr>
          <a:lstStyle/>
          <a:p>
            <a:pPr marL="0" indent="0" algn="l">
              <a:lnSpc>
                <a:spcPts val="1400"/>
              </a:lnSpc>
              <a:buNone/>
            </a:pPr>
            <a:r>
              <a:rPr lang="en-US" sz="1000">
                <a:solidFill>
                  <a:srgbClr val="C7CBEA"/>
                </a:solidFill>
                <a:latin typeface="Nunito Sans" pitchFamily="34" charset="0"/>
                <a:ea typeface="Nunito Sans" pitchFamily="34" charset="-122"/>
                <a:cs typeface="Nunito Sans" pitchFamily="34" charset="-120"/>
              </a:rPr>
              <a:t>Any platform with a reflex / reactive / tactical / deliberative split — warehouse AMRs, drones</a:t>
            </a:r>
            <a:endParaRPr lang="en-US" sz="1000"/>
          </a:p>
        </p:txBody>
      </p:sp>
      <p:sp>
        <p:nvSpPr>
          <p:cNvPr id="18" name="Shape 13"/>
          <p:cNvSpPr/>
          <p:nvPr/>
        </p:nvSpPr>
        <p:spPr>
          <a:xfrm>
            <a:off x="7232005" y="2314476"/>
            <a:ext cx="2005360" cy="3524349"/>
          </a:xfrm>
          <a:prstGeom prst="roundRect">
            <a:avLst>
              <a:gd name="adj" fmla="val 6175"/>
            </a:avLst>
          </a:prstGeom>
          <a:solidFill>
            <a:srgbClr val="FFFFFF">
              <a:alpha val="7000"/>
            </a:srgbClr>
          </a:solidFill>
          <a:ln w="6350">
            <a:solidFill>
              <a:srgbClr val="FFFFFF">
                <a:alpha val="16000"/>
              </a:srgbClr>
            </a:solidFill>
            <a:prstDash val="solid"/>
          </a:ln>
        </p:spPr>
        <p:txBody>
          <a:bodyPr/>
          <a:lstStyle/>
          <a:p>
            <a:endParaRPr lang="en-US"/>
          </a:p>
        </p:txBody>
      </p:sp>
      <p:pic>
        <p:nvPicPr>
          <p:cNvPr id="19" name="Image 3" descr="Lock"/>
          <p:cNvPicPr>
            <a:picLocks noChangeAspect="1"/>
          </p:cNvPicPr>
          <p:nvPr/>
        </p:nvPicPr>
        <p:blipFill>
          <a:blip r:embed="rId6"/>
          <a:srcRect/>
          <a:stretch/>
        </p:blipFill>
        <p:spPr>
          <a:xfrm>
            <a:off x="7400280" y="2520851"/>
            <a:ext cx="228600" cy="228600"/>
          </a:xfrm>
          <a:prstGeom prst="rect">
            <a:avLst/>
          </a:prstGeom>
        </p:spPr>
      </p:pic>
      <p:sp>
        <p:nvSpPr>
          <p:cNvPr id="20" name="Text 14"/>
          <p:cNvSpPr/>
          <p:nvPr/>
        </p:nvSpPr>
        <p:spPr>
          <a:xfrm>
            <a:off x="7400280" y="2838351"/>
            <a:ext cx="1719610" cy="452041"/>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FBFBF8"/>
                </a:solidFill>
                <a:latin typeface="Nunito Sans" pitchFamily="34" charset="0"/>
                <a:ea typeface="Nunito Sans" pitchFamily="34" charset="-122"/>
                <a:cs typeface="Nunito Sans" pitchFamily="34" charset="-120"/>
              </a:rPr>
              <a:t>A safety-certification path</a:t>
            </a:r>
            <a:endParaRPr lang="en-US" sz="1200"/>
          </a:p>
        </p:txBody>
      </p:sp>
      <p:sp>
        <p:nvSpPr>
          <p:cNvPr id="21" name="Text 15"/>
          <p:cNvSpPr/>
          <p:nvPr/>
        </p:nvSpPr>
        <p:spPr>
          <a:xfrm>
            <a:off x="7400280" y="3353891"/>
            <a:ext cx="1719610" cy="558800"/>
          </a:xfrm>
          <a:prstGeom prst="rect">
            <a:avLst/>
          </a:prstGeom>
          <a:noFill/>
          <a:ln/>
        </p:spPr>
        <p:txBody>
          <a:bodyPr wrap="square" lIns="0" tIns="0" rIns="0" bIns="0" rtlCol="0" anchor="t">
            <a:normAutofit/>
          </a:bodyPr>
          <a:lstStyle/>
          <a:p>
            <a:pPr marL="0" indent="0" algn="l">
              <a:lnSpc>
                <a:spcPts val="1400"/>
              </a:lnSpc>
              <a:buNone/>
            </a:pPr>
            <a:r>
              <a:rPr lang="en-US" sz="1000">
                <a:solidFill>
                  <a:srgbClr val="C7CBEA"/>
                </a:solidFill>
                <a:latin typeface="Nunito Sans" pitchFamily="34" charset="0"/>
                <a:ea typeface="Nunito Sans" pitchFamily="34" charset="-122"/>
                <a:cs typeface="Nunito Sans" pitchFamily="34" charset="-120"/>
              </a:rPr>
              <a:t>Once E6 / E8's safety-floor and red-team evidence is established</a:t>
            </a:r>
            <a:endParaRPr lang="en-US" sz="1000"/>
          </a:p>
        </p:txBody>
      </p:sp>
      <p:sp>
        <p:nvSpPr>
          <p:cNvPr id="22" name="Shape 16"/>
          <p:cNvSpPr/>
          <p:nvPr/>
        </p:nvSpPr>
        <p:spPr>
          <a:xfrm>
            <a:off x="9370715" y="2314476"/>
            <a:ext cx="2005310" cy="3524349"/>
          </a:xfrm>
          <a:prstGeom prst="roundRect">
            <a:avLst>
              <a:gd name="adj" fmla="val 6175"/>
            </a:avLst>
          </a:prstGeom>
          <a:solidFill>
            <a:srgbClr val="FFFFFF">
              <a:alpha val="7000"/>
            </a:srgbClr>
          </a:solidFill>
          <a:ln w="6350">
            <a:solidFill>
              <a:srgbClr val="FFFFFF">
                <a:alpha val="16000"/>
              </a:srgbClr>
            </a:solidFill>
            <a:prstDash val="solid"/>
          </a:ln>
        </p:spPr>
        <p:txBody>
          <a:bodyPr/>
          <a:lstStyle/>
          <a:p>
            <a:endParaRPr lang="en-US"/>
          </a:p>
        </p:txBody>
      </p:sp>
      <p:pic>
        <p:nvPicPr>
          <p:cNvPr id="23" name="Image 4" descr="Cloud"/>
          <p:cNvPicPr>
            <a:picLocks noChangeAspect="1"/>
          </p:cNvPicPr>
          <p:nvPr/>
        </p:nvPicPr>
        <p:blipFill>
          <a:blip r:embed="rId7"/>
          <a:srcRect/>
          <a:stretch/>
        </p:blipFill>
        <p:spPr>
          <a:xfrm>
            <a:off x="9538990" y="2520851"/>
            <a:ext cx="228600" cy="228600"/>
          </a:xfrm>
          <a:prstGeom prst="rect">
            <a:avLst/>
          </a:prstGeom>
        </p:spPr>
      </p:pic>
      <p:sp>
        <p:nvSpPr>
          <p:cNvPr id="24" name="Text 17"/>
          <p:cNvSpPr/>
          <p:nvPr/>
        </p:nvSpPr>
        <p:spPr>
          <a:xfrm>
            <a:off x="9538990" y="2838351"/>
            <a:ext cx="1719560" cy="452041"/>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FBFBF8"/>
                </a:solidFill>
                <a:latin typeface="Nunito Sans" pitchFamily="34" charset="0"/>
                <a:ea typeface="Nunito Sans" pitchFamily="34" charset="-122"/>
                <a:cs typeface="Nunito Sans" pitchFamily="34" charset="-120"/>
              </a:rPr>
              <a:t>A multi-tenant cloud service</a:t>
            </a:r>
            <a:endParaRPr lang="en-US" sz="1200"/>
          </a:p>
        </p:txBody>
      </p:sp>
      <p:sp>
        <p:nvSpPr>
          <p:cNvPr id="25" name="Text 18"/>
          <p:cNvSpPr/>
          <p:nvPr/>
        </p:nvSpPr>
        <p:spPr>
          <a:xfrm>
            <a:off x="9538990" y="3353891"/>
            <a:ext cx="1719560" cy="558800"/>
          </a:xfrm>
          <a:prstGeom prst="rect">
            <a:avLst/>
          </a:prstGeom>
          <a:noFill/>
          <a:ln/>
        </p:spPr>
        <p:txBody>
          <a:bodyPr wrap="square" lIns="0" tIns="0" rIns="0" bIns="0" rtlCol="0" anchor="t">
            <a:normAutofit/>
          </a:bodyPr>
          <a:lstStyle/>
          <a:p>
            <a:pPr marL="0" indent="0" algn="l">
              <a:lnSpc>
                <a:spcPts val="1400"/>
              </a:lnSpc>
              <a:buNone/>
            </a:pPr>
            <a:r>
              <a:rPr lang="en-US" sz="1000">
                <a:solidFill>
                  <a:srgbClr val="C7CBEA"/>
                </a:solidFill>
                <a:latin typeface="Nunito Sans" pitchFamily="34" charset="0"/>
                <a:ea typeface="Nunito Sans" pitchFamily="34" charset="-122"/>
                <a:cs typeface="Nunito Sans" pitchFamily="34" charset="-120"/>
              </a:rPr>
              <a:t>Beyond a single AWS account — per-tenant isolation and billing</a:t>
            </a:r>
            <a:endParaRPr lang="en-US" sz="1000"/>
          </a:p>
        </p:txBody>
      </p:sp>
      <p:sp>
        <p:nvSpPr>
          <p:cNvPr id="26" name="Text 19"/>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9CA1C9"/>
                </a:solidFill>
                <a:latin typeface="Nunito Sans" pitchFamily="34" charset="0"/>
                <a:ea typeface="Nunito Sans" pitchFamily="34" charset="-122"/>
                <a:cs typeface="Nunito Sans" pitchFamily="34" charset="-120"/>
              </a:rPr>
              <a:t>Nimbus</a:t>
            </a:r>
            <a:endParaRPr lang="en-US" sz="1200"/>
          </a:p>
        </p:txBody>
      </p:sp>
      <p:sp>
        <p:nvSpPr>
          <p:cNvPr id="27" name="Text 20"/>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9CA1C9"/>
                </a:solidFill>
                <a:latin typeface="Nunito Sans" pitchFamily="34" charset="0"/>
                <a:ea typeface="Nunito Sans" pitchFamily="34" charset="-122"/>
                <a:cs typeface="Nunito Sans" pitchFamily="34" charset="-120"/>
              </a:rPr>
              <a:t>12 / 17</a:t>
            </a:r>
            <a:endParaRPr 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3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163B"/>
              </a:gs>
              <a:gs pos="100000">
                <a:srgbClr val="1E2150"/>
              </a:gs>
            </a:gsLst>
            <a:lin ang="3000000" scaled="0"/>
          </a:gradFill>
          <a:ln/>
        </p:spPr>
        <p:txBody>
          <a:bodyPr/>
          <a:lstStyle/>
          <a:p>
            <a:endParaRPr lang="en-US"/>
          </a:p>
        </p:txBody>
      </p:sp>
      <p:sp>
        <p:nvSpPr>
          <p:cNvPr id="3" name="Text 1"/>
          <p:cNvSpPr/>
          <p:nvPr/>
        </p:nvSpPr>
        <p:spPr>
          <a:xfrm>
            <a:off x="812800" y="812800"/>
            <a:ext cx="10883392" cy="220960"/>
          </a:xfrm>
          <a:prstGeom prst="rect">
            <a:avLst/>
          </a:prstGeom>
          <a:noFill/>
          <a:ln/>
        </p:spPr>
        <p:txBody>
          <a:bodyPr wrap="square" lIns="0" tIns="0" rIns="0" bIns="0" rtlCol="0" anchor="t">
            <a:normAutofit/>
          </a:bodyPr>
          <a:lstStyle/>
          <a:p>
            <a:pPr marL="0" indent="0" algn="l">
              <a:lnSpc>
                <a:spcPts val="1540"/>
              </a:lnSpc>
              <a:buNone/>
            </a:pPr>
            <a:r>
              <a:rPr lang="en-US" sz="1100" b="1" kern="0" spc="100">
                <a:solidFill>
                  <a:srgbClr val="5EEBD9"/>
                </a:solidFill>
                <a:latin typeface="Nunito Sans" pitchFamily="34" charset="0"/>
                <a:ea typeface="Nunito Sans" pitchFamily="34" charset="-122"/>
                <a:cs typeface="Nunito Sans" pitchFamily="34" charset="-120"/>
              </a:rPr>
              <a:t>WHAT WE ENVISION</a:t>
            </a:r>
            <a:endParaRPr lang="en-US" sz="1100"/>
          </a:p>
        </p:txBody>
      </p:sp>
      <p:sp>
        <p:nvSpPr>
          <p:cNvPr id="4" name="Text 2"/>
          <p:cNvSpPr/>
          <p:nvPr/>
        </p:nvSpPr>
        <p:spPr>
          <a:xfrm>
            <a:off x="812800" y="1097260"/>
            <a:ext cx="10791825" cy="419695"/>
          </a:xfrm>
          <a:prstGeom prst="rect">
            <a:avLst/>
          </a:prstGeom>
          <a:noFill/>
          <a:ln/>
        </p:spPr>
        <p:txBody>
          <a:bodyPr wrap="square" lIns="0" tIns="0" rIns="0" bIns="0" rtlCol="0" anchor="t">
            <a:normAutofit/>
          </a:bodyPr>
          <a:lstStyle/>
          <a:p>
            <a:pPr marL="0" indent="0" algn="l">
              <a:lnSpc>
                <a:spcPts val="3105"/>
              </a:lnSpc>
              <a:buNone/>
            </a:pPr>
            <a:r>
              <a:rPr lang="en-US" sz="2700" b="1">
                <a:solidFill>
                  <a:srgbClr val="FBFBF8"/>
                </a:solidFill>
                <a:latin typeface="Rubik" pitchFamily="34" charset="0"/>
                <a:ea typeface="Rubik" pitchFamily="34" charset="-122"/>
                <a:cs typeface="Rubik" pitchFamily="34" charset="-120"/>
              </a:rPr>
              <a:t>Different errands, one question: why even the cloud?</a:t>
            </a:r>
            <a:endParaRPr lang="en-US" sz="2700"/>
          </a:p>
        </p:txBody>
      </p:sp>
      <p:sp>
        <p:nvSpPr>
          <p:cNvPr id="5" name="Text 3"/>
          <p:cNvSpPr/>
          <p:nvPr/>
        </p:nvSpPr>
        <p:spPr>
          <a:xfrm>
            <a:off x="812800" y="1580455"/>
            <a:ext cx="981075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C7CBEA"/>
                </a:solidFill>
                <a:latin typeface="Nunito Sans" pitchFamily="34" charset="0"/>
                <a:ea typeface="Nunito Sans" pitchFamily="34" charset="-122"/>
                <a:cs typeface="Nunito Sans" pitchFamily="34" charset="-120"/>
              </a:rPr>
              <a:t>Same lease machinery throughout — what changes is how much of the errand only a real language model can work out</a:t>
            </a:r>
            <a:endParaRPr lang="en-US" sz="1200"/>
          </a:p>
        </p:txBody>
      </p:sp>
      <p:sp>
        <p:nvSpPr>
          <p:cNvPr id="6" name="Shape 4"/>
          <p:cNvSpPr/>
          <p:nvPr/>
        </p:nvSpPr>
        <p:spPr>
          <a:xfrm>
            <a:off x="815975" y="2000151"/>
            <a:ext cx="2540000" cy="2853234"/>
          </a:xfrm>
          <a:prstGeom prst="roundRect">
            <a:avLst>
              <a:gd name="adj" fmla="val 4875"/>
            </a:avLst>
          </a:prstGeom>
          <a:solidFill>
            <a:srgbClr val="FFFFFF">
              <a:alpha val="7000"/>
            </a:srgbClr>
          </a:solidFill>
          <a:ln w="6350">
            <a:solidFill>
              <a:srgbClr val="FFFFFF">
                <a:alpha val="16000"/>
              </a:srgbClr>
            </a:solidFill>
            <a:prstDash val="solid"/>
          </a:ln>
        </p:spPr>
        <p:txBody>
          <a:bodyPr/>
          <a:lstStyle/>
          <a:p>
            <a:endParaRPr lang="en-US"/>
          </a:p>
        </p:txBody>
      </p:sp>
      <p:sp>
        <p:nvSpPr>
          <p:cNvPr id="7" name="Shape 5"/>
          <p:cNvSpPr/>
          <p:nvPr/>
        </p:nvSpPr>
        <p:spPr>
          <a:xfrm>
            <a:off x="984250" y="2193826"/>
            <a:ext cx="1010841" cy="279400"/>
          </a:xfrm>
          <a:prstGeom prst="roundRect">
            <a:avLst>
              <a:gd name="adj" fmla="val 50000"/>
            </a:avLst>
          </a:prstGeom>
          <a:solidFill>
            <a:srgbClr val="5EEBD9">
              <a:alpha val="14000"/>
            </a:srgbClr>
          </a:solidFill>
          <a:ln/>
        </p:spPr>
        <p:txBody>
          <a:bodyPr/>
          <a:lstStyle/>
          <a:p>
            <a:endParaRPr lang="en-US"/>
          </a:p>
        </p:txBody>
      </p:sp>
      <p:sp>
        <p:nvSpPr>
          <p:cNvPr id="8" name="Text 6"/>
          <p:cNvSpPr/>
          <p:nvPr/>
        </p:nvSpPr>
        <p:spPr>
          <a:xfrm>
            <a:off x="1085850" y="2244626"/>
            <a:ext cx="858441"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NAVIGATION</a:t>
            </a:r>
            <a:endParaRPr lang="en-US" sz="1000"/>
          </a:p>
        </p:txBody>
      </p:sp>
      <p:sp>
        <p:nvSpPr>
          <p:cNvPr id="9" name="Text 7"/>
          <p:cNvSpPr/>
          <p:nvPr/>
        </p:nvSpPr>
        <p:spPr>
          <a:xfrm>
            <a:off x="984250" y="2562126"/>
            <a:ext cx="2269554" cy="215255"/>
          </a:xfrm>
          <a:prstGeom prst="rect">
            <a:avLst/>
          </a:prstGeom>
          <a:noFill/>
          <a:ln/>
        </p:spPr>
        <p:txBody>
          <a:bodyPr wrap="square" lIns="0" tIns="0" rIns="0" bIns="0" rtlCol="0" anchor="t">
            <a:normAutofit/>
          </a:bodyPr>
          <a:lstStyle/>
          <a:p>
            <a:pPr marL="0" indent="0" algn="l">
              <a:lnSpc>
                <a:spcPts val="1495"/>
              </a:lnSpc>
              <a:buNone/>
            </a:pPr>
            <a:r>
              <a:rPr lang="en-US" sz="1150" b="1">
                <a:solidFill>
                  <a:srgbClr val="FBFBF8"/>
                </a:solidFill>
                <a:latin typeface="Nunito Sans" pitchFamily="34" charset="0"/>
                <a:ea typeface="Nunito Sans" pitchFamily="34" charset="-122"/>
                <a:cs typeface="Nunito Sans" pitchFamily="34" charset="-120"/>
              </a:rPr>
              <a:t>“Bench 2 to Bench 5”</a:t>
            </a:r>
            <a:endParaRPr lang="en-US" sz="1150"/>
          </a:p>
        </p:txBody>
      </p:sp>
      <p:sp>
        <p:nvSpPr>
          <p:cNvPr id="10" name="Text 8"/>
          <p:cNvSpPr/>
          <p:nvPr/>
        </p:nvSpPr>
        <p:spPr>
          <a:xfrm>
            <a:off x="984250" y="2840881"/>
            <a:ext cx="2269554" cy="363141"/>
          </a:xfrm>
          <a:prstGeom prst="rect">
            <a:avLst/>
          </a:prstGeom>
          <a:noFill/>
          <a:ln/>
        </p:spPr>
        <p:txBody>
          <a:bodyPr wrap="square" lIns="0" tIns="0" rIns="0" bIns="0" rtlCol="0" anchor="t">
            <a:normAutofit/>
          </a:bodyPr>
          <a:lstStyle/>
          <a:p>
            <a:pPr marL="0" indent="0" algn="l">
              <a:lnSpc>
                <a:spcPts val="1330"/>
              </a:lnSpc>
              <a:buNone/>
            </a:pPr>
            <a:r>
              <a:rPr lang="en-US" sz="950">
                <a:solidFill>
                  <a:srgbClr val="C7CBEA"/>
                </a:solidFill>
                <a:latin typeface="Nunito Sans" pitchFamily="34" charset="0"/>
                <a:ea typeface="Nunito Sans" pitchFamily="34" charset="-122"/>
                <a:cs typeface="Nunito Sans" pitchFamily="34" charset="-120"/>
              </a:rPr>
              <a:t>A fixed pickup and a fixed drop — the tactical SLM handles almost all of it</a:t>
            </a:r>
            <a:endParaRPr lang="en-US" sz="950"/>
          </a:p>
        </p:txBody>
      </p:sp>
      <p:sp>
        <p:nvSpPr>
          <p:cNvPr id="11" name="Text 9"/>
          <p:cNvSpPr/>
          <p:nvPr/>
        </p:nvSpPr>
        <p:spPr>
          <a:xfrm>
            <a:off x="984250" y="4406999"/>
            <a:ext cx="2269554" cy="176510"/>
          </a:xfrm>
          <a:prstGeom prst="rect">
            <a:avLst/>
          </a:prstGeom>
          <a:noFill/>
          <a:ln/>
        </p:spPr>
        <p:txBody>
          <a:bodyPr wrap="square" lIns="0" tIns="0" rIns="0" bIns="0" rtlCol="0" anchor="t">
            <a:normAutofit/>
          </a:bodyPr>
          <a:lstStyle/>
          <a:p>
            <a:pPr marL="0" indent="0" algn="l">
              <a:lnSpc>
                <a:spcPts val="1190"/>
              </a:lnSpc>
              <a:buNone/>
            </a:pPr>
            <a:r>
              <a:rPr lang="en-US" sz="850" b="1" kern="0" spc="50">
                <a:solidFill>
                  <a:srgbClr val="9CA1C9"/>
                </a:solidFill>
                <a:latin typeface="Nunito Sans" pitchFamily="34" charset="0"/>
                <a:ea typeface="Nunito Sans" pitchFamily="34" charset="-122"/>
                <a:cs typeface="Nunito Sans" pitchFamily="34" charset="-120"/>
              </a:rPr>
              <a:t>REASONING NEEDED</a:t>
            </a:r>
            <a:endParaRPr lang="en-US" sz="850"/>
          </a:p>
        </p:txBody>
      </p:sp>
      <p:sp>
        <p:nvSpPr>
          <p:cNvPr id="12" name="Shape 10"/>
          <p:cNvSpPr/>
          <p:nvPr/>
        </p:nvSpPr>
        <p:spPr>
          <a:xfrm>
            <a:off x="984250" y="4596209"/>
            <a:ext cx="531813" cy="63500"/>
          </a:xfrm>
          <a:prstGeom prst="roundRect">
            <a:avLst>
              <a:gd name="adj" fmla="val 50000"/>
            </a:avLst>
          </a:prstGeom>
          <a:solidFill>
            <a:srgbClr val="5EEBD9"/>
          </a:solidFill>
          <a:ln/>
        </p:spPr>
        <p:txBody>
          <a:bodyPr/>
          <a:lstStyle/>
          <a:p>
            <a:endParaRPr lang="en-US"/>
          </a:p>
        </p:txBody>
      </p:sp>
      <p:sp>
        <p:nvSpPr>
          <p:cNvPr id="13" name="Shape 11"/>
          <p:cNvSpPr/>
          <p:nvPr/>
        </p:nvSpPr>
        <p:spPr>
          <a:xfrm>
            <a:off x="1541463" y="4596209"/>
            <a:ext cx="531813" cy="63500"/>
          </a:xfrm>
          <a:prstGeom prst="roundRect">
            <a:avLst>
              <a:gd name="adj" fmla="val 50000"/>
            </a:avLst>
          </a:prstGeom>
          <a:solidFill>
            <a:srgbClr val="FFFFFF">
              <a:alpha val="14000"/>
            </a:srgbClr>
          </a:solidFill>
          <a:ln/>
        </p:spPr>
        <p:txBody>
          <a:bodyPr/>
          <a:lstStyle/>
          <a:p>
            <a:endParaRPr lang="en-US"/>
          </a:p>
        </p:txBody>
      </p:sp>
      <p:sp>
        <p:nvSpPr>
          <p:cNvPr id="14" name="Shape 12"/>
          <p:cNvSpPr/>
          <p:nvPr/>
        </p:nvSpPr>
        <p:spPr>
          <a:xfrm>
            <a:off x="2098675" y="4596209"/>
            <a:ext cx="531813" cy="63500"/>
          </a:xfrm>
          <a:prstGeom prst="roundRect">
            <a:avLst>
              <a:gd name="adj" fmla="val 50000"/>
            </a:avLst>
          </a:prstGeom>
          <a:solidFill>
            <a:srgbClr val="FFFFFF">
              <a:alpha val="14000"/>
            </a:srgbClr>
          </a:solidFill>
          <a:ln/>
        </p:spPr>
        <p:txBody>
          <a:bodyPr/>
          <a:lstStyle/>
          <a:p>
            <a:endParaRPr lang="en-US"/>
          </a:p>
        </p:txBody>
      </p:sp>
      <p:sp>
        <p:nvSpPr>
          <p:cNvPr id="15" name="Shape 13"/>
          <p:cNvSpPr/>
          <p:nvPr/>
        </p:nvSpPr>
        <p:spPr>
          <a:xfrm>
            <a:off x="2655888" y="4596209"/>
            <a:ext cx="531813" cy="63500"/>
          </a:xfrm>
          <a:prstGeom prst="roundRect">
            <a:avLst>
              <a:gd name="adj" fmla="val 50000"/>
            </a:avLst>
          </a:prstGeom>
          <a:solidFill>
            <a:srgbClr val="FFFFFF">
              <a:alpha val="14000"/>
            </a:srgbClr>
          </a:solidFill>
          <a:ln/>
        </p:spPr>
        <p:txBody>
          <a:bodyPr/>
          <a:lstStyle/>
          <a:p>
            <a:endParaRPr lang="en-US"/>
          </a:p>
        </p:txBody>
      </p:sp>
      <p:sp>
        <p:nvSpPr>
          <p:cNvPr id="16" name="Shape 14"/>
          <p:cNvSpPr/>
          <p:nvPr/>
        </p:nvSpPr>
        <p:spPr>
          <a:xfrm>
            <a:off x="3489325" y="2000151"/>
            <a:ext cx="2540000" cy="2853234"/>
          </a:xfrm>
          <a:prstGeom prst="roundRect">
            <a:avLst>
              <a:gd name="adj" fmla="val 4875"/>
            </a:avLst>
          </a:prstGeom>
          <a:solidFill>
            <a:srgbClr val="FFFFFF">
              <a:alpha val="7000"/>
            </a:srgbClr>
          </a:solidFill>
          <a:ln w="6350">
            <a:solidFill>
              <a:srgbClr val="FFFFFF">
                <a:alpha val="16000"/>
              </a:srgbClr>
            </a:solidFill>
            <a:prstDash val="solid"/>
          </a:ln>
        </p:spPr>
        <p:txBody>
          <a:bodyPr/>
          <a:lstStyle/>
          <a:p>
            <a:endParaRPr lang="en-US"/>
          </a:p>
        </p:txBody>
      </p:sp>
      <p:sp>
        <p:nvSpPr>
          <p:cNvPr id="17" name="Shape 15"/>
          <p:cNvSpPr/>
          <p:nvPr/>
        </p:nvSpPr>
        <p:spPr>
          <a:xfrm>
            <a:off x="3657600" y="2193826"/>
            <a:ext cx="1346696" cy="279400"/>
          </a:xfrm>
          <a:prstGeom prst="roundRect">
            <a:avLst>
              <a:gd name="adj" fmla="val 50000"/>
            </a:avLst>
          </a:prstGeom>
          <a:solidFill>
            <a:srgbClr val="5EEBD9">
              <a:alpha val="14000"/>
            </a:srgbClr>
          </a:solidFill>
          <a:ln/>
        </p:spPr>
        <p:txBody>
          <a:bodyPr/>
          <a:lstStyle/>
          <a:p>
            <a:endParaRPr lang="en-US"/>
          </a:p>
        </p:txBody>
      </p:sp>
      <p:sp>
        <p:nvSpPr>
          <p:cNvPr id="18" name="Text 16"/>
          <p:cNvSpPr/>
          <p:nvPr/>
        </p:nvSpPr>
        <p:spPr>
          <a:xfrm>
            <a:off x="3759200" y="2244626"/>
            <a:ext cx="1194296"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FR-14 · REMINDER</a:t>
            </a:r>
            <a:endParaRPr lang="en-US" sz="1000"/>
          </a:p>
        </p:txBody>
      </p:sp>
      <p:sp>
        <p:nvSpPr>
          <p:cNvPr id="19" name="Text 17"/>
          <p:cNvSpPr/>
          <p:nvPr/>
        </p:nvSpPr>
        <p:spPr>
          <a:xfrm>
            <a:off x="3657600" y="2562126"/>
            <a:ext cx="2269554" cy="405110"/>
          </a:xfrm>
          <a:prstGeom prst="rect">
            <a:avLst/>
          </a:prstGeom>
          <a:noFill/>
          <a:ln/>
        </p:spPr>
        <p:txBody>
          <a:bodyPr wrap="square" lIns="0" tIns="0" rIns="0" bIns="0" rtlCol="0" anchor="t">
            <a:normAutofit/>
          </a:bodyPr>
          <a:lstStyle/>
          <a:p>
            <a:pPr marL="0" indent="0" algn="l">
              <a:lnSpc>
                <a:spcPts val="1495"/>
              </a:lnSpc>
              <a:buNone/>
            </a:pPr>
            <a:r>
              <a:rPr lang="en-US" sz="1150" b="1">
                <a:solidFill>
                  <a:srgbClr val="FBFBF8"/>
                </a:solidFill>
                <a:latin typeface="Nunito Sans" pitchFamily="34" charset="0"/>
                <a:ea typeface="Nunito Sans" pitchFamily="34" charset="-122"/>
                <a:cs typeface="Nunito Sans" pitchFamily="34" charset="-120"/>
              </a:rPr>
              <a:t>“Tell Dr. Rao at his desk about the 3pm meeting”</a:t>
            </a:r>
            <a:endParaRPr lang="en-US" sz="1150"/>
          </a:p>
        </p:txBody>
      </p:sp>
      <p:sp>
        <p:nvSpPr>
          <p:cNvPr id="20" name="Text 18"/>
          <p:cNvSpPr/>
          <p:nvPr/>
        </p:nvSpPr>
        <p:spPr>
          <a:xfrm>
            <a:off x="3657600" y="3030736"/>
            <a:ext cx="2269554" cy="363141"/>
          </a:xfrm>
          <a:prstGeom prst="rect">
            <a:avLst/>
          </a:prstGeom>
          <a:noFill/>
          <a:ln/>
        </p:spPr>
        <p:txBody>
          <a:bodyPr wrap="square" lIns="0" tIns="0" rIns="0" bIns="0" rtlCol="0" anchor="t">
            <a:normAutofit/>
          </a:bodyPr>
          <a:lstStyle/>
          <a:p>
            <a:pPr marL="0" indent="0" algn="l">
              <a:lnSpc>
                <a:spcPts val="1330"/>
              </a:lnSpc>
              <a:buNone/>
            </a:pPr>
            <a:r>
              <a:rPr lang="en-US" sz="950">
                <a:solidFill>
                  <a:srgbClr val="C7CBEA"/>
                </a:solidFill>
                <a:latin typeface="Nunito Sans" pitchFamily="34" charset="0"/>
                <a:ea typeface="Nunito Sans" pitchFamily="34" charset="-122"/>
                <a:cs typeface="Nunito Sans" pitchFamily="34" charset="-120"/>
              </a:rPr>
              <a:t>Cloud resolves “Dr. Rao’s desk” to a marker and composes the message once</a:t>
            </a:r>
            <a:endParaRPr lang="en-US" sz="950"/>
          </a:p>
        </p:txBody>
      </p:sp>
      <p:sp>
        <p:nvSpPr>
          <p:cNvPr id="21" name="Text 19"/>
          <p:cNvSpPr/>
          <p:nvPr/>
        </p:nvSpPr>
        <p:spPr>
          <a:xfrm>
            <a:off x="3657600" y="4406999"/>
            <a:ext cx="2269554" cy="176510"/>
          </a:xfrm>
          <a:prstGeom prst="rect">
            <a:avLst/>
          </a:prstGeom>
          <a:noFill/>
          <a:ln/>
        </p:spPr>
        <p:txBody>
          <a:bodyPr wrap="square" lIns="0" tIns="0" rIns="0" bIns="0" rtlCol="0" anchor="t">
            <a:normAutofit/>
          </a:bodyPr>
          <a:lstStyle/>
          <a:p>
            <a:pPr marL="0" indent="0" algn="l">
              <a:lnSpc>
                <a:spcPts val="1190"/>
              </a:lnSpc>
              <a:buNone/>
            </a:pPr>
            <a:r>
              <a:rPr lang="en-US" sz="850" b="1" kern="0" spc="50">
                <a:solidFill>
                  <a:srgbClr val="9CA1C9"/>
                </a:solidFill>
                <a:latin typeface="Nunito Sans" pitchFamily="34" charset="0"/>
                <a:ea typeface="Nunito Sans" pitchFamily="34" charset="-122"/>
                <a:cs typeface="Nunito Sans" pitchFamily="34" charset="-120"/>
              </a:rPr>
              <a:t>REASONING NEEDED</a:t>
            </a:r>
            <a:endParaRPr lang="en-US" sz="850"/>
          </a:p>
        </p:txBody>
      </p:sp>
      <p:sp>
        <p:nvSpPr>
          <p:cNvPr id="22" name="Shape 20"/>
          <p:cNvSpPr/>
          <p:nvPr/>
        </p:nvSpPr>
        <p:spPr>
          <a:xfrm>
            <a:off x="3657600" y="4596209"/>
            <a:ext cx="531813" cy="63500"/>
          </a:xfrm>
          <a:prstGeom prst="roundRect">
            <a:avLst>
              <a:gd name="adj" fmla="val 50000"/>
            </a:avLst>
          </a:prstGeom>
          <a:solidFill>
            <a:srgbClr val="8B7CF6"/>
          </a:solidFill>
          <a:ln/>
        </p:spPr>
        <p:txBody>
          <a:bodyPr/>
          <a:lstStyle/>
          <a:p>
            <a:endParaRPr lang="en-US"/>
          </a:p>
        </p:txBody>
      </p:sp>
      <p:sp>
        <p:nvSpPr>
          <p:cNvPr id="23" name="Shape 21"/>
          <p:cNvSpPr/>
          <p:nvPr/>
        </p:nvSpPr>
        <p:spPr>
          <a:xfrm>
            <a:off x="4214813" y="4596209"/>
            <a:ext cx="531813" cy="63500"/>
          </a:xfrm>
          <a:prstGeom prst="roundRect">
            <a:avLst>
              <a:gd name="adj" fmla="val 50000"/>
            </a:avLst>
          </a:prstGeom>
          <a:solidFill>
            <a:srgbClr val="8B7CF6"/>
          </a:solidFill>
          <a:ln/>
        </p:spPr>
        <p:txBody>
          <a:bodyPr/>
          <a:lstStyle/>
          <a:p>
            <a:endParaRPr lang="en-US"/>
          </a:p>
        </p:txBody>
      </p:sp>
      <p:sp>
        <p:nvSpPr>
          <p:cNvPr id="24" name="Shape 22"/>
          <p:cNvSpPr/>
          <p:nvPr/>
        </p:nvSpPr>
        <p:spPr>
          <a:xfrm>
            <a:off x="4772025" y="4596209"/>
            <a:ext cx="531813" cy="63500"/>
          </a:xfrm>
          <a:prstGeom prst="roundRect">
            <a:avLst>
              <a:gd name="adj" fmla="val 50000"/>
            </a:avLst>
          </a:prstGeom>
          <a:solidFill>
            <a:srgbClr val="FFFFFF">
              <a:alpha val="14000"/>
            </a:srgbClr>
          </a:solidFill>
          <a:ln/>
        </p:spPr>
        <p:txBody>
          <a:bodyPr/>
          <a:lstStyle/>
          <a:p>
            <a:endParaRPr lang="en-US"/>
          </a:p>
        </p:txBody>
      </p:sp>
      <p:sp>
        <p:nvSpPr>
          <p:cNvPr id="25" name="Shape 23"/>
          <p:cNvSpPr/>
          <p:nvPr/>
        </p:nvSpPr>
        <p:spPr>
          <a:xfrm>
            <a:off x="5329238" y="4596209"/>
            <a:ext cx="531813" cy="63500"/>
          </a:xfrm>
          <a:prstGeom prst="roundRect">
            <a:avLst>
              <a:gd name="adj" fmla="val 50000"/>
            </a:avLst>
          </a:prstGeom>
          <a:solidFill>
            <a:srgbClr val="FFFFFF">
              <a:alpha val="14000"/>
            </a:srgbClr>
          </a:solidFill>
          <a:ln/>
        </p:spPr>
        <p:txBody>
          <a:bodyPr/>
          <a:lstStyle/>
          <a:p>
            <a:endParaRPr lang="en-US"/>
          </a:p>
        </p:txBody>
      </p:sp>
      <p:sp>
        <p:nvSpPr>
          <p:cNvPr id="26" name="Shape 24"/>
          <p:cNvSpPr/>
          <p:nvPr/>
        </p:nvSpPr>
        <p:spPr>
          <a:xfrm>
            <a:off x="6162675" y="2000151"/>
            <a:ext cx="2540000" cy="2853234"/>
          </a:xfrm>
          <a:prstGeom prst="roundRect">
            <a:avLst>
              <a:gd name="adj" fmla="val 4875"/>
            </a:avLst>
          </a:prstGeom>
          <a:solidFill>
            <a:srgbClr val="FFFFFF">
              <a:alpha val="7000"/>
            </a:srgbClr>
          </a:solidFill>
          <a:ln w="6350">
            <a:solidFill>
              <a:srgbClr val="FFFFFF">
                <a:alpha val="16000"/>
              </a:srgbClr>
            </a:solidFill>
            <a:prstDash val="solid"/>
          </a:ln>
        </p:spPr>
        <p:txBody>
          <a:bodyPr/>
          <a:lstStyle/>
          <a:p>
            <a:endParaRPr lang="en-US"/>
          </a:p>
        </p:txBody>
      </p:sp>
      <p:sp>
        <p:nvSpPr>
          <p:cNvPr id="27" name="Shape 25"/>
          <p:cNvSpPr/>
          <p:nvPr/>
        </p:nvSpPr>
        <p:spPr>
          <a:xfrm>
            <a:off x="6330950" y="2193826"/>
            <a:ext cx="1102568" cy="279400"/>
          </a:xfrm>
          <a:prstGeom prst="roundRect">
            <a:avLst>
              <a:gd name="adj" fmla="val 50000"/>
            </a:avLst>
          </a:prstGeom>
          <a:solidFill>
            <a:srgbClr val="5EEBD9">
              <a:alpha val="14000"/>
            </a:srgbClr>
          </a:solidFill>
          <a:ln/>
        </p:spPr>
        <p:txBody>
          <a:bodyPr/>
          <a:lstStyle/>
          <a:p>
            <a:endParaRPr lang="en-US"/>
          </a:p>
        </p:txBody>
      </p:sp>
      <p:sp>
        <p:nvSpPr>
          <p:cNvPr id="28" name="Text 26"/>
          <p:cNvSpPr/>
          <p:nvPr/>
        </p:nvSpPr>
        <p:spPr>
          <a:xfrm>
            <a:off x="6432550" y="2244626"/>
            <a:ext cx="950168"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CONDITIONAL</a:t>
            </a:r>
            <a:endParaRPr lang="en-US" sz="1000"/>
          </a:p>
        </p:txBody>
      </p:sp>
      <p:sp>
        <p:nvSpPr>
          <p:cNvPr id="29" name="Text 27"/>
          <p:cNvSpPr/>
          <p:nvPr/>
        </p:nvSpPr>
        <p:spPr>
          <a:xfrm>
            <a:off x="6330950" y="2562126"/>
            <a:ext cx="2269554" cy="405110"/>
          </a:xfrm>
          <a:prstGeom prst="rect">
            <a:avLst/>
          </a:prstGeom>
          <a:noFill/>
          <a:ln/>
        </p:spPr>
        <p:txBody>
          <a:bodyPr wrap="square" lIns="0" tIns="0" rIns="0" bIns="0" rtlCol="0" anchor="t">
            <a:normAutofit/>
          </a:bodyPr>
          <a:lstStyle/>
          <a:p>
            <a:pPr marL="0" indent="0" algn="l">
              <a:lnSpc>
                <a:spcPts val="1495"/>
              </a:lnSpc>
              <a:buNone/>
            </a:pPr>
            <a:r>
              <a:rPr lang="en-US" sz="1150" b="1">
                <a:solidFill>
                  <a:srgbClr val="FBFBF8"/>
                </a:solidFill>
                <a:latin typeface="Nunito Sans" pitchFamily="34" charset="0"/>
                <a:ea typeface="Nunito Sans" pitchFamily="34" charset="-122"/>
                <a:cs typeface="Nunito Sans" pitchFamily="34" charset="-120"/>
              </a:rPr>
              <a:t>“If Bench 3 is busy, leave it at Bench 4 instead”</a:t>
            </a:r>
            <a:endParaRPr lang="en-US" sz="1150"/>
          </a:p>
        </p:txBody>
      </p:sp>
      <p:sp>
        <p:nvSpPr>
          <p:cNvPr id="30" name="Text 28"/>
          <p:cNvSpPr/>
          <p:nvPr/>
        </p:nvSpPr>
        <p:spPr>
          <a:xfrm>
            <a:off x="6330950" y="3030736"/>
            <a:ext cx="2269554" cy="363141"/>
          </a:xfrm>
          <a:prstGeom prst="rect">
            <a:avLst/>
          </a:prstGeom>
          <a:noFill/>
          <a:ln/>
        </p:spPr>
        <p:txBody>
          <a:bodyPr wrap="square" lIns="0" tIns="0" rIns="0" bIns="0" rtlCol="0" anchor="t">
            <a:normAutofit/>
          </a:bodyPr>
          <a:lstStyle/>
          <a:p>
            <a:pPr marL="0" indent="0" algn="l">
              <a:lnSpc>
                <a:spcPts val="1330"/>
              </a:lnSpc>
              <a:buNone/>
            </a:pPr>
            <a:r>
              <a:rPr lang="en-US" sz="950">
                <a:solidFill>
                  <a:srgbClr val="C7CBEA"/>
                </a:solidFill>
                <a:latin typeface="Nunito Sans" pitchFamily="34" charset="0"/>
                <a:ea typeface="Nunito Sans" pitchFamily="34" charset="-122"/>
                <a:cs typeface="Nunito Sans" pitchFamily="34" charset="-120"/>
              </a:rPr>
              <a:t>A branching instruction — the arbiter has to judge the scene, not just steer</a:t>
            </a:r>
            <a:endParaRPr lang="en-US" sz="950"/>
          </a:p>
        </p:txBody>
      </p:sp>
      <p:sp>
        <p:nvSpPr>
          <p:cNvPr id="31" name="Text 29"/>
          <p:cNvSpPr/>
          <p:nvPr/>
        </p:nvSpPr>
        <p:spPr>
          <a:xfrm>
            <a:off x="6330950" y="4406999"/>
            <a:ext cx="2269554" cy="176510"/>
          </a:xfrm>
          <a:prstGeom prst="rect">
            <a:avLst/>
          </a:prstGeom>
          <a:noFill/>
          <a:ln/>
        </p:spPr>
        <p:txBody>
          <a:bodyPr wrap="square" lIns="0" tIns="0" rIns="0" bIns="0" rtlCol="0" anchor="t">
            <a:normAutofit/>
          </a:bodyPr>
          <a:lstStyle/>
          <a:p>
            <a:pPr marL="0" indent="0" algn="l">
              <a:lnSpc>
                <a:spcPts val="1190"/>
              </a:lnSpc>
              <a:buNone/>
            </a:pPr>
            <a:r>
              <a:rPr lang="en-US" sz="850" b="1" kern="0" spc="50">
                <a:solidFill>
                  <a:srgbClr val="9CA1C9"/>
                </a:solidFill>
                <a:latin typeface="Nunito Sans" pitchFamily="34" charset="0"/>
                <a:ea typeface="Nunito Sans" pitchFamily="34" charset="-122"/>
                <a:cs typeface="Nunito Sans" pitchFamily="34" charset="-120"/>
              </a:rPr>
              <a:t>REASONING NEEDED</a:t>
            </a:r>
            <a:endParaRPr lang="en-US" sz="850"/>
          </a:p>
        </p:txBody>
      </p:sp>
      <p:sp>
        <p:nvSpPr>
          <p:cNvPr id="32" name="Shape 30"/>
          <p:cNvSpPr/>
          <p:nvPr/>
        </p:nvSpPr>
        <p:spPr>
          <a:xfrm>
            <a:off x="6330950" y="4596209"/>
            <a:ext cx="531813" cy="63500"/>
          </a:xfrm>
          <a:prstGeom prst="roundRect">
            <a:avLst>
              <a:gd name="adj" fmla="val 50000"/>
            </a:avLst>
          </a:prstGeom>
          <a:solidFill>
            <a:srgbClr val="8B7CF6"/>
          </a:solidFill>
          <a:ln/>
        </p:spPr>
        <p:txBody>
          <a:bodyPr/>
          <a:lstStyle/>
          <a:p>
            <a:endParaRPr lang="en-US"/>
          </a:p>
        </p:txBody>
      </p:sp>
      <p:sp>
        <p:nvSpPr>
          <p:cNvPr id="33" name="Shape 31"/>
          <p:cNvSpPr/>
          <p:nvPr/>
        </p:nvSpPr>
        <p:spPr>
          <a:xfrm>
            <a:off x="6888163" y="4596209"/>
            <a:ext cx="531813" cy="63500"/>
          </a:xfrm>
          <a:prstGeom prst="roundRect">
            <a:avLst>
              <a:gd name="adj" fmla="val 50000"/>
            </a:avLst>
          </a:prstGeom>
          <a:solidFill>
            <a:srgbClr val="8B7CF6"/>
          </a:solidFill>
          <a:ln/>
        </p:spPr>
        <p:txBody>
          <a:bodyPr/>
          <a:lstStyle/>
          <a:p>
            <a:endParaRPr lang="en-US"/>
          </a:p>
        </p:txBody>
      </p:sp>
      <p:sp>
        <p:nvSpPr>
          <p:cNvPr id="34" name="Shape 32"/>
          <p:cNvSpPr/>
          <p:nvPr/>
        </p:nvSpPr>
        <p:spPr>
          <a:xfrm>
            <a:off x="7445375" y="4596209"/>
            <a:ext cx="531813" cy="63500"/>
          </a:xfrm>
          <a:prstGeom prst="roundRect">
            <a:avLst>
              <a:gd name="adj" fmla="val 50000"/>
            </a:avLst>
          </a:prstGeom>
          <a:solidFill>
            <a:srgbClr val="8B7CF6"/>
          </a:solidFill>
          <a:ln/>
        </p:spPr>
        <p:txBody>
          <a:bodyPr/>
          <a:lstStyle/>
          <a:p>
            <a:endParaRPr lang="en-US"/>
          </a:p>
        </p:txBody>
      </p:sp>
      <p:sp>
        <p:nvSpPr>
          <p:cNvPr id="35" name="Shape 33"/>
          <p:cNvSpPr/>
          <p:nvPr/>
        </p:nvSpPr>
        <p:spPr>
          <a:xfrm>
            <a:off x="8002588" y="4596209"/>
            <a:ext cx="531813" cy="63500"/>
          </a:xfrm>
          <a:prstGeom prst="roundRect">
            <a:avLst>
              <a:gd name="adj" fmla="val 50000"/>
            </a:avLst>
          </a:prstGeom>
          <a:solidFill>
            <a:srgbClr val="FFFFFF">
              <a:alpha val="14000"/>
            </a:srgbClr>
          </a:solidFill>
          <a:ln/>
        </p:spPr>
        <p:txBody>
          <a:bodyPr/>
          <a:lstStyle/>
          <a:p>
            <a:endParaRPr lang="en-US"/>
          </a:p>
        </p:txBody>
      </p:sp>
      <p:sp>
        <p:nvSpPr>
          <p:cNvPr id="36" name="Shape 34"/>
          <p:cNvSpPr/>
          <p:nvPr/>
        </p:nvSpPr>
        <p:spPr>
          <a:xfrm>
            <a:off x="8836025" y="2000151"/>
            <a:ext cx="2540000" cy="2853234"/>
          </a:xfrm>
          <a:prstGeom prst="roundRect">
            <a:avLst>
              <a:gd name="adj" fmla="val 4875"/>
            </a:avLst>
          </a:prstGeom>
          <a:solidFill>
            <a:srgbClr val="FFFFFF">
              <a:alpha val="10000"/>
            </a:srgbClr>
          </a:solidFill>
          <a:ln w="6350">
            <a:solidFill>
              <a:srgbClr val="5EEBD9">
                <a:alpha val="40000"/>
              </a:srgbClr>
            </a:solidFill>
            <a:prstDash val="solid"/>
          </a:ln>
        </p:spPr>
        <p:txBody>
          <a:bodyPr/>
          <a:lstStyle/>
          <a:p>
            <a:endParaRPr lang="en-US"/>
          </a:p>
        </p:txBody>
      </p:sp>
      <p:sp>
        <p:nvSpPr>
          <p:cNvPr id="37" name="Shape 35"/>
          <p:cNvSpPr/>
          <p:nvPr/>
        </p:nvSpPr>
        <p:spPr>
          <a:xfrm>
            <a:off x="9004300" y="2193826"/>
            <a:ext cx="1001365" cy="279400"/>
          </a:xfrm>
          <a:prstGeom prst="roundRect">
            <a:avLst>
              <a:gd name="adj" fmla="val 50000"/>
            </a:avLst>
          </a:prstGeom>
          <a:solidFill>
            <a:srgbClr val="5EEBD9"/>
          </a:solidFill>
          <a:ln/>
        </p:spPr>
        <p:txBody>
          <a:bodyPr/>
          <a:lstStyle/>
          <a:p>
            <a:endParaRPr lang="en-US"/>
          </a:p>
        </p:txBody>
      </p:sp>
      <p:sp>
        <p:nvSpPr>
          <p:cNvPr id="38" name="Text 36"/>
          <p:cNvSpPr/>
          <p:nvPr/>
        </p:nvSpPr>
        <p:spPr>
          <a:xfrm>
            <a:off x="9105900" y="2244626"/>
            <a:ext cx="848965" cy="2032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14163B"/>
                </a:solidFill>
                <a:latin typeface="Nunito Sans" pitchFamily="34" charset="0"/>
                <a:ea typeface="Nunito Sans" pitchFamily="34" charset="-122"/>
                <a:cs typeface="Nunito Sans" pitchFamily="34" charset="-120"/>
              </a:rPr>
              <a:t>AMBIGUOUS</a:t>
            </a:r>
            <a:endParaRPr lang="en-US" sz="1000"/>
          </a:p>
        </p:txBody>
      </p:sp>
      <p:sp>
        <p:nvSpPr>
          <p:cNvPr id="39" name="Text 37"/>
          <p:cNvSpPr/>
          <p:nvPr/>
        </p:nvSpPr>
        <p:spPr>
          <a:xfrm>
            <a:off x="9004300" y="2562126"/>
            <a:ext cx="2269554" cy="594965"/>
          </a:xfrm>
          <a:prstGeom prst="rect">
            <a:avLst/>
          </a:prstGeom>
          <a:noFill/>
          <a:ln/>
        </p:spPr>
        <p:txBody>
          <a:bodyPr wrap="square" lIns="0" tIns="0" rIns="0" bIns="0" rtlCol="0" anchor="t">
            <a:normAutofit/>
          </a:bodyPr>
          <a:lstStyle/>
          <a:p>
            <a:pPr marL="0" indent="0" algn="l">
              <a:lnSpc>
                <a:spcPts val="1495"/>
              </a:lnSpc>
              <a:buNone/>
            </a:pPr>
            <a:r>
              <a:rPr lang="en-US" sz="1150" b="1">
                <a:solidFill>
                  <a:srgbClr val="FBFBF8"/>
                </a:solidFill>
                <a:latin typeface="Nunito Sans" pitchFamily="34" charset="0"/>
                <a:ea typeface="Nunito Sans" pitchFamily="34" charset="-122"/>
                <a:cs typeface="Nunito Sans" pitchFamily="34" charset="-120"/>
              </a:rPr>
              <a:t>“Fetch whichever sample is ready first — ask me if you're not sure”</a:t>
            </a:r>
            <a:endParaRPr lang="en-US" sz="1150"/>
          </a:p>
        </p:txBody>
      </p:sp>
      <p:sp>
        <p:nvSpPr>
          <p:cNvPr id="40" name="Text 38"/>
          <p:cNvSpPr/>
          <p:nvPr/>
        </p:nvSpPr>
        <p:spPr>
          <a:xfrm>
            <a:off x="9004300" y="3220591"/>
            <a:ext cx="2269554" cy="532011"/>
          </a:xfrm>
          <a:prstGeom prst="rect">
            <a:avLst/>
          </a:prstGeom>
          <a:noFill/>
          <a:ln/>
        </p:spPr>
        <p:txBody>
          <a:bodyPr wrap="square" lIns="0" tIns="0" rIns="0" bIns="0" rtlCol="0" anchor="t">
            <a:normAutofit/>
          </a:bodyPr>
          <a:lstStyle/>
          <a:p>
            <a:pPr marL="0" indent="0" algn="l">
              <a:lnSpc>
                <a:spcPts val="1330"/>
              </a:lnSpc>
              <a:buNone/>
            </a:pPr>
            <a:r>
              <a:rPr lang="en-US" sz="950">
                <a:solidFill>
                  <a:srgbClr val="C7CBEA"/>
                </a:solidFill>
                <a:latin typeface="Nunito Sans" pitchFamily="34" charset="0"/>
                <a:ea typeface="Nunito Sans" pitchFamily="34" charset="-122"/>
                <a:cs typeface="Nunito Sans" pitchFamily="34" charset="-120"/>
              </a:rPr>
              <a:t>Open-ended intent, real judgement, maybe a clarifying question — only an LLM, not a 1–3B SLM, can carry this</a:t>
            </a:r>
            <a:endParaRPr lang="en-US" sz="950"/>
          </a:p>
        </p:txBody>
      </p:sp>
      <p:sp>
        <p:nvSpPr>
          <p:cNvPr id="41" name="Text 39"/>
          <p:cNvSpPr/>
          <p:nvPr/>
        </p:nvSpPr>
        <p:spPr>
          <a:xfrm>
            <a:off x="9004300" y="4406999"/>
            <a:ext cx="2269554" cy="176510"/>
          </a:xfrm>
          <a:prstGeom prst="rect">
            <a:avLst/>
          </a:prstGeom>
          <a:noFill/>
          <a:ln/>
        </p:spPr>
        <p:txBody>
          <a:bodyPr wrap="square" lIns="0" tIns="0" rIns="0" bIns="0" rtlCol="0" anchor="t">
            <a:normAutofit/>
          </a:bodyPr>
          <a:lstStyle/>
          <a:p>
            <a:pPr marL="0" indent="0" algn="l">
              <a:lnSpc>
                <a:spcPts val="1190"/>
              </a:lnSpc>
              <a:buNone/>
            </a:pPr>
            <a:r>
              <a:rPr lang="en-US" sz="850" b="1" kern="0" spc="50">
                <a:solidFill>
                  <a:srgbClr val="9CA1C9"/>
                </a:solidFill>
                <a:latin typeface="Nunito Sans" pitchFamily="34" charset="0"/>
                <a:ea typeface="Nunito Sans" pitchFamily="34" charset="-122"/>
                <a:cs typeface="Nunito Sans" pitchFamily="34" charset="-120"/>
              </a:rPr>
              <a:t>REASONING NEEDED</a:t>
            </a:r>
            <a:endParaRPr lang="en-US" sz="850"/>
          </a:p>
        </p:txBody>
      </p:sp>
      <p:sp>
        <p:nvSpPr>
          <p:cNvPr id="42" name="Shape 40"/>
          <p:cNvSpPr/>
          <p:nvPr/>
        </p:nvSpPr>
        <p:spPr>
          <a:xfrm>
            <a:off x="9004300" y="4596209"/>
            <a:ext cx="531813" cy="63500"/>
          </a:xfrm>
          <a:prstGeom prst="roundRect">
            <a:avLst>
              <a:gd name="adj" fmla="val 50000"/>
            </a:avLst>
          </a:prstGeom>
          <a:solidFill>
            <a:srgbClr val="5EEBD9"/>
          </a:solidFill>
          <a:ln/>
        </p:spPr>
        <p:txBody>
          <a:bodyPr/>
          <a:lstStyle/>
          <a:p>
            <a:endParaRPr lang="en-US"/>
          </a:p>
        </p:txBody>
      </p:sp>
      <p:sp>
        <p:nvSpPr>
          <p:cNvPr id="43" name="Shape 41"/>
          <p:cNvSpPr/>
          <p:nvPr/>
        </p:nvSpPr>
        <p:spPr>
          <a:xfrm>
            <a:off x="9561513" y="4596209"/>
            <a:ext cx="531813" cy="63500"/>
          </a:xfrm>
          <a:prstGeom prst="roundRect">
            <a:avLst>
              <a:gd name="adj" fmla="val 50000"/>
            </a:avLst>
          </a:prstGeom>
          <a:solidFill>
            <a:srgbClr val="5EEBD9"/>
          </a:solidFill>
          <a:ln/>
        </p:spPr>
        <p:txBody>
          <a:bodyPr/>
          <a:lstStyle/>
          <a:p>
            <a:endParaRPr lang="en-US"/>
          </a:p>
        </p:txBody>
      </p:sp>
      <p:sp>
        <p:nvSpPr>
          <p:cNvPr id="44" name="Shape 42"/>
          <p:cNvSpPr/>
          <p:nvPr/>
        </p:nvSpPr>
        <p:spPr>
          <a:xfrm>
            <a:off x="10118725" y="4596209"/>
            <a:ext cx="531813" cy="63500"/>
          </a:xfrm>
          <a:prstGeom prst="roundRect">
            <a:avLst>
              <a:gd name="adj" fmla="val 50000"/>
            </a:avLst>
          </a:prstGeom>
          <a:solidFill>
            <a:srgbClr val="5EEBD9"/>
          </a:solidFill>
          <a:ln/>
        </p:spPr>
        <p:txBody>
          <a:bodyPr/>
          <a:lstStyle/>
          <a:p>
            <a:endParaRPr lang="en-US"/>
          </a:p>
        </p:txBody>
      </p:sp>
      <p:sp>
        <p:nvSpPr>
          <p:cNvPr id="45" name="Shape 43"/>
          <p:cNvSpPr/>
          <p:nvPr/>
        </p:nvSpPr>
        <p:spPr>
          <a:xfrm>
            <a:off x="10675938" y="4596209"/>
            <a:ext cx="531813" cy="63500"/>
          </a:xfrm>
          <a:prstGeom prst="roundRect">
            <a:avLst>
              <a:gd name="adj" fmla="val 50000"/>
            </a:avLst>
          </a:prstGeom>
          <a:solidFill>
            <a:srgbClr val="5EEBD9"/>
          </a:solidFill>
          <a:ln/>
        </p:spPr>
        <p:txBody>
          <a:bodyPr/>
          <a:lstStyle/>
          <a:p>
            <a:endParaRPr lang="en-US"/>
          </a:p>
        </p:txBody>
      </p:sp>
      <p:sp>
        <p:nvSpPr>
          <p:cNvPr id="46" name="Shape 44"/>
          <p:cNvSpPr/>
          <p:nvPr/>
        </p:nvSpPr>
        <p:spPr>
          <a:xfrm>
            <a:off x="812800" y="5059759"/>
            <a:ext cx="10566400" cy="782241"/>
          </a:xfrm>
          <a:prstGeom prst="roundRect">
            <a:avLst>
              <a:gd name="adj" fmla="val 16235"/>
            </a:avLst>
          </a:prstGeom>
          <a:solidFill>
            <a:srgbClr val="FFFFFF">
              <a:alpha val="8000"/>
            </a:srgbClr>
          </a:solidFill>
          <a:ln/>
        </p:spPr>
        <p:txBody>
          <a:bodyPr/>
          <a:lstStyle/>
          <a:p>
            <a:endParaRPr lang="en-US"/>
          </a:p>
        </p:txBody>
      </p:sp>
      <p:pic>
        <p:nvPicPr>
          <p:cNvPr id="47" name="Image 0" descr="Lightbulb"/>
          <p:cNvPicPr>
            <a:picLocks noChangeAspect="1"/>
          </p:cNvPicPr>
          <p:nvPr/>
        </p:nvPicPr>
        <p:blipFill>
          <a:blip r:embed="rId3"/>
          <a:srcRect t="-1013" b="-1013"/>
          <a:stretch/>
        </p:blipFill>
        <p:spPr>
          <a:xfrm>
            <a:off x="1041400" y="5336580"/>
            <a:ext cx="149374" cy="228600"/>
          </a:xfrm>
          <a:prstGeom prst="rect">
            <a:avLst/>
          </a:prstGeom>
        </p:spPr>
      </p:pic>
      <p:sp>
        <p:nvSpPr>
          <p:cNvPr id="48" name="Text 45"/>
          <p:cNvSpPr/>
          <p:nvPr/>
        </p:nvSpPr>
        <p:spPr>
          <a:xfrm>
            <a:off x="1343174" y="5237559"/>
            <a:ext cx="10101649" cy="452041"/>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FBFBF8"/>
                </a:solidFill>
                <a:latin typeface="Nunito Sans" pitchFamily="34" charset="0"/>
                <a:ea typeface="Nunito Sans" pitchFamily="34" charset="-122"/>
                <a:cs typeface="Nunito Sans" pitchFamily="34" charset="-120"/>
              </a:rPr>
              <a:t>Pure navigation might get by without the cloud. The moment an errand carries open-ended human intent, it needs a real language model — which is exactly why the deliberative tier, and the lease that bounds it, exist.</a:t>
            </a:r>
            <a:endParaRPr lang="en-US" sz="1200"/>
          </a:p>
        </p:txBody>
      </p:sp>
      <p:sp>
        <p:nvSpPr>
          <p:cNvPr id="49" name="Text 46"/>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9CA1C9"/>
                </a:solidFill>
                <a:latin typeface="Nunito Sans" pitchFamily="34" charset="0"/>
                <a:ea typeface="Nunito Sans" pitchFamily="34" charset="-122"/>
                <a:cs typeface="Nunito Sans" pitchFamily="34" charset="-120"/>
              </a:rPr>
              <a:t>Nimbus</a:t>
            </a:r>
            <a:endParaRPr lang="en-US" sz="1200"/>
          </a:p>
        </p:txBody>
      </p:sp>
      <p:sp>
        <p:nvSpPr>
          <p:cNvPr id="50" name="Text 47"/>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9CA1C9"/>
                </a:solidFill>
                <a:latin typeface="Nunito Sans" pitchFamily="34" charset="0"/>
                <a:ea typeface="Nunito Sans" pitchFamily="34" charset="-122"/>
                <a:cs typeface="Nunito Sans" pitchFamily="34" charset="-120"/>
              </a:rPr>
              <a:t>13 / 17</a:t>
            </a:r>
            <a:endParaRPr 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14163B"/>
                </a:solidFill>
                <a:latin typeface="Rubik" pitchFamily="34" charset="0"/>
                <a:ea typeface="Rubik" pitchFamily="34" charset="-122"/>
                <a:cs typeface="Rubik" pitchFamily="34" charset="-120"/>
              </a:rPr>
              <a:t>Team and module ownership</a:t>
            </a:r>
            <a:endParaRPr lang="en-US" sz="2800"/>
          </a:p>
        </p:txBody>
      </p:sp>
      <p:sp>
        <p:nvSpPr>
          <p:cNvPr id="3" name="Text 1"/>
          <p:cNvSpPr/>
          <p:nvPr/>
        </p:nvSpPr>
        <p:spPr>
          <a:xfrm>
            <a:off x="812800" y="12928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180"/>
                </a:solidFill>
                <a:latin typeface="Nunito Sans" pitchFamily="34" charset="0"/>
                <a:ea typeface="Nunito Sans" pitchFamily="34" charset="-122"/>
                <a:cs typeface="Nunito Sans" pitchFamily="34" charset="-120"/>
              </a:rPr>
              <a:t>Every module has a lead; the heavier modules are shared</a:t>
            </a:r>
            <a:endParaRPr lang="en-US" sz="12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709341"/>
          <a:ext cx="10566400" cy="3058021"/>
        </p:xfrm>
        <a:graphic>
          <a:graphicData uri="http://schemas.openxmlformats.org/drawingml/2006/table">
            <a:tbl>
              <a:tblPr/>
              <a:tblGrid>
                <a:gridCol w="3381248">
                  <a:extLst>
                    <a:ext uri="{9D8B030D-6E8A-4147-A177-3AD203B41FA5}">
                      <a16:colId xmlns:a16="http://schemas.microsoft.com/office/drawing/2014/main" val="20000"/>
                    </a:ext>
                  </a:extLst>
                </a:gridCol>
                <a:gridCol w="1796288">
                  <a:extLst>
                    <a:ext uri="{9D8B030D-6E8A-4147-A177-3AD203B41FA5}">
                      <a16:colId xmlns:a16="http://schemas.microsoft.com/office/drawing/2014/main" val="20001"/>
                    </a:ext>
                  </a:extLst>
                </a:gridCol>
                <a:gridCol w="1796288">
                  <a:extLst>
                    <a:ext uri="{9D8B030D-6E8A-4147-A177-3AD203B41FA5}">
                      <a16:colId xmlns:a16="http://schemas.microsoft.com/office/drawing/2014/main" val="20002"/>
                    </a:ext>
                  </a:extLst>
                </a:gridCol>
                <a:gridCol w="1796288">
                  <a:extLst>
                    <a:ext uri="{9D8B030D-6E8A-4147-A177-3AD203B41FA5}">
                      <a16:colId xmlns:a16="http://schemas.microsoft.com/office/drawing/2014/main" val="20003"/>
                    </a:ext>
                  </a:extLst>
                </a:gridCol>
                <a:gridCol w="1796288">
                  <a:extLst>
                    <a:ext uri="{9D8B030D-6E8A-4147-A177-3AD203B41FA5}">
                      <a16:colId xmlns:a16="http://schemas.microsoft.com/office/drawing/2014/main" val="20004"/>
                    </a:ext>
                  </a:extLst>
                </a:gridCol>
              </a:tblGrid>
              <a:tr h="436860">
                <a:tc>
                  <a:txBody>
                    <a:bodyPr/>
                    <a:lstStyle/>
                    <a:p>
                      <a:pPr marL="0" indent="0">
                        <a:lnSpc>
                          <a:spcPts val="1540"/>
                        </a:lnSpc>
                        <a:buNone/>
                      </a:pPr>
                      <a:r>
                        <a:rPr lang="en-US" sz="1100" b="1">
                          <a:solidFill>
                            <a:srgbClr val="FBFBF8"/>
                          </a:solidFill>
                          <a:latin typeface="Nunito Sans" pitchFamily="34" charset="0"/>
                          <a:ea typeface="Nunito Sans" pitchFamily="34" charset="-122"/>
                          <a:cs typeface="Nunito Sans" pitchFamily="34" charset="-120"/>
                        </a:rPr>
                        <a:t>Module</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14163B"/>
                    </a:solidFill>
                  </a:tcPr>
                </a:tc>
                <a:tc>
                  <a:txBody>
                    <a:bodyPr/>
                    <a:lstStyle/>
                    <a:p>
                      <a:pPr marL="0" indent="0" algn="ctr">
                        <a:lnSpc>
                          <a:spcPts val="1540"/>
                        </a:lnSpc>
                        <a:buNone/>
                      </a:pPr>
                      <a:r>
                        <a:rPr lang="en-US" sz="1100" b="1">
                          <a:solidFill>
                            <a:srgbClr val="FBFBF8"/>
                          </a:solidFill>
                          <a:latin typeface="Nunito Sans" pitchFamily="34" charset="0"/>
                          <a:ea typeface="Nunito Sans" pitchFamily="34" charset="-122"/>
                          <a:cs typeface="Nunito Sans" pitchFamily="34" charset="-120"/>
                        </a:rPr>
                        <a:t>Person1</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14163B"/>
                    </a:solidFill>
                  </a:tcPr>
                </a:tc>
                <a:tc>
                  <a:txBody>
                    <a:bodyPr/>
                    <a:lstStyle/>
                    <a:p>
                      <a:pPr marL="0" indent="0" algn="ctr">
                        <a:lnSpc>
                          <a:spcPts val="1540"/>
                        </a:lnSpc>
                        <a:buNone/>
                      </a:pPr>
                      <a:r>
                        <a:rPr lang="en-US" sz="1100" b="1">
                          <a:solidFill>
                            <a:srgbClr val="FBFBF8"/>
                          </a:solidFill>
                          <a:latin typeface="Nunito Sans" pitchFamily="34" charset="0"/>
                          <a:ea typeface="Nunito Sans" pitchFamily="34" charset="-122"/>
                          <a:cs typeface="Nunito Sans" pitchFamily="34" charset="-120"/>
                        </a:rPr>
                        <a:t>Person2</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14163B"/>
                    </a:solidFill>
                  </a:tcPr>
                </a:tc>
                <a:tc>
                  <a:txBody>
                    <a:bodyPr/>
                    <a:lstStyle/>
                    <a:p>
                      <a:pPr marL="0" indent="0" algn="ctr">
                        <a:lnSpc>
                          <a:spcPts val="1540"/>
                        </a:lnSpc>
                        <a:buNone/>
                      </a:pPr>
                      <a:r>
                        <a:rPr lang="en-US" sz="1100" b="1">
                          <a:solidFill>
                            <a:srgbClr val="FBFBF8"/>
                          </a:solidFill>
                          <a:latin typeface="Nunito Sans" pitchFamily="34" charset="0"/>
                          <a:ea typeface="Nunito Sans" pitchFamily="34" charset="-122"/>
                          <a:cs typeface="Nunito Sans" pitchFamily="34" charset="-120"/>
                        </a:rPr>
                        <a:t>Person3</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14163B"/>
                    </a:solidFill>
                  </a:tcPr>
                </a:tc>
                <a:tc>
                  <a:txBody>
                    <a:bodyPr/>
                    <a:lstStyle/>
                    <a:p>
                      <a:pPr marL="0" indent="0" algn="ctr">
                        <a:lnSpc>
                          <a:spcPts val="1540"/>
                        </a:lnSpc>
                        <a:buNone/>
                      </a:pPr>
                      <a:r>
                        <a:rPr lang="en-US" sz="1100" b="1">
                          <a:solidFill>
                            <a:srgbClr val="FBFBF8"/>
                          </a:solidFill>
                          <a:latin typeface="Nunito Sans" pitchFamily="34" charset="0"/>
                          <a:ea typeface="Nunito Sans" pitchFamily="34" charset="-122"/>
                          <a:cs typeface="Nunito Sans" pitchFamily="34" charset="-120"/>
                        </a:rPr>
                        <a:t>Person4</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14163B"/>
                    </a:solidFill>
                  </a:tcPr>
                </a:tc>
                <a:extLst>
                  <a:ext uri="{0D108BD9-81ED-4DB2-BD59-A6C34878D82A}">
                    <a16:rowId xmlns:a16="http://schemas.microsoft.com/office/drawing/2014/main" val="10000"/>
                  </a:ext>
                </a:extLst>
              </a:tr>
              <a:tr h="436860">
                <a:tc>
                  <a:txBody>
                    <a:bodyPr/>
                    <a:lstStyle/>
                    <a:p>
                      <a:pPr marL="0" indent="0">
                        <a:lnSpc>
                          <a:spcPts val="1540"/>
                        </a:lnSpc>
                        <a:buNone/>
                      </a:pPr>
                      <a:r>
                        <a:rPr lang="en-US" sz="1100">
                          <a:solidFill>
                            <a:srgbClr val="191B3A"/>
                          </a:solidFill>
                          <a:latin typeface="Nunito Sans" pitchFamily="34" charset="0"/>
                          <a:ea typeface="Nunito Sans" pitchFamily="34" charset="-122"/>
                          <a:cs typeface="Nunito Sans" pitchFamily="34" charset="-120"/>
                        </a:rPr>
                        <a:t>Platform &amp; simulator foundation</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17B8A6"/>
                          </a:solidFill>
                          <a:latin typeface="Nunito Sans" pitchFamily="34" charset="0"/>
                          <a:ea typeface="Nunito Sans" pitchFamily="34" charset="-122"/>
                          <a:cs typeface="Nunito Sans" pitchFamily="34" charset="-120"/>
                        </a:rPr>
                        <a:t>Lead</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6860">
                <a:tc>
                  <a:txBody>
                    <a:bodyPr/>
                    <a:lstStyle/>
                    <a:p>
                      <a:pPr marL="0" indent="0">
                        <a:lnSpc>
                          <a:spcPts val="1540"/>
                        </a:lnSpc>
                        <a:buNone/>
                      </a:pPr>
                      <a:r>
                        <a:rPr lang="en-US" sz="1100">
                          <a:solidFill>
                            <a:srgbClr val="191B3A"/>
                          </a:solidFill>
                          <a:latin typeface="Nunito Sans" pitchFamily="34" charset="0"/>
                          <a:ea typeface="Nunito Sans" pitchFamily="34" charset="-122"/>
                          <a:cs typeface="Nunito Sans" pitchFamily="34" charset="-120"/>
                        </a:rPr>
                        <a:t>Edge perception &amp; reactive avoidance</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17B8A6"/>
                          </a:solidFill>
                          <a:latin typeface="Nunito Sans" pitchFamily="34" charset="0"/>
                          <a:ea typeface="Nunito Sans" pitchFamily="34" charset="-122"/>
                          <a:cs typeface="Nunito Sans" pitchFamily="34" charset="-120"/>
                        </a:rPr>
                        <a:t>Lead</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8B7CF6"/>
                          </a:solidFill>
                          <a:latin typeface="Nunito Sans" pitchFamily="34" charset="0"/>
                          <a:ea typeface="Nunito Sans" pitchFamily="34" charset="-122"/>
                          <a:cs typeface="Nunito Sans" pitchFamily="34" charset="-120"/>
                        </a:rPr>
                        <a:t>Support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extLst>
                  <a:ext uri="{0D108BD9-81ED-4DB2-BD59-A6C34878D82A}">
                    <a16:rowId xmlns:a16="http://schemas.microsoft.com/office/drawing/2014/main" val="10002"/>
                  </a:ext>
                </a:extLst>
              </a:tr>
              <a:tr h="436860">
                <a:tc>
                  <a:txBody>
                    <a:bodyPr/>
                    <a:lstStyle/>
                    <a:p>
                      <a:pPr marL="0" indent="0">
                        <a:lnSpc>
                          <a:spcPts val="1540"/>
                        </a:lnSpc>
                        <a:buNone/>
                      </a:pPr>
                      <a:r>
                        <a:rPr lang="en-US" sz="1100">
                          <a:solidFill>
                            <a:srgbClr val="191B3A"/>
                          </a:solidFill>
                          <a:latin typeface="Nunito Sans" pitchFamily="34" charset="0"/>
                          <a:ea typeface="Nunito Sans" pitchFamily="34" charset="-122"/>
                          <a:cs typeface="Nunito Sans" pitchFamily="34" charset="-120"/>
                        </a:rPr>
                        <a:t>Cloud lease plane &amp; planner</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8B7CF6"/>
                          </a:solidFill>
                          <a:latin typeface="Nunito Sans" pitchFamily="34" charset="0"/>
                          <a:ea typeface="Nunito Sans" pitchFamily="34" charset="-122"/>
                          <a:cs typeface="Nunito Sans" pitchFamily="34" charset="-120"/>
                        </a:rPr>
                        <a:t>Support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17B8A6"/>
                          </a:solidFill>
                          <a:latin typeface="Nunito Sans" pitchFamily="34" charset="0"/>
                          <a:ea typeface="Nunito Sans" pitchFamily="34" charset="-122"/>
                          <a:cs typeface="Nunito Sans" pitchFamily="34" charset="-120"/>
                        </a:rPr>
                        <a:t>Lead</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6860">
                <a:tc>
                  <a:txBody>
                    <a:bodyPr/>
                    <a:lstStyle/>
                    <a:p>
                      <a:pPr marL="0" indent="0">
                        <a:lnSpc>
                          <a:spcPts val="1540"/>
                        </a:lnSpc>
                        <a:buNone/>
                      </a:pPr>
                      <a:r>
                        <a:rPr lang="en-US" sz="1100">
                          <a:solidFill>
                            <a:srgbClr val="191B3A"/>
                          </a:solidFill>
                          <a:latin typeface="Nunito Sans" pitchFamily="34" charset="0"/>
                          <a:ea typeface="Nunito Sans" pitchFamily="34" charset="-122"/>
                          <a:cs typeface="Nunito Sans" pitchFamily="34" charset="-120"/>
                        </a:rPr>
                        <a:t>Tactical arbiter &amp; degradation ladder</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17B8A6"/>
                          </a:solidFill>
                          <a:latin typeface="Nunito Sans" pitchFamily="34" charset="0"/>
                          <a:ea typeface="Nunito Sans" pitchFamily="34" charset="-122"/>
                          <a:cs typeface="Nunito Sans" pitchFamily="34" charset="-120"/>
                        </a:rPr>
                        <a:t>Lead</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8B7CF6"/>
                          </a:solidFill>
                          <a:latin typeface="Nunito Sans" pitchFamily="34" charset="0"/>
                          <a:ea typeface="Nunito Sans" pitchFamily="34" charset="-122"/>
                          <a:cs typeface="Nunito Sans" pitchFamily="34" charset="-120"/>
                        </a:rPr>
                        <a:t>Support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extLst>
                  <a:ext uri="{0D108BD9-81ED-4DB2-BD59-A6C34878D82A}">
                    <a16:rowId xmlns:a16="http://schemas.microsoft.com/office/drawing/2014/main" val="10004"/>
                  </a:ext>
                </a:extLst>
              </a:tr>
              <a:tr h="436860">
                <a:tc>
                  <a:txBody>
                    <a:bodyPr/>
                    <a:lstStyle/>
                    <a:p>
                      <a:pPr marL="0" indent="0">
                        <a:lnSpc>
                          <a:spcPts val="1540"/>
                        </a:lnSpc>
                        <a:buNone/>
                      </a:pPr>
                      <a:r>
                        <a:rPr lang="en-US" sz="1100">
                          <a:solidFill>
                            <a:srgbClr val="191B3A"/>
                          </a:solidFill>
                          <a:latin typeface="Nunito Sans" pitchFamily="34" charset="0"/>
                          <a:ea typeface="Nunito Sans" pitchFamily="34" charset="-122"/>
                          <a:cs typeface="Nunito Sans" pitchFamily="34" charset="-120"/>
                        </a:rPr>
                        <a:t>Configurations, cost &amp; fleet campaign</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8B7CF6"/>
                          </a:solidFill>
                          <a:latin typeface="Nunito Sans" pitchFamily="34" charset="0"/>
                          <a:ea typeface="Nunito Sans" pitchFamily="34" charset="-122"/>
                          <a:cs typeface="Nunito Sans" pitchFamily="34" charset="-120"/>
                        </a:rPr>
                        <a:t>Shared</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8B7CF6"/>
                          </a:solidFill>
                          <a:latin typeface="Nunito Sans" pitchFamily="34" charset="0"/>
                          <a:ea typeface="Nunito Sans" pitchFamily="34" charset="-122"/>
                          <a:cs typeface="Nunito Sans" pitchFamily="34" charset="-120"/>
                        </a:rPr>
                        <a:t>Shared</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8B7CF6"/>
                          </a:solidFill>
                          <a:latin typeface="Nunito Sans" pitchFamily="34" charset="0"/>
                          <a:ea typeface="Nunito Sans" pitchFamily="34" charset="-122"/>
                          <a:cs typeface="Nunito Sans" pitchFamily="34" charset="-120"/>
                        </a:rPr>
                        <a:t>Shared</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tc>
                  <a:txBody>
                    <a:bodyPr/>
                    <a:lstStyle/>
                    <a:p>
                      <a:pPr marL="0" indent="0" algn="ctr">
                        <a:lnSpc>
                          <a:spcPts val="1540"/>
                        </a:lnSpc>
                        <a:buNone/>
                      </a:pPr>
                      <a:r>
                        <a:rPr lang="en-US" sz="1100">
                          <a:solidFill>
                            <a:srgbClr val="8B7CF6"/>
                          </a:solidFill>
                          <a:latin typeface="Nunito Sans" pitchFamily="34" charset="0"/>
                          <a:ea typeface="Nunito Sans" pitchFamily="34" charset="-122"/>
                          <a:cs typeface="Nunito Sans" pitchFamily="34" charset="-120"/>
                        </a:rPr>
                        <a:t>Shared</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6860">
                <a:tc>
                  <a:txBody>
                    <a:bodyPr/>
                    <a:lstStyle/>
                    <a:p>
                      <a:pPr marL="0" indent="0">
                        <a:lnSpc>
                          <a:spcPts val="1540"/>
                        </a:lnSpc>
                        <a:buNone/>
                      </a:pPr>
                      <a:r>
                        <a:rPr lang="en-US" sz="1100">
                          <a:solidFill>
                            <a:srgbClr val="191B3A"/>
                          </a:solidFill>
                          <a:latin typeface="Nunito Sans" pitchFamily="34" charset="0"/>
                          <a:ea typeface="Nunito Sans" pitchFamily="34" charset="-122"/>
                          <a:cs typeface="Nunito Sans" pitchFamily="34" charset="-120"/>
                        </a:rPr>
                        <a:t>Hardware validation, red team &amp; report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17B8A6"/>
                          </a:solidFill>
                          <a:latin typeface="Nunito Sans" pitchFamily="34" charset="0"/>
                          <a:ea typeface="Nunito Sans" pitchFamily="34" charset="-122"/>
                          <a:cs typeface="Nunito Sans" pitchFamily="34" charset="-120"/>
                        </a:rPr>
                        <a:t>Lead</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tc>
                  <a:txBody>
                    <a:bodyPr/>
                    <a:lstStyle/>
                    <a:p>
                      <a:pPr marL="0" indent="0" algn="ctr">
                        <a:lnSpc>
                          <a:spcPts val="1540"/>
                        </a:lnSpc>
                        <a:buNone/>
                      </a:pPr>
                      <a:r>
                        <a:rPr lang="en-US" sz="1100">
                          <a:solidFill>
                            <a:srgbClr val="8A8FA8"/>
                          </a:solidFill>
                          <a:latin typeface="Nunito Sans" pitchFamily="34" charset="0"/>
                          <a:ea typeface="Nunito Sans" pitchFamily="34" charset="-122"/>
                          <a:cs typeface="Nunito Sans" pitchFamily="34" charset="-120"/>
                        </a:rPr>
                        <a:t>—</a:t>
                      </a:r>
                      <a:endParaRPr lang="en-US" sz="1100">
                        <a:latin typeface="Nunito Sans" charset="0"/>
                        <a:ea typeface="Nunito Sans" charset="0"/>
                        <a:cs typeface="Nunito Sans" charset="0"/>
                      </a:endParaRPr>
                    </a:p>
                  </a:txBody>
                  <a:tcPr marL="139700" marR="139700" marT="114300" marB="114300">
                    <a:lnL w="12700" cap="flat" cmpd="sng" algn="ctr">
                      <a:solidFill>
                        <a:srgbClr val="C9C8CC"/>
                      </a:solidFill>
                      <a:prstDash val="solid"/>
                      <a:round/>
                      <a:headEnd type="none" w="med" len="med"/>
                      <a:tailEnd type="none" w="med" len="med"/>
                    </a:lnL>
                    <a:lnR w="12700" cap="flat" cmpd="sng" algn="ctr">
                      <a:solidFill>
                        <a:srgbClr val="C9C8CC"/>
                      </a:solidFill>
                      <a:prstDash val="solid"/>
                      <a:round/>
                      <a:headEnd type="none" w="med" len="med"/>
                      <a:tailEnd type="none" w="med" len="med"/>
                    </a:lnR>
                    <a:lnT w="12700" cap="flat" cmpd="sng" algn="ctr">
                      <a:solidFill>
                        <a:srgbClr val="C9C8CC"/>
                      </a:solidFill>
                      <a:prstDash val="solid"/>
                      <a:round/>
                      <a:headEnd type="none" w="med" len="med"/>
                      <a:tailEnd type="none" w="med" len="med"/>
                    </a:lnT>
                    <a:lnB w="12700" cap="flat" cmpd="sng" algn="ctr">
                      <a:solidFill>
                        <a:srgbClr val="C9C8CC"/>
                      </a:solidFill>
                      <a:prstDash val="solid"/>
                      <a:round/>
                      <a:headEnd type="none" w="med" len="med"/>
                      <a:tailEnd type="none" w="med" len="med"/>
                    </a:lnB>
                    <a:solidFill>
                      <a:srgbClr val="F1EFE6"/>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6" name="Text 3"/>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14 / 17</a:t>
            </a:r>
            <a:endParaRPr lang="en-US" sz="1200"/>
          </a:p>
        </p:txBody>
      </p:sp>
      <p:sp>
        <p:nvSpPr>
          <p:cNvPr id="7" name="Text 4"/>
          <p:cNvSpPr/>
          <p:nvPr/>
        </p:nvSpPr>
        <p:spPr>
          <a:xfrm>
            <a:off x="3029744" y="1193800"/>
            <a:ext cx="5232400" cy="4495800"/>
          </a:xfrm>
          <a:prstGeom prst="rect">
            <a:avLst/>
          </a:prstGeom>
          <a:noFill/>
          <a:ln/>
        </p:spPr>
        <p:txBody>
          <a:bodyPr wrap="square" lIns="0" tIns="0" rIns="0" bIns="0" rtlCol="0" anchor="t">
            <a:normAutofit/>
          </a:bodyPr>
          <a:lstStyle/>
          <a:p>
            <a:pPr marL="0" indent="0" algn="l">
              <a:lnSpc>
                <a:spcPts val="8800"/>
              </a:lnSpc>
              <a:buNone/>
            </a:pPr>
            <a:r>
              <a:rPr lang="en-US" sz="8800" b="1">
                <a:solidFill>
                  <a:srgbClr val="5EEBD9"/>
                </a:solidFill>
                <a:latin typeface="Rubik" pitchFamily="34" charset="0"/>
                <a:ea typeface="Rubik" pitchFamily="34" charset="-122"/>
                <a:cs typeface="Rubik" pitchFamily="34" charset="-120"/>
              </a:rPr>
              <a:t>YET TO BE DISCUSSED</a:t>
            </a:r>
            <a:endParaRPr lang="en-US" sz="8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14163B"/>
                </a:solidFill>
                <a:latin typeface="Rubik" pitchFamily="34" charset="0"/>
                <a:ea typeface="Rubik" pitchFamily="34" charset="-122"/>
                <a:cs typeface="Rubik" pitchFamily="34" charset="-120"/>
              </a:rPr>
              <a:t>Project timeline</a:t>
            </a:r>
            <a:endParaRPr lang="en-US" sz="2800"/>
          </a:p>
        </p:txBody>
      </p:sp>
      <p:sp>
        <p:nvSpPr>
          <p:cNvPr id="3" name="Text 1"/>
          <p:cNvSpPr/>
          <p:nvPr/>
        </p:nvSpPr>
        <p:spPr>
          <a:xfrm>
            <a:off x="812800" y="13055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180"/>
                </a:solidFill>
                <a:latin typeface="Nunito Sans" pitchFamily="34" charset="0"/>
                <a:ea typeface="Nunito Sans" pitchFamily="34" charset="-122"/>
                <a:cs typeface="Nunito Sans" pitchFamily="34" charset="-120"/>
              </a:rPr>
              <a:t>7 Sep team formation — 28 Nov final demo</a:t>
            </a:r>
            <a:endParaRPr lang="en-US" sz="1200"/>
          </a:p>
        </p:txBody>
      </p:sp>
      <p:sp>
        <p:nvSpPr>
          <p:cNvPr id="4" name="Shape 2"/>
          <p:cNvSpPr/>
          <p:nvPr/>
        </p:nvSpPr>
        <p:spPr>
          <a:xfrm>
            <a:off x="812800" y="2331641"/>
            <a:ext cx="10566400" cy="38100"/>
          </a:xfrm>
          <a:prstGeom prst="roundRect">
            <a:avLst>
              <a:gd name="adj" fmla="val 50000"/>
            </a:avLst>
          </a:prstGeom>
          <a:solidFill>
            <a:srgbClr val="D8D4C4"/>
          </a:solidFill>
          <a:ln/>
        </p:spPr>
        <p:txBody>
          <a:bodyPr/>
          <a:lstStyle/>
          <a:p>
            <a:endParaRPr lang="en-US"/>
          </a:p>
        </p:txBody>
      </p:sp>
      <p:sp>
        <p:nvSpPr>
          <p:cNvPr id="5" name="Shape 3"/>
          <p:cNvSpPr/>
          <p:nvPr/>
        </p:nvSpPr>
        <p:spPr>
          <a:xfrm>
            <a:off x="939800" y="2242741"/>
            <a:ext cx="215900" cy="215900"/>
          </a:xfrm>
          <a:prstGeom prst="roundRect">
            <a:avLst>
              <a:gd name="adj" fmla="val 50000"/>
            </a:avLst>
          </a:prstGeom>
          <a:solidFill>
            <a:srgbClr val="17B8A6"/>
          </a:solidFill>
          <a:ln/>
        </p:spPr>
        <p:txBody>
          <a:bodyPr/>
          <a:lstStyle/>
          <a:p>
            <a:endParaRPr lang="en-US"/>
          </a:p>
        </p:txBody>
      </p:sp>
      <p:sp>
        <p:nvSpPr>
          <p:cNvPr id="6" name="Shape 4"/>
          <p:cNvSpPr/>
          <p:nvPr/>
        </p:nvSpPr>
        <p:spPr>
          <a:xfrm>
            <a:off x="3581400" y="2242741"/>
            <a:ext cx="215900" cy="215900"/>
          </a:xfrm>
          <a:prstGeom prst="roundRect">
            <a:avLst>
              <a:gd name="adj" fmla="val 50000"/>
            </a:avLst>
          </a:prstGeom>
          <a:solidFill>
            <a:srgbClr val="17B8A6"/>
          </a:solidFill>
          <a:ln/>
        </p:spPr>
        <p:txBody>
          <a:bodyPr/>
          <a:lstStyle/>
          <a:p>
            <a:endParaRPr lang="en-US"/>
          </a:p>
        </p:txBody>
      </p:sp>
      <p:sp>
        <p:nvSpPr>
          <p:cNvPr id="7" name="Shape 5"/>
          <p:cNvSpPr/>
          <p:nvPr/>
        </p:nvSpPr>
        <p:spPr>
          <a:xfrm>
            <a:off x="6223000" y="2242741"/>
            <a:ext cx="215900" cy="215900"/>
          </a:xfrm>
          <a:prstGeom prst="roundRect">
            <a:avLst>
              <a:gd name="adj" fmla="val 50000"/>
            </a:avLst>
          </a:prstGeom>
          <a:solidFill>
            <a:srgbClr val="8B7CF6"/>
          </a:solidFill>
          <a:ln/>
        </p:spPr>
        <p:txBody>
          <a:bodyPr/>
          <a:lstStyle/>
          <a:p>
            <a:endParaRPr lang="en-US"/>
          </a:p>
        </p:txBody>
      </p:sp>
      <p:sp>
        <p:nvSpPr>
          <p:cNvPr id="8" name="Shape 6"/>
          <p:cNvSpPr/>
          <p:nvPr/>
        </p:nvSpPr>
        <p:spPr>
          <a:xfrm>
            <a:off x="8864600" y="2242741"/>
            <a:ext cx="215900" cy="215900"/>
          </a:xfrm>
          <a:prstGeom prst="roundRect">
            <a:avLst>
              <a:gd name="adj" fmla="val 50000"/>
            </a:avLst>
          </a:prstGeom>
          <a:solidFill>
            <a:srgbClr val="8B7CF6"/>
          </a:solidFill>
          <a:ln/>
        </p:spPr>
        <p:txBody>
          <a:bodyPr/>
          <a:lstStyle/>
          <a:p>
            <a:endParaRPr lang="en-US"/>
          </a:p>
        </p:txBody>
      </p:sp>
      <p:sp>
        <p:nvSpPr>
          <p:cNvPr id="9" name="Shape 7"/>
          <p:cNvSpPr/>
          <p:nvPr/>
        </p:nvSpPr>
        <p:spPr>
          <a:xfrm>
            <a:off x="812800" y="2725341"/>
            <a:ext cx="2413000" cy="1399530"/>
          </a:xfrm>
          <a:prstGeom prst="roundRect">
            <a:avLst>
              <a:gd name="adj" fmla="val 8167"/>
            </a:avLst>
          </a:prstGeom>
          <a:solidFill>
            <a:srgbClr val="FFFFFF"/>
          </a:solidFill>
          <a:ln/>
        </p:spPr>
        <p:txBody>
          <a:bodyPr/>
          <a:lstStyle/>
          <a:p>
            <a:endParaRPr lang="en-US"/>
          </a:p>
        </p:txBody>
      </p:sp>
      <p:sp>
        <p:nvSpPr>
          <p:cNvPr id="10" name="Text 8"/>
          <p:cNvSpPr/>
          <p:nvPr/>
        </p:nvSpPr>
        <p:spPr>
          <a:xfrm>
            <a:off x="965200" y="2890441"/>
            <a:ext cx="2171446" cy="203200"/>
          </a:xfrm>
          <a:prstGeom prst="rect">
            <a:avLst/>
          </a:prstGeom>
          <a:noFill/>
          <a:ln/>
        </p:spPr>
        <p:txBody>
          <a:bodyPr wrap="square" lIns="0" tIns="0" rIns="0" bIns="0" rtlCol="0" anchor="t">
            <a:normAutofit/>
          </a:bodyPr>
          <a:lstStyle/>
          <a:p>
            <a:pPr marL="0" indent="0" algn="l">
              <a:lnSpc>
                <a:spcPts val="1400"/>
              </a:lnSpc>
              <a:buNone/>
            </a:pPr>
            <a:r>
              <a:rPr lang="en-US" sz="1000" b="1" kern="0" spc="50">
                <a:solidFill>
                  <a:srgbClr val="17B8A6"/>
                </a:solidFill>
                <a:latin typeface="Nunito Sans" pitchFamily="34" charset="0"/>
                <a:ea typeface="Nunito Sans" pitchFamily="34" charset="-122"/>
                <a:cs typeface="Nunito Sans" pitchFamily="34" charset="-120"/>
              </a:rPr>
              <a:t>WEEKS 1–3</a:t>
            </a:r>
            <a:endParaRPr lang="en-US" sz="1000"/>
          </a:p>
        </p:txBody>
      </p:sp>
      <p:sp>
        <p:nvSpPr>
          <p:cNvPr id="11" name="Text 9"/>
          <p:cNvSpPr/>
          <p:nvPr/>
        </p:nvSpPr>
        <p:spPr>
          <a:xfrm>
            <a:off x="965200" y="3131741"/>
            <a:ext cx="2171446"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4163B"/>
                </a:solidFill>
                <a:latin typeface="Nunito Sans" pitchFamily="34" charset="0"/>
                <a:ea typeface="Nunito Sans" pitchFamily="34" charset="-122"/>
                <a:cs typeface="Nunito Sans" pitchFamily="34" charset="-120"/>
              </a:rPr>
              <a:t>Foundation</a:t>
            </a:r>
            <a:endParaRPr lang="en-US" sz="1300"/>
          </a:p>
        </p:txBody>
      </p:sp>
      <p:sp>
        <p:nvSpPr>
          <p:cNvPr id="12" name="Text 10"/>
          <p:cNvSpPr/>
          <p:nvPr/>
        </p:nvSpPr>
        <p:spPr>
          <a:xfrm>
            <a:off x="965200" y="3426371"/>
            <a:ext cx="2171446" cy="558800"/>
          </a:xfrm>
          <a:prstGeom prst="rect">
            <a:avLst/>
          </a:prstGeom>
          <a:noFill/>
          <a:ln/>
        </p:spPr>
        <p:txBody>
          <a:bodyPr wrap="square" lIns="0" tIns="0" rIns="0" bIns="0" rtlCol="0" anchor="t">
            <a:normAutofit/>
          </a:bodyPr>
          <a:lstStyle/>
          <a:p>
            <a:pPr marL="0" indent="0" algn="l">
              <a:lnSpc>
                <a:spcPts val="1400"/>
              </a:lnSpc>
              <a:buNone/>
            </a:pPr>
            <a:r>
              <a:rPr lang="en-US" sz="1000">
                <a:solidFill>
                  <a:srgbClr val="4A5170"/>
                </a:solidFill>
                <a:latin typeface="Nunito Sans" pitchFamily="34" charset="0"/>
                <a:ea typeface="Nunito Sans" pitchFamily="34" charset="-122"/>
                <a:cs typeface="Nunito Sans" pitchFamily="34" charset="-120"/>
              </a:rPr>
              <a:t>PiCar-X calibration, simulator skeleton, reflex gate, AWS &amp; Terraform setup</a:t>
            </a:r>
            <a:endParaRPr lang="en-US" sz="1000"/>
          </a:p>
        </p:txBody>
      </p:sp>
      <p:sp>
        <p:nvSpPr>
          <p:cNvPr id="13" name="Shape 11"/>
          <p:cNvSpPr/>
          <p:nvPr/>
        </p:nvSpPr>
        <p:spPr>
          <a:xfrm>
            <a:off x="3454400" y="2725341"/>
            <a:ext cx="2413000" cy="1221730"/>
          </a:xfrm>
          <a:prstGeom prst="roundRect">
            <a:avLst>
              <a:gd name="adj" fmla="val 9356"/>
            </a:avLst>
          </a:prstGeom>
          <a:solidFill>
            <a:srgbClr val="FFFFFF"/>
          </a:solidFill>
          <a:ln/>
        </p:spPr>
        <p:txBody>
          <a:bodyPr/>
          <a:lstStyle/>
          <a:p>
            <a:endParaRPr lang="en-US"/>
          </a:p>
        </p:txBody>
      </p:sp>
      <p:sp>
        <p:nvSpPr>
          <p:cNvPr id="14" name="Text 12"/>
          <p:cNvSpPr/>
          <p:nvPr/>
        </p:nvSpPr>
        <p:spPr>
          <a:xfrm>
            <a:off x="3606800" y="2890441"/>
            <a:ext cx="2171446" cy="203200"/>
          </a:xfrm>
          <a:prstGeom prst="rect">
            <a:avLst/>
          </a:prstGeom>
          <a:noFill/>
          <a:ln/>
        </p:spPr>
        <p:txBody>
          <a:bodyPr wrap="square" lIns="0" tIns="0" rIns="0" bIns="0" rtlCol="0" anchor="t">
            <a:normAutofit/>
          </a:bodyPr>
          <a:lstStyle/>
          <a:p>
            <a:pPr marL="0" indent="0" algn="l">
              <a:lnSpc>
                <a:spcPts val="1400"/>
              </a:lnSpc>
              <a:buNone/>
            </a:pPr>
            <a:r>
              <a:rPr lang="en-US" sz="1000" b="1" kern="0" spc="50">
                <a:solidFill>
                  <a:srgbClr val="17B8A6"/>
                </a:solidFill>
                <a:latin typeface="Nunito Sans" pitchFamily="34" charset="0"/>
                <a:ea typeface="Nunito Sans" pitchFamily="34" charset="-122"/>
                <a:cs typeface="Nunito Sans" pitchFamily="34" charset="-120"/>
              </a:rPr>
              <a:t>WEEKS 4–5</a:t>
            </a:r>
            <a:endParaRPr lang="en-US" sz="1000"/>
          </a:p>
        </p:txBody>
      </p:sp>
      <p:sp>
        <p:nvSpPr>
          <p:cNvPr id="15" name="Text 13"/>
          <p:cNvSpPr/>
          <p:nvPr/>
        </p:nvSpPr>
        <p:spPr>
          <a:xfrm>
            <a:off x="3606800" y="3131741"/>
            <a:ext cx="2171446"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4163B"/>
                </a:solidFill>
                <a:latin typeface="Nunito Sans" pitchFamily="34" charset="0"/>
                <a:ea typeface="Nunito Sans" pitchFamily="34" charset="-122"/>
                <a:cs typeface="Nunito Sans" pitchFamily="34" charset="-120"/>
              </a:rPr>
              <a:t>Core loop</a:t>
            </a:r>
            <a:endParaRPr lang="en-US" sz="1300"/>
          </a:p>
        </p:txBody>
      </p:sp>
      <p:sp>
        <p:nvSpPr>
          <p:cNvPr id="16" name="Text 14"/>
          <p:cNvSpPr/>
          <p:nvPr/>
        </p:nvSpPr>
        <p:spPr>
          <a:xfrm>
            <a:off x="3606800" y="3426371"/>
            <a:ext cx="2171446" cy="381000"/>
          </a:xfrm>
          <a:prstGeom prst="rect">
            <a:avLst/>
          </a:prstGeom>
          <a:noFill/>
          <a:ln/>
        </p:spPr>
        <p:txBody>
          <a:bodyPr wrap="square" lIns="0" tIns="0" rIns="0" bIns="0" rtlCol="0" anchor="t">
            <a:normAutofit/>
          </a:bodyPr>
          <a:lstStyle/>
          <a:p>
            <a:pPr marL="0" indent="0" algn="l">
              <a:lnSpc>
                <a:spcPts val="1400"/>
              </a:lnSpc>
              <a:buNone/>
            </a:pPr>
            <a:r>
              <a:rPr lang="en-US" sz="1000">
                <a:solidFill>
                  <a:srgbClr val="4A5170"/>
                </a:solidFill>
                <a:latin typeface="Nunito Sans" pitchFamily="34" charset="0"/>
                <a:ea typeface="Nunito Sans" pitchFamily="34" charset="-122"/>
                <a:cs typeface="Nunito Sans" pitchFamily="34" charset="-120"/>
              </a:rPr>
              <a:t>Lease plane live, edge reactive avoidance, M0 running end to end</a:t>
            </a:r>
            <a:endParaRPr lang="en-US" sz="1000"/>
          </a:p>
        </p:txBody>
      </p:sp>
      <p:sp>
        <p:nvSpPr>
          <p:cNvPr id="17" name="Shape 15"/>
          <p:cNvSpPr/>
          <p:nvPr/>
        </p:nvSpPr>
        <p:spPr>
          <a:xfrm>
            <a:off x="6096000" y="2725341"/>
            <a:ext cx="2413000" cy="1399530"/>
          </a:xfrm>
          <a:prstGeom prst="roundRect">
            <a:avLst>
              <a:gd name="adj" fmla="val 8167"/>
            </a:avLst>
          </a:prstGeom>
          <a:solidFill>
            <a:srgbClr val="FFFFFF"/>
          </a:solidFill>
          <a:ln/>
        </p:spPr>
        <p:txBody>
          <a:bodyPr/>
          <a:lstStyle/>
          <a:p>
            <a:endParaRPr lang="en-US"/>
          </a:p>
        </p:txBody>
      </p:sp>
      <p:sp>
        <p:nvSpPr>
          <p:cNvPr id="18" name="Text 16"/>
          <p:cNvSpPr/>
          <p:nvPr/>
        </p:nvSpPr>
        <p:spPr>
          <a:xfrm>
            <a:off x="6248400" y="2890441"/>
            <a:ext cx="2171446" cy="203200"/>
          </a:xfrm>
          <a:prstGeom prst="rect">
            <a:avLst/>
          </a:prstGeom>
          <a:noFill/>
          <a:ln/>
        </p:spPr>
        <p:txBody>
          <a:bodyPr wrap="square" lIns="0" tIns="0" rIns="0" bIns="0" rtlCol="0" anchor="t">
            <a:normAutofit/>
          </a:bodyPr>
          <a:lstStyle/>
          <a:p>
            <a:pPr marL="0" indent="0" algn="l">
              <a:lnSpc>
                <a:spcPts val="1400"/>
              </a:lnSpc>
              <a:buNone/>
            </a:pPr>
            <a:r>
              <a:rPr lang="en-US" sz="1000" b="1" kern="0" spc="50">
                <a:solidFill>
                  <a:srgbClr val="8B7CF6"/>
                </a:solidFill>
                <a:latin typeface="Nunito Sans" pitchFamily="34" charset="0"/>
                <a:ea typeface="Nunito Sans" pitchFamily="34" charset="-122"/>
                <a:cs typeface="Nunito Sans" pitchFamily="34" charset="-120"/>
              </a:rPr>
              <a:t>WEEKS 6–8</a:t>
            </a:r>
            <a:endParaRPr lang="en-US" sz="1000"/>
          </a:p>
        </p:txBody>
      </p:sp>
      <p:sp>
        <p:nvSpPr>
          <p:cNvPr id="19" name="Text 17"/>
          <p:cNvSpPr/>
          <p:nvPr/>
        </p:nvSpPr>
        <p:spPr>
          <a:xfrm>
            <a:off x="6248400" y="3131741"/>
            <a:ext cx="2171446"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4163B"/>
                </a:solidFill>
                <a:latin typeface="Nunito Sans" pitchFamily="34" charset="0"/>
                <a:ea typeface="Nunito Sans" pitchFamily="34" charset="-122"/>
                <a:cs typeface="Nunito Sans" pitchFamily="34" charset="-120"/>
              </a:rPr>
              <a:t>Full stack</a:t>
            </a:r>
            <a:endParaRPr lang="en-US" sz="1300"/>
          </a:p>
        </p:txBody>
      </p:sp>
      <p:sp>
        <p:nvSpPr>
          <p:cNvPr id="20" name="Text 18"/>
          <p:cNvSpPr/>
          <p:nvPr/>
        </p:nvSpPr>
        <p:spPr>
          <a:xfrm>
            <a:off x="6248400" y="3426371"/>
            <a:ext cx="2171446" cy="558800"/>
          </a:xfrm>
          <a:prstGeom prst="rect">
            <a:avLst/>
          </a:prstGeom>
          <a:noFill/>
          <a:ln/>
        </p:spPr>
        <p:txBody>
          <a:bodyPr wrap="square" lIns="0" tIns="0" rIns="0" bIns="0" rtlCol="0" anchor="t">
            <a:normAutofit/>
          </a:bodyPr>
          <a:lstStyle/>
          <a:p>
            <a:pPr marL="0" indent="0" algn="l">
              <a:lnSpc>
                <a:spcPts val="1400"/>
              </a:lnSpc>
              <a:buNone/>
            </a:pPr>
            <a:r>
              <a:rPr lang="en-US" sz="1000">
                <a:solidFill>
                  <a:srgbClr val="4A5170"/>
                </a:solidFill>
                <a:latin typeface="Nunito Sans" pitchFamily="34" charset="0"/>
                <a:ea typeface="Nunito Sans" pitchFamily="34" charset="-122"/>
                <a:cs typeface="Nunito Sans" pitchFamily="34" charset="-120"/>
              </a:rPr>
              <a:t>Tactical arbiter, degradation ladder, all configs behind the flag, campaign begins</a:t>
            </a:r>
            <a:endParaRPr lang="en-US" sz="1000"/>
          </a:p>
        </p:txBody>
      </p:sp>
      <p:sp>
        <p:nvSpPr>
          <p:cNvPr id="21" name="Shape 19"/>
          <p:cNvSpPr/>
          <p:nvPr/>
        </p:nvSpPr>
        <p:spPr>
          <a:xfrm>
            <a:off x="8737600" y="2725341"/>
            <a:ext cx="2413000" cy="1221730"/>
          </a:xfrm>
          <a:prstGeom prst="roundRect">
            <a:avLst>
              <a:gd name="adj" fmla="val 9356"/>
            </a:avLst>
          </a:prstGeom>
          <a:solidFill>
            <a:srgbClr val="14163B"/>
          </a:solidFill>
          <a:ln/>
        </p:spPr>
        <p:txBody>
          <a:bodyPr/>
          <a:lstStyle/>
          <a:p>
            <a:endParaRPr lang="en-US"/>
          </a:p>
        </p:txBody>
      </p:sp>
      <p:sp>
        <p:nvSpPr>
          <p:cNvPr id="22" name="Text 20"/>
          <p:cNvSpPr/>
          <p:nvPr/>
        </p:nvSpPr>
        <p:spPr>
          <a:xfrm>
            <a:off x="8890000" y="2890441"/>
            <a:ext cx="2171446" cy="203200"/>
          </a:xfrm>
          <a:prstGeom prst="rect">
            <a:avLst/>
          </a:prstGeom>
          <a:noFill/>
          <a:ln/>
        </p:spPr>
        <p:txBody>
          <a:bodyPr wrap="square" lIns="0" tIns="0" rIns="0" bIns="0" rtlCol="0" anchor="t">
            <a:normAutofit/>
          </a:bodyPr>
          <a:lstStyle/>
          <a:p>
            <a:pPr marL="0" indent="0" algn="l">
              <a:lnSpc>
                <a:spcPts val="1400"/>
              </a:lnSpc>
              <a:buNone/>
            </a:pPr>
            <a:r>
              <a:rPr lang="en-US" sz="1000" b="1" kern="0" spc="50">
                <a:solidFill>
                  <a:srgbClr val="5EEBD9"/>
                </a:solidFill>
                <a:latin typeface="Nunito Sans" pitchFamily="34" charset="0"/>
                <a:ea typeface="Nunito Sans" pitchFamily="34" charset="-122"/>
                <a:cs typeface="Nunito Sans" pitchFamily="34" charset="-120"/>
              </a:rPr>
              <a:t>WEEKS 9–10+</a:t>
            </a:r>
            <a:endParaRPr lang="en-US" sz="1000"/>
          </a:p>
        </p:txBody>
      </p:sp>
      <p:sp>
        <p:nvSpPr>
          <p:cNvPr id="23" name="Text 21"/>
          <p:cNvSpPr/>
          <p:nvPr/>
        </p:nvSpPr>
        <p:spPr>
          <a:xfrm>
            <a:off x="8890000" y="3131741"/>
            <a:ext cx="2171446"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FBFBF8"/>
                </a:solidFill>
                <a:latin typeface="Nunito Sans" pitchFamily="34" charset="0"/>
                <a:ea typeface="Nunito Sans" pitchFamily="34" charset="-122"/>
                <a:cs typeface="Nunito Sans" pitchFamily="34" charset="-120"/>
              </a:rPr>
              <a:t>Evidence &amp; demo</a:t>
            </a:r>
            <a:endParaRPr lang="en-US" sz="1300"/>
          </a:p>
        </p:txBody>
      </p:sp>
      <p:sp>
        <p:nvSpPr>
          <p:cNvPr id="24" name="Text 22"/>
          <p:cNvSpPr/>
          <p:nvPr/>
        </p:nvSpPr>
        <p:spPr>
          <a:xfrm>
            <a:off x="8890000" y="3426371"/>
            <a:ext cx="2171446" cy="381000"/>
          </a:xfrm>
          <a:prstGeom prst="rect">
            <a:avLst/>
          </a:prstGeom>
          <a:noFill/>
          <a:ln/>
        </p:spPr>
        <p:txBody>
          <a:bodyPr wrap="square" lIns="0" tIns="0" rIns="0" bIns="0" rtlCol="0" anchor="t">
            <a:normAutofit/>
          </a:bodyPr>
          <a:lstStyle/>
          <a:p>
            <a:pPr marL="0" indent="0" algn="l">
              <a:lnSpc>
                <a:spcPts val="1400"/>
              </a:lnSpc>
              <a:buNone/>
            </a:pPr>
            <a:r>
              <a:rPr lang="en-US" sz="1000">
                <a:solidFill>
                  <a:srgbClr val="C7CBEA"/>
                </a:solidFill>
                <a:latin typeface="Nunito Sans" pitchFamily="34" charset="0"/>
                <a:ea typeface="Nunito Sans" pitchFamily="34" charset="-122"/>
                <a:cs typeface="Nunito Sans" pitchFamily="34" charset="-120"/>
              </a:rPr>
              <a:t>Hardware validation, red team, analysis, report, final demo</a:t>
            </a:r>
            <a:endParaRPr lang="en-US" sz="1000"/>
          </a:p>
        </p:txBody>
      </p:sp>
      <p:sp>
        <p:nvSpPr>
          <p:cNvPr id="25" name="Shape 23"/>
          <p:cNvSpPr/>
          <p:nvPr/>
        </p:nvSpPr>
        <p:spPr>
          <a:xfrm>
            <a:off x="812800" y="4693841"/>
            <a:ext cx="3437434" cy="609600"/>
          </a:xfrm>
          <a:prstGeom prst="roundRect">
            <a:avLst>
              <a:gd name="adj" fmla="val 16667"/>
            </a:avLst>
          </a:prstGeom>
          <a:solidFill>
            <a:srgbClr val="E7FAF6"/>
          </a:solidFill>
          <a:ln/>
        </p:spPr>
        <p:txBody>
          <a:bodyPr/>
          <a:lstStyle/>
          <a:p>
            <a:endParaRPr lang="en-US"/>
          </a:p>
        </p:txBody>
      </p:sp>
      <p:pic>
        <p:nvPicPr>
          <p:cNvPr id="26" name="Image 0" descr="CheckCircle"/>
          <p:cNvPicPr>
            <a:picLocks noChangeAspect="1"/>
          </p:cNvPicPr>
          <p:nvPr/>
        </p:nvPicPr>
        <p:blipFill>
          <a:blip r:embed="rId3"/>
          <a:srcRect l="-452" r="-452"/>
          <a:stretch/>
        </p:blipFill>
        <p:spPr>
          <a:xfrm>
            <a:off x="977900" y="4909741"/>
            <a:ext cx="121741" cy="177800"/>
          </a:xfrm>
          <a:prstGeom prst="rect">
            <a:avLst/>
          </a:prstGeom>
        </p:spPr>
      </p:pic>
      <p:sp>
        <p:nvSpPr>
          <p:cNvPr id="27" name="Text 24"/>
          <p:cNvSpPr/>
          <p:nvPr/>
        </p:nvSpPr>
        <p:spPr>
          <a:xfrm>
            <a:off x="1201241" y="4820841"/>
            <a:ext cx="2970409" cy="3810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0E8F81"/>
                </a:solidFill>
                <a:latin typeface="Nunito Sans" pitchFamily="34" charset="0"/>
                <a:ea typeface="Nunito Sans" pitchFamily="34" charset="-122"/>
                <a:cs typeface="Nunito Sans" pitchFamily="34" charset="-120"/>
              </a:rPr>
              <a:t>MS1 (end Wk 2): reflex gate cuts motors live, edge &amp; cloud black-holed</a:t>
            </a:r>
            <a:endParaRPr lang="en-US" sz="1000"/>
          </a:p>
        </p:txBody>
      </p:sp>
      <p:sp>
        <p:nvSpPr>
          <p:cNvPr id="28" name="Shape 25"/>
          <p:cNvSpPr/>
          <p:nvPr/>
        </p:nvSpPr>
        <p:spPr>
          <a:xfrm>
            <a:off x="4377234" y="4693841"/>
            <a:ext cx="3437483" cy="609600"/>
          </a:xfrm>
          <a:prstGeom prst="roundRect">
            <a:avLst>
              <a:gd name="adj" fmla="val 16667"/>
            </a:avLst>
          </a:prstGeom>
          <a:solidFill>
            <a:srgbClr val="EFEBFE"/>
          </a:solidFill>
          <a:ln/>
        </p:spPr>
        <p:txBody>
          <a:bodyPr/>
          <a:lstStyle/>
          <a:p>
            <a:endParaRPr lang="en-US"/>
          </a:p>
        </p:txBody>
      </p:sp>
      <p:pic>
        <p:nvPicPr>
          <p:cNvPr id="29" name="Image 1" descr="CheckCircle"/>
          <p:cNvPicPr>
            <a:picLocks noChangeAspect="1"/>
          </p:cNvPicPr>
          <p:nvPr/>
        </p:nvPicPr>
        <p:blipFill>
          <a:blip r:embed="rId4"/>
          <a:srcRect l="-1211" r="-1211"/>
          <a:stretch/>
        </p:blipFill>
        <p:spPr>
          <a:xfrm>
            <a:off x="4542334" y="4909741"/>
            <a:ext cx="130076" cy="177800"/>
          </a:xfrm>
          <a:prstGeom prst="rect">
            <a:avLst/>
          </a:prstGeom>
        </p:spPr>
      </p:pic>
      <p:sp>
        <p:nvSpPr>
          <p:cNvPr id="30" name="Text 26"/>
          <p:cNvSpPr/>
          <p:nvPr/>
        </p:nvSpPr>
        <p:spPr>
          <a:xfrm>
            <a:off x="4774009" y="4820841"/>
            <a:ext cx="2961876" cy="3810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A3FD6"/>
                </a:solidFill>
                <a:latin typeface="Nunito Sans" pitchFamily="34" charset="0"/>
                <a:ea typeface="Nunito Sans" pitchFamily="34" charset="-122"/>
                <a:cs typeface="Nunito Sans" pitchFamily="34" charset="-120"/>
              </a:rPr>
              <a:t>MS2 (end Wk 4): lease issued, ladder steps L1→L3 live on Grafana</a:t>
            </a:r>
            <a:endParaRPr lang="en-US" sz="1000"/>
          </a:p>
        </p:txBody>
      </p:sp>
      <p:sp>
        <p:nvSpPr>
          <p:cNvPr id="31" name="Shape 27"/>
          <p:cNvSpPr/>
          <p:nvPr/>
        </p:nvSpPr>
        <p:spPr>
          <a:xfrm>
            <a:off x="7941717" y="4693841"/>
            <a:ext cx="3437483" cy="609600"/>
          </a:xfrm>
          <a:prstGeom prst="roundRect">
            <a:avLst>
              <a:gd name="adj" fmla="val 16667"/>
            </a:avLst>
          </a:prstGeom>
          <a:solidFill>
            <a:srgbClr val="14163B"/>
          </a:solidFill>
          <a:ln/>
        </p:spPr>
        <p:txBody>
          <a:bodyPr/>
          <a:lstStyle/>
          <a:p>
            <a:endParaRPr lang="en-US"/>
          </a:p>
        </p:txBody>
      </p:sp>
      <p:pic>
        <p:nvPicPr>
          <p:cNvPr id="32" name="Image 2" descr="CheckCircle"/>
          <p:cNvPicPr>
            <a:picLocks noChangeAspect="1"/>
          </p:cNvPicPr>
          <p:nvPr/>
        </p:nvPicPr>
        <p:blipFill>
          <a:blip r:embed="rId5"/>
          <a:srcRect t="-986" b="-986"/>
          <a:stretch/>
        </p:blipFill>
        <p:spPr>
          <a:xfrm>
            <a:off x="8106817" y="4909741"/>
            <a:ext cx="130770" cy="177800"/>
          </a:xfrm>
          <a:prstGeom prst="rect">
            <a:avLst/>
          </a:prstGeom>
        </p:spPr>
      </p:pic>
      <p:sp>
        <p:nvSpPr>
          <p:cNvPr id="33" name="Text 28"/>
          <p:cNvSpPr/>
          <p:nvPr/>
        </p:nvSpPr>
        <p:spPr>
          <a:xfrm>
            <a:off x="8339187" y="4820841"/>
            <a:ext cx="2961160" cy="381000"/>
          </a:xfrm>
          <a:prstGeom prst="rect">
            <a:avLst/>
          </a:prstGeom>
          <a:noFill/>
          <a:ln/>
        </p:spPr>
        <p:txBody>
          <a:bodyPr wrap="square" lIns="0" tIns="0" rIns="0" bIns="0" rtlCol="0" anchor="t">
            <a:normAutofit/>
          </a:bodyPr>
          <a:lstStyle/>
          <a:p>
            <a:pPr marL="0" indent="0" algn="l">
              <a:lnSpc>
                <a:spcPts val="1400"/>
              </a:lnSpc>
              <a:buNone/>
            </a:pPr>
            <a:r>
              <a:rPr lang="en-US" sz="1000" b="1">
                <a:solidFill>
                  <a:srgbClr val="5EEBD9"/>
                </a:solidFill>
                <a:latin typeface="Nunito Sans" pitchFamily="34" charset="0"/>
                <a:ea typeface="Nunito Sans" pitchFamily="34" charset="-122"/>
                <a:cs typeface="Nunito Sans" pitchFamily="34" charset="-120"/>
              </a:rPr>
              <a:t>MS3 (end Wk 6): full campaign, cost frontier, live hardware errand</a:t>
            </a:r>
            <a:endParaRPr lang="en-US" sz="1000"/>
          </a:p>
        </p:txBody>
      </p:sp>
      <p:sp>
        <p:nvSpPr>
          <p:cNvPr id="34" name="Text 29"/>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35" name="Text 30"/>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15 / 17</a:t>
            </a:r>
            <a:endParaRPr lang="en-US"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a:solidFill>
                  <a:srgbClr val="14163B"/>
                </a:solidFill>
                <a:latin typeface="Rubik" pitchFamily="34" charset="0"/>
                <a:ea typeface="Rubik" pitchFamily="34" charset="-122"/>
                <a:cs typeface="Rubik" pitchFamily="34" charset="-120"/>
              </a:rPr>
              <a:t>Risks and mitigations</a:t>
            </a:r>
            <a:endParaRPr lang="en-US" sz="2800"/>
          </a:p>
        </p:txBody>
      </p:sp>
      <p:sp>
        <p:nvSpPr>
          <p:cNvPr id="3" name="Shape 1"/>
          <p:cNvSpPr/>
          <p:nvPr/>
        </p:nvSpPr>
        <p:spPr>
          <a:xfrm>
            <a:off x="812800" y="1457920"/>
            <a:ext cx="3420517" cy="4384080"/>
          </a:xfrm>
          <a:prstGeom prst="roundRect">
            <a:avLst>
              <a:gd name="adj" fmla="val 3713"/>
            </a:avLst>
          </a:prstGeom>
          <a:solidFill>
            <a:srgbClr val="FFFFFF"/>
          </a:solidFill>
          <a:ln/>
        </p:spPr>
        <p:txBody>
          <a:bodyPr/>
          <a:lstStyle/>
          <a:p>
            <a:endParaRPr lang="en-US"/>
          </a:p>
        </p:txBody>
      </p:sp>
      <p:sp>
        <p:nvSpPr>
          <p:cNvPr id="4" name="Shape 2"/>
          <p:cNvSpPr/>
          <p:nvPr/>
        </p:nvSpPr>
        <p:spPr>
          <a:xfrm>
            <a:off x="1041400" y="1686520"/>
            <a:ext cx="464245" cy="340320"/>
          </a:xfrm>
          <a:prstGeom prst="roundRect">
            <a:avLst>
              <a:gd name="adj" fmla="val 50000"/>
            </a:avLst>
          </a:prstGeom>
          <a:solidFill>
            <a:srgbClr val="FBEFE0"/>
          </a:solidFill>
          <a:ln/>
        </p:spPr>
        <p:txBody>
          <a:bodyPr/>
          <a:lstStyle/>
          <a:p>
            <a:endParaRPr lang="en-US"/>
          </a:p>
        </p:txBody>
      </p:sp>
      <p:sp>
        <p:nvSpPr>
          <p:cNvPr id="5" name="Text 3"/>
          <p:cNvSpPr/>
          <p:nvPr/>
        </p:nvSpPr>
        <p:spPr>
          <a:xfrm>
            <a:off x="1168400" y="1750020"/>
            <a:ext cx="261045"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B45E10"/>
                </a:solidFill>
                <a:latin typeface="Nunito Sans" pitchFamily="34" charset="0"/>
                <a:ea typeface="Nunito Sans" pitchFamily="34" charset="-122"/>
                <a:cs typeface="Nunito Sans" pitchFamily="34" charset="-120"/>
              </a:rPr>
              <a:t>R1</a:t>
            </a:r>
            <a:endParaRPr lang="en-US" sz="1200"/>
          </a:p>
        </p:txBody>
      </p:sp>
      <p:sp>
        <p:nvSpPr>
          <p:cNvPr id="6" name="Text 4"/>
          <p:cNvSpPr/>
          <p:nvPr/>
        </p:nvSpPr>
        <p:spPr>
          <a:xfrm>
            <a:off x="1041400" y="2153841"/>
            <a:ext cx="3052216" cy="487660"/>
          </a:xfrm>
          <a:prstGeom prst="rect">
            <a:avLst/>
          </a:prstGeom>
          <a:noFill/>
          <a:ln/>
        </p:spPr>
        <p:txBody>
          <a:bodyPr wrap="square" lIns="0" tIns="0" rIns="0" bIns="0" rtlCol="0" anchor="t">
            <a:normAutofit/>
          </a:bodyPr>
          <a:lstStyle/>
          <a:p>
            <a:pPr marL="0" indent="0" algn="l">
              <a:lnSpc>
                <a:spcPts val="1820"/>
              </a:lnSpc>
              <a:buNone/>
            </a:pPr>
            <a:r>
              <a:rPr lang="en-US" sz="1400" b="1">
                <a:solidFill>
                  <a:srgbClr val="14163B"/>
                </a:solidFill>
                <a:latin typeface="Nunito Sans" pitchFamily="34" charset="0"/>
                <a:ea typeface="Nunito Sans" pitchFamily="34" charset="-122"/>
                <a:cs typeface="Nunito Sans" pitchFamily="34" charset="-120"/>
              </a:rPr>
              <a:t>The edge SLM is too slow for NFR-3</a:t>
            </a:r>
            <a:endParaRPr lang="en-US" sz="1400"/>
          </a:p>
        </p:txBody>
      </p:sp>
      <p:sp>
        <p:nvSpPr>
          <p:cNvPr id="7" name="Text 5"/>
          <p:cNvSpPr/>
          <p:nvPr/>
        </p:nvSpPr>
        <p:spPr>
          <a:xfrm>
            <a:off x="1041400" y="4813300"/>
            <a:ext cx="3052216" cy="825500"/>
          </a:xfrm>
          <a:prstGeom prst="rect">
            <a:avLst/>
          </a:prstGeom>
          <a:noFill/>
          <a:ln/>
        </p:spPr>
        <p:txBody>
          <a:bodyPr wrap="square" lIns="0" tIns="0" rIns="0" bIns="0" rtlCol="0" anchor="t">
            <a:normAutofit/>
          </a:bodyPr>
          <a:lstStyle/>
          <a:p>
            <a:pPr marL="0" indent="0" algn="l">
              <a:lnSpc>
                <a:spcPts val="1575"/>
              </a:lnSpc>
              <a:buNone/>
            </a:pPr>
            <a:r>
              <a:rPr lang="en-US" sz="1050">
                <a:solidFill>
                  <a:srgbClr val="4A5170"/>
                </a:solidFill>
                <a:latin typeface="Nunito Sans" pitchFamily="34" charset="0"/>
                <a:ea typeface="Nunito Sans" pitchFamily="34" charset="-122"/>
                <a:cs typeface="Nunito Sans" pitchFamily="34" charset="-120"/>
              </a:rPr>
              <a:t>Plan B: fall back to a lightweight classifier over the same action set, or shift tactical reasoning to the cloud — the lease machinery and every experiment stay unchanged.</a:t>
            </a:r>
            <a:endParaRPr lang="en-US" sz="1050"/>
          </a:p>
        </p:txBody>
      </p:sp>
      <p:sp>
        <p:nvSpPr>
          <p:cNvPr id="8" name="Shape 6"/>
          <p:cNvSpPr/>
          <p:nvPr/>
        </p:nvSpPr>
        <p:spPr>
          <a:xfrm>
            <a:off x="4385717" y="1457920"/>
            <a:ext cx="3420566" cy="4384080"/>
          </a:xfrm>
          <a:prstGeom prst="roundRect">
            <a:avLst>
              <a:gd name="adj" fmla="val 3713"/>
            </a:avLst>
          </a:prstGeom>
          <a:solidFill>
            <a:srgbClr val="FFFFFF"/>
          </a:solidFill>
          <a:ln/>
        </p:spPr>
        <p:txBody>
          <a:bodyPr/>
          <a:lstStyle/>
          <a:p>
            <a:endParaRPr lang="en-US"/>
          </a:p>
        </p:txBody>
      </p:sp>
      <p:sp>
        <p:nvSpPr>
          <p:cNvPr id="9" name="Shape 7"/>
          <p:cNvSpPr/>
          <p:nvPr/>
        </p:nvSpPr>
        <p:spPr>
          <a:xfrm>
            <a:off x="4614317" y="1686520"/>
            <a:ext cx="464245" cy="340320"/>
          </a:xfrm>
          <a:prstGeom prst="roundRect">
            <a:avLst>
              <a:gd name="adj" fmla="val 50000"/>
            </a:avLst>
          </a:prstGeom>
          <a:solidFill>
            <a:srgbClr val="FBEFE0"/>
          </a:solidFill>
          <a:ln/>
        </p:spPr>
        <p:txBody>
          <a:bodyPr/>
          <a:lstStyle/>
          <a:p>
            <a:endParaRPr lang="en-US"/>
          </a:p>
        </p:txBody>
      </p:sp>
      <p:sp>
        <p:nvSpPr>
          <p:cNvPr id="10" name="Text 8"/>
          <p:cNvSpPr/>
          <p:nvPr/>
        </p:nvSpPr>
        <p:spPr>
          <a:xfrm>
            <a:off x="4741317" y="1750020"/>
            <a:ext cx="261045"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B45E10"/>
                </a:solidFill>
                <a:latin typeface="Nunito Sans" pitchFamily="34" charset="0"/>
                <a:ea typeface="Nunito Sans" pitchFamily="34" charset="-122"/>
                <a:cs typeface="Nunito Sans" pitchFamily="34" charset="-120"/>
              </a:rPr>
              <a:t>R2</a:t>
            </a:r>
            <a:endParaRPr lang="en-US" sz="1200"/>
          </a:p>
        </p:txBody>
      </p:sp>
      <p:sp>
        <p:nvSpPr>
          <p:cNvPr id="11" name="Text 9"/>
          <p:cNvSpPr/>
          <p:nvPr/>
        </p:nvSpPr>
        <p:spPr>
          <a:xfrm>
            <a:off x="4614317" y="2153841"/>
            <a:ext cx="3052267" cy="487660"/>
          </a:xfrm>
          <a:prstGeom prst="rect">
            <a:avLst/>
          </a:prstGeom>
          <a:noFill/>
          <a:ln/>
        </p:spPr>
        <p:txBody>
          <a:bodyPr wrap="square" lIns="0" tIns="0" rIns="0" bIns="0" rtlCol="0" anchor="t">
            <a:normAutofit/>
          </a:bodyPr>
          <a:lstStyle/>
          <a:p>
            <a:pPr marL="0" indent="0" algn="l">
              <a:lnSpc>
                <a:spcPts val="1820"/>
              </a:lnSpc>
              <a:buNone/>
            </a:pPr>
            <a:r>
              <a:rPr lang="en-US" sz="1400" b="1">
                <a:solidFill>
                  <a:srgbClr val="14163B"/>
                </a:solidFill>
                <a:latin typeface="Nunito Sans" pitchFamily="34" charset="0"/>
                <a:ea typeface="Nunito Sans" pitchFamily="34" charset="-122"/>
                <a:cs typeface="Nunito Sans" pitchFamily="34" charset="-120"/>
              </a:rPr>
              <a:t>AWS spend or LLM rate limits overrun budget</a:t>
            </a:r>
            <a:endParaRPr lang="en-US" sz="1400"/>
          </a:p>
        </p:txBody>
      </p:sp>
      <p:sp>
        <p:nvSpPr>
          <p:cNvPr id="12" name="Text 10"/>
          <p:cNvSpPr/>
          <p:nvPr/>
        </p:nvSpPr>
        <p:spPr>
          <a:xfrm>
            <a:off x="4614317" y="5013325"/>
            <a:ext cx="3052267" cy="625475"/>
          </a:xfrm>
          <a:prstGeom prst="rect">
            <a:avLst/>
          </a:prstGeom>
          <a:noFill/>
          <a:ln/>
        </p:spPr>
        <p:txBody>
          <a:bodyPr wrap="square" lIns="0" tIns="0" rIns="0" bIns="0" rtlCol="0" anchor="t">
            <a:normAutofit/>
          </a:bodyPr>
          <a:lstStyle/>
          <a:p>
            <a:pPr marL="0" indent="0" algn="l">
              <a:lnSpc>
                <a:spcPts val="1575"/>
              </a:lnSpc>
              <a:buNone/>
            </a:pPr>
            <a:r>
              <a:rPr lang="en-US" sz="1050">
                <a:solidFill>
                  <a:srgbClr val="4A5170"/>
                </a:solidFill>
                <a:latin typeface="Nunito Sans" pitchFamily="34" charset="0"/>
                <a:ea typeface="Nunito Sans" pitchFamily="34" charset="-122"/>
                <a:cs typeface="Nunito Sans" pitchFamily="34" charset="-120"/>
              </a:rPr>
              <a:t>Budget alarms and cost tags from Week 1, a mock planner for latency-insensitive cells, low replica floors, weekly teardown checks.</a:t>
            </a:r>
            <a:endParaRPr lang="en-US" sz="1050"/>
          </a:p>
        </p:txBody>
      </p:sp>
      <p:sp>
        <p:nvSpPr>
          <p:cNvPr id="13" name="Shape 11"/>
          <p:cNvSpPr/>
          <p:nvPr/>
        </p:nvSpPr>
        <p:spPr>
          <a:xfrm>
            <a:off x="7958683" y="1457920"/>
            <a:ext cx="3420517" cy="4384080"/>
          </a:xfrm>
          <a:prstGeom prst="roundRect">
            <a:avLst>
              <a:gd name="adj" fmla="val 3713"/>
            </a:avLst>
          </a:prstGeom>
          <a:solidFill>
            <a:srgbClr val="14163B"/>
          </a:solidFill>
          <a:ln/>
        </p:spPr>
        <p:txBody>
          <a:bodyPr/>
          <a:lstStyle/>
          <a:p>
            <a:endParaRPr lang="en-US"/>
          </a:p>
        </p:txBody>
      </p:sp>
      <p:sp>
        <p:nvSpPr>
          <p:cNvPr id="14" name="Shape 12"/>
          <p:cNvSpPr/>
          <p:nvPr/>
        </p:nvSpPr>
        <p:spPr>
          <a:xfrm>
            <a:off x="8187283" y="1686520"/>
            <a:ext cx="464245" cy="340320"/>
          </a:xfrm>
          <a:prstGeom prst="roundRect">
            <a:avLst>
              <a:gd name="adj" fmla="val 50000"/>
            </a:avLst>
          </a:prstGeom>
          <a:solidFill>
            <a:srgbClr val="F2C879">
              <a:alpha val="14000"/>
            </a:srgbClr>
          </a:solidFill>
          <a:ln/>
        </p:spPr>
        <p:txBody>
          <a:bodyPr/>
          <a:lstStyle/>
          <a:p>
            <a:endParaRPr lang="en-US"/>
          </a:p>
        </p:txBody>
      </p:sp>
      <p:sp>
        <p:nvSpPr>
          <p:cNvPr id="15" name="Text 13"/>
          <p:cNvSpPr/>
          <p:nvPr/>
        </p:nvSpPr>
        <p:spPr>
          <a:xfrm>
            <a:off x="8314283" y="1750020"/>
            <a:ext cx="261045" cy="238720"/>
          </a:xfrm>
          <a:prstGeom prst="rect">
            <a:avLst/>
          </a:prstGeom>
          <a:noFill/>
          <a:ln/>
        </p:spPr>
        <p:txBody>
          <a:bodyPr wrap="square" lIns="0" tIns="0" rIns="0" bIns="0" rtlCol="0" anchor="t">
            <a:normAutofit/>
          </a:bodyPr>
          <a:lstStyle/>
          <a:p>
            <a:pPr marL="0" indent="0" algn="l">
              <a:lnSpc>
                <a:spcPts val="1680"/>
              </a:lnSpc>
              <a:buNone/>
            </a:pPr>
            <a:r>
              <a:rPr lang="en-US" sz="1200" b="1" kern="0" spc="50">
                <a:solidFill>
                  <a:srgbClr val="F2C879"/>
                </a:solidFill>
                <a:latin typeface="Nunito Sans" pitchFamily="34" charset="0"/>
                <a:ea typeface="Nunito Sans" pitchFamily="34" charset="-122"/>
                <a:cs typeface="Nunito Sans" pitchFamily="34" charset="-120"/>
              </a:rPr>
              <a:t>R3</a:t>
            </a:r>
            <a:endParaRPr lang="en-US" sz="1200"/>
          </a:p>
        </p:txBody>
      </p:sp>
      <p:sp>
        <p:nvSpPr>
          <p:cNvPr id="16" name="Text 14"/>
          <p:cNvSpPr/>
          <p:nvPr/>
        </p:nvSpPr>
        <p:spPr>
          <a:xfrm>
            <a:off x="8187283" y="2153841"/>
            <a:ext cx="3052216" cy="487660"/>
          </a:xfrm>
          <a:prstGeom prst="rect">
            <a:avLst/>
          </a:prstGeom>
          <a:noFill/>
          <a:ln/>
        </p:spPr>
        <p:txBody>
          <a:bodyPr wrap="square" lIns="0" tIns="0" rIns="0" bIns="0" rtlCol="0" anchor="t">
            <a:normAutofit/>
          </a:bodyPr>
          <a:lstStyle/>
          <a:p>
            <a:pPr marL="0" indent="0" algn="l">
              <a:lnSpc>
                <a:spcPts val="1820"/>
              </a:lnSpc>
              <a:buNone/>
            </a:pPr>
            <a:r>
              <a:rPr lang="en-US" sz="1400" b="1">
                <a:solidFill>
                  <a:srgbClr val="FBFBF8"/>
                </a:solidFill>
                <a:latin typeface="Nunito Sans" pitchFamily="34" charset="0"/>
                <a:ea typeface="Nunito Sans" pitchFamily="34" charset="-122"/>
                <a:cs typeface="Nunito Sans" pitchFamily="34" charset="-120"/>
              </a:rPr>
              <a:t>The campaign does not fit the schedule</a:t>
            </a:r>
            <a:endParaRPr lang="en-US" sz="1400"/>
          </a:p>
        </p:txBody>
      </p:sp>
      <p:sp>
        <p:nvSpPr>
          <p:cNvPr id="17" name="Text 15"/>
          <p:cNvSpPr/>
          <p:nvPr/>
        </p:nvSpPr>
        <p:spPr>
          <a:xfrm>
            <a:off x="8187283" y="5013325"/>
            <a:ext cx="3052216" cy="625475"/>
          </a:xfrm>
          <a:prstGeom prst="rect">
            <a:avLst/>
          </a:prstGeom>
          <a:noFill/>
          <a:ln/>
        </p:spPr>
        <p:txBody>
          <a:bodyPr wrap="square" lIns="0" tIns="0" rIns="0" bIns="0" rtlCol="0" anchor="t">
            <a:normAutofit/>
          </a:bodyPr>
          <a:lstStyle/>
          <a:p>
            <a:pPr marL="0" indent="0" algn="l">
              <a:lnSpc>
                <a:spcPts val="1575"/>
              </a:lnSpc>
              <a:buNone/>
            </a:pPr>
            <a:r>
              <a:rPr lang="en-US" sz="1050">
                <a:solidFill>
                  <a:srgbClr val="C7CBEA"/>
                </a:solidFill>
                <a:latin typeface="Nunito Sans" pitchFamily="34" charset="0"/>
                <a:ea typeface="Nunito Sans" pitchFamily="34" charset="-122"/>
                <a:cs typeface="Nunito Sans" pitchFamily="34" charset="-120"/>
              </a:rPr>
              <a:t>A declared reduction order — stretch cells first, then long outages, then M1 — but never the safety experiments E4, E5, E6.</a:t>
            </a:r>
            <a:endParaRPr lang="en-US" sz="1050"/>
          </a:p>
        </p:txBody>
      </p:sp>
      <p:sp>
        <p:nvSpPr>
          <p:cNvPr id="18" name="Text 16"/>
          <p:cNvSpPr/>
          <p:nvPr/>
        </p:nvSpPr>
        <p:spPr>
          <a:xfrm>
            <a:off x="812800" y="6238280"/>
            <a:ext cx="583605"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Nimbus</a:t>
            </a:r>
            <a:endParaRPr lang="en-US" sz="1200"/>
          </a:p>
        </p:txBody>
      </p:sp>
      <p:sp>
        <p:nvSpPr>
          <p:cNvPr id="19" name="Text 17"/>
          <p:cNvSpPr/>
          <p:nvPr/>
        </p:nvSpPr>
        <p:spPr>
          <a:xfrm>
            <a:off x="10888067" y="6238280"/>
            <a:ext cx="541933" cy="238720"/>
          </a:xfrm>
          <a:prstGeom prst="rect">
            <a:avLst/>
          </a:prstGeom>
          <a:noFill/>
          <a:ln/>
        </p:spPr>
        <p:txBody>
          <a:bodyPr wrap="square" lIns="0" tIns="0" rIns="0" bIns="0" rtlCol="0" anchor="t">
            <a:normAutofit/>
          </a:bodyPr>
          <a:lstStyle/>
          <a:p>
            <a:pPr marL="0" indent="0" algn="l">
              <a:lnSpc>
                <a:spcPts val="1680"/>
              </a:lnSpc>
              <a:buNone/>
            </a:pPr>
            <a:r>
              <a:rPr lang="en-US" sz="1200" b="1">
                <a:solidFill>
                  <a:srgbClr val="8A8FA8"/>
                </a:solidFill>
                <a:latin typeface="Nunito Sans" pitchFamily="34" charset="0"/>
                <a:ea typeface="Nunito Sans" pitchFamily="34" charset="-122"/>
                <a:cs typeface="Nunito Sans" pitchFamily="34" charset="-120"/>
              </a:rPr>
              <a:t>16 / 17</a:t>
            </a:r>
            <a:endParaRPr 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63B"/>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163B"/>
              </a:gs>
              <a:gs pos="100000">
                <a:srgbClr val="1E2150"/>
              </a:gs>
            </a:gsLst>
            <a:lin ang="3000000" scaled="0"/>
          </a:gradFill>
          <a:ln/>
        </p:spPr>
        <p:txBody>
          <a:bodyPr/>
          <a:lstStyle/>
          <a:p>
            <a:endParaRPr lang="en-US"/>
          </a:p>
        </p:txBody>
      </p:sp>
      <p:sp>
        <p:nvSpPr>
          <p:cNvPr id="3" name="Text 1"/>
          <p:cNvSpPr/>
          <p:nvPr/>
        </p:nvSpPr>
        <p:spPr>
          <a:xfrm>
            <a:off x="5637262" y="1301155"/>
            <a:ext cx="96827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5EEBD9"/>
                </a:solidFill>
                <a:latin typeface="Nunito Sans" pitchFamily="34" charset="0"/>
                <a:ea typeface="Nunito Sans" pitchFamily="34" charset="-122"/>
                <a:cs typeface="Nunito Sans" pitchFamily="34" charset="-120"/>
              </a:rPr>
              <a:t>SUMMARY</a:t>
            </a:r>
            <a:endParaRPr lang="en-US" sz="1200"/>
          </a:p>
        </p:txBody>
      </p:sp>
      <p:sp>
        <p:nvSpPr>
          <p:cNvPr id="4" name="Text 2"/>
          <p:cNvSpPr/>
          <p:nvPr/>
        </p:nvSpPr>
        <p:spPr>
          <a:xfrm>
            <a:off x="1517650" y="1819275"/>
            <a:ext cx="9156700" cy="1644650"/>
          </a:xfrm>
          <a:prstGeom prst="rect">
            <a:avLst/>
          </a:prstGeom>
          <a:noFill/>
          <a:ln/>
        </p:spPr>
        <p:txBody>
          <a:bodyPr wrap="square" lIns="0" tIns="0" rIns="0" bIns="0" rtlCol="0" anchor="t">
            <a:normAutofit/>
          </a:bodyPr>
          <a:lstStyle/>
          <a:p>
            <a:pPr marL="0" indent="0" algn="ctr">
              <a:lnSpc>
                <a:spcPts val="4250"/>
              </a:lnSpc>
              <a:buNone/>
            </a:pPr>
            <a:r>
              <a:rPr lang="en-US" sz="3400" b="1">
                <a:solidFill>
                  <a:srgbClr val="FBFBF8"/>
                </a:solidFill>
                <a:latin typeface="Rubik" pitchFamily="34" charset="0"/>
                <a:ea typeface="Rubik" pitchFamily="34" charset="-122"/>
                <a:cs typeface="Rubik" pitchFamily="34" charset="-120"/>
              </a:rPr>
              <a:t>Authority decays safely when connectivity does — measured, not assumed</a:t>
            </a:r>
            <a:endParaRPr lang="en-US" sz="3400"/>
          </a:p>
        </p:txBody>
      </p:sp>
      <p:sp>
        <p:nvSpPr>
          <p:cNvPr id="5" name="Shape 3"/>
          <p:cNvSpPr/>
          <p:nvPr/>
        </p:nvSpPr>
        <p:spPr>
          <a:xfrm>
            <a:off x="815975" y="3746500"/>
            <a:ext cx="3414167" cy="1050230"/>
          </a:xfrm>
          <a:prstGeom prst="roundRect">
            <a:avLst>
              <a:gd name="adj" fmla="val 11790"/>
            </a:avLst>
          </a:prstGeom>
          <a:solidFill>
            <a:srgbClr val="FFFFFF">
              <a:alpha val="7000"/>
            </a:srgbClr>
          </a:solidFill>
          <a:ln w="6350">
            <a:solidFill>
              <a:srgbClr val="FFFFFF">
                <a:alpha val="16000"/>
              </a:srgbClr>
            </a:solidFill>
            <a:prstDash val="solid"/>
          </a:ln>
        </p:spPr>
        <p:txBody>
          <a:bodyPr/>
          <a:lstStyle/>
          <a:p>
            <a:endParaRPr lang="en-US"/>
          </a:p>
        </p:txBody>
      </p:sp>
      <p:sp>
        <p:nvSpPr>
          <p:cNvPr id="6" name="Text 4"/>
          <p:cNvSpPr/>
          <p:nvPr/>
        </p:nvSpPr>
        <p:spPr>
          <a:xfrm>
            <a:off x="1560314" y="3952875"/>
            <a:ext cx="1983253" cy="41652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5EEBD9"/>
                </a:solidFill>
                <a:latin typeface="Nunito Sans" pitchFamily="34" charset="0"/>
                <a:ea typeface="Nunito Sans" pitchFamily="34" charset="-122"/>
                <a:cs typeface="Nunito Sans" pitchFamily="34" charset="-120"/>
              </a:rPr>
              <a:t>7 FRs / 7 NFRs</a:t>
            </a:r>
            <a:endParaRPr lang="en-US" sz="2200"/>
          </a:p>
        </p:txBody>
      </p:sp>
      <p:sp>
        <p:nvSpPr>
          <p:cNvPr id="7" name="Text 5"/>
          <p:cNvSpPr/>
          <p:nvPr/>
        </p:nvSpPr>
        <p:spPr>
          <a:xfrm>
            <a:off x="1859260" y="4394795"/>
            <a:ext cx="1378347" cy="220960"/>
          </a:xfrm>
          <a:prstGeom prst="rect">
            <a:avLst/>
          </a:prstGeom>
          <a:noFill/>
          <a:ln/>
        </p:spPr>
        <p:txBody>
          <a:bodyPr wrap="square" lIns="0" tIns="0" rIns="0" bIns="0" rtlCol="0" anchor="t">
            <a:normAutofit/>
          </a:bodyPr>
          <a:lstStyle/>
          <a:p>
            <a:pPr marL="0" indent="0" algn="l">
              <a:lnSpc>
                <a:spcPts val="1540"/>
              </a:lnSpc>
              <a:buNone/>
            </a:pPr>
            <a:r>
              <a:rPr lang="en-US" sz="1100">
                <a:solidFill>
                  <a:srgbClr val="C7CBEA"/>
                </a:solidFill>
                <a:latin typeface="Nunito Sans" pitchFamily="34" charset="0"/>
                <a:ea typeface="Nunito Sans" pitchFamily="34" charset="-122"/>
                <a:cs typeface="Nunito Sans" pitchFamily="34" charset="-120"/>
              </a:rPr>
              <a:t>MVP requirement set</a:t>
            </a:r>
            <a:endParaRPr lang="en-US" sz="1100"/>
          </a:p>
        </p:txBody>
      </p:sp>
      <p:sp>
        <p:nvSpPr>
          <p:cNvPr id="8" name="Shape 6"/>
          <p:cNvSpPr/>
          <p:nvPr/>
        </p:nvSpPr>
        <p:spPr>
          <a:xfrm>
            <a:off x="4388892" y="3746500"/>
            <a:ext cx="3414216" cy="1050230"/>
          </a:xfrm>
          <a:prstGeom prst="roundRect">
            <a:avLst>
              <a:gd name="adj" fmla="val 11790"/>
            </a:avLst>
          </a:prstGeom>
          <a:solidFill>
            <a:srgbClr val="FFFFFF">
              <a:alpha val="7000"/>
            </a:srgbClr>
          </a:solidFill>
          <a:ln w="6350">
            <a:solidFill>
              <a:srgbClr val="FFFFFF">
                <a:alpha val="16000"/>
              </a:srgbClr>
            </a:solidFill>
            <a:prstDash val="solid"/>
          </a:ln>
        </p:spPr>
        <p:txBody>
          <a:bodyPr/>
          <a:lstStyle/>
          <a:p>
            <a:endParaRPr lang="en-US"/>
          </a:p>
        </p:txBody>
      </p:sp>
      <p:sp>
        <p:nvSpPr>
          <p:cNvPr id="9" name="Text 7"/>
          <p:cNvSpPr/>
          <p:nvPr/>
        </p:nvSpPr>
        <p:spPr>
          <a:xfrm>
            <a:off x="5145931" y="3952875"/>
            <a:ext cx="1957091" cy="41652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8B7CF6"/>
                </a:solidFill>
                <a:latin typeface="Nunito Sans" pitchFamily="34" charset="0"/>
                <a:ea typeface="Nunito Sans" pitchFamily="34" charset="-122"/>
                <a:cs typeface="Nunito Sans" pitchFamily="34" charset="-120"/>
              </a:rPr>
              <a:t>M0 / M3+ / M4</a:t>
            </a:r>
            <a:endParaRPr lang="en-US" sz="2200"/>
          </a:p>
        </p:txBody>
      </p:sp>
      <p:sp>
        <p:nvSpPr>
          <p:cNvPr id="10" name="Text 8"/>
          <p:cNvSpPr/>
          <p:nvPr/>
        </p:nvSpPr>
        <p:spPr>
          <a:xfrm>
            <a:off x="5312271" y="4394795"/>
            <a:ext cx="1618208" cy="220960"/>
          </a:xfrm>
          <a:prstGeom prst="rect">
            <a:avLst/>
          </a:prstGeom>
          <a:noFill/>
          <a:ln/>
        </p:spPr>
        <p:txBody>
          <a:bodyPr wrap="square" lIns="0" tIns="0" rIns="0" bIns="0" rtlCol="0" anchor="t">
            <a:normAutofit/>
          </a:bodyPr>
          <a:lstStyle/>
          <a:p>
            <a:pPr marL="0" indent="0" algn="l">
              <a:lnSpc>
                <a:spcPts val="1540"/>
              </a:lnSpc>
              <a:buNone/>
            </a:pPr>
            <a:r>
              <a:rPr lang="en-US" sz="1100">
                <a:solidFill>
                  <a:srgbClr val="C7CBEA"/>
                </a:solidFill>
                <a:latin typeface="Nunito Sans" pitchFamily="34" charset="0"/>
                <a:ea typeface="Nunito Sans" pitchFamily="34" charset="-122"/>
                <a:cs typeface="Nunito Sans" pitchFamily="34" charset="-120"/>
              </a:rPr>
              <a:t>Configurations measured</a:t>
            </a:r>
            <a:endParaRPr lang="en-US" sz="1100"/>
          </a:p>
        </p:txBody>
      </p:sp>
      <p:sp>
        <p:nvSpPr>
          <p:cNvPr id="11" name="Shape 9"/>
          <p:cNvSpPr/>
          <p:nvPr/>
        </p:nvSpPr>
        <p:spPr>
          <a:xfrm>
            <a:off x="7961858" y="3746500"/>
            <a:ext cx="3414167" cy="1050230"/>
          </a:xfrm>
          <a:prstGeom prst="roundRect">
            <a:avLst>
              <a:gd name="adj" fmla="val 11790"/>
            </a:avLst>
          </a:prstGeom>
          <a:solidFill>
            <a:srgbClr val="FFFFFF">
              <a:alpha val="7000"/>
            </a:srgbClr>
          </a:solidFill>
          <a:ln w="6350">
            <a:solidFill>
              <a:srgbClr val="FFFFFF">
                <a:alpha val="16000"/>
              </a:srgbClr>
            </a:solidFill>
            <a:prstDash val="solid"/>
          </a:ln>
        </p:spPr>
        <p:txBody>
          <a:bodyPr/>
          <a:lstStyle/>
          <a:p>
            <a:endParaRPr lang="en-US"/>
          </a:p>
        </p:txBody>
      </p:sp>
      <p:sp>
        <p:nvSpPr>
          <p:cNvPr id="12" name="Text 10"/>
          <p:cNvSpPr/>
          <p:nvPr/>
        </p:nvSpPr>
        <p:spPr>
          <a:xfrm>
            <a:off x="8843070" y="3952875"/>
            <a:ext cx="1702495" cy="41652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5EEBD9"/>
                </a:solidFill>
                <a:latin typeface="Nunito Sans" pitchFamily="34" charset="0"/>
                <a:ea typeface="Nunito Sans" pitchFamily="34" charset="-122"/>
                <a:cs typeface="Nunito Sans" pitchFamily="34" charset="-120"/>
              </a:rPr>
              <a:t>Gazebo-first</a:t>
            </a:r>
            <a:endParaRPr lang="en-US" sz="2200"/>
          </a:p>
        </p:txBody>
      </p:sp>
      <p:sp>
        <p:nvSpPr>
          <p:cNvPr id="13" name="Text 11"/>
          <p:cNvSpPr/>
          <p:nvPr/>
        </p:nvSpPr>
        <p:spPr>
          <a:xfrm>
            <a:off x="9039920" y="4394795"/>
            <a:ext cx="1308795" cy="220960"/>
          </a:xfrm>
          <a:prstGeom prst="rect">
            <a:avLst/>
          </a:prstGeom>
          <a:noFill/>
          <a:ln/>
        </p:spPr>
        <p:txBody>
          <a:bodyPr wrap="square" lIns="0" tIns="0" rIns="0" bIns="0" rtlCol="0" anchor="t">
            <a:normAutofit/>
          </a:bodyPr>
          <a:lstStyle/>
          <a:p>
            <a:pPr marL="0" indent="0" algn="l">
              <a:lnSpc>
                <a:spcPts val="1540"/>
              </a:lnSpc>
              <a:buNone/>
            </a:pPr>
            <a:r>
              <a:rPr lang="en-US" sz="1100">
                <a:solidFill>
                  <a:srgbClr val="C7CBEA"/>
                </a:solidFill>
                <a:latin typeface="Nunito Sans" pitchFamily="34" charset="0"/>
                <a:ea typeface="Nunito Sans" pitchFamily="34" charset="-122"/>
                <a:cs typeface="Nunito Sans" pitchFamily="34" charset="-120"/>
              </a:rPr>
              <a:t>Hardware in Stretch</a:t>
            </a:r>
            <a:endParaRPr lang="en-US" sz="1100"/>
          </a:p>
        </p:txBody>
      </p:sp>
      <p:sp>
        <p:nvSpPr>
          <p:cNvPr id="14" name="Text 12"/>
          <p:cNvSpPr/>
          <p:nvPr/>
        </p:nvSpPr>
        <p:spPr>
          <a:xfrm>
            <a:off x="4760516" y="5104705"/>
            <a:ext cx="2751098" cy="274290"/>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9CA1C9"/>
                </a:solidFill>
                <a:latin typeface="Nunito Sans" pitchFamily="34" charset="0"/>
                <a:ea typeface="Nunito Sans" pitchFamily="34" charset="-122"/>
                <a:cs typeface="Nunito Sans" pitchFamily="34" charset="-120"/>
              </a:rPr>
              <a:t>Thank you — questions welcome</a:t>
            </a:r>
            <a:endParaRPr lang="en-US"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17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Nimbus: Leased Authority for Ground-Robot Navigation</dc:title>
  <dc:subject>PptxGenJS Presentation</dc:subject>
  <dc:creator>PptxGenJS</dc:creator>
  <cp:revision>1</cp:revision>
  <dcterms:created xsi:type="dcterms:W3CDTF">2026-09-22T09:16:53Z</dcterms:created>
  <dcterms:modified xsi:type="dcterms:W3CDTF">2026-09-22T13:19:14Z</dcterms:modified>
</cp:coreProperties>
</file>